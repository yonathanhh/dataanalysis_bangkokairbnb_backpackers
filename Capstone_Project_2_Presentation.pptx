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88" r:id="rId4"/>
    <p:sldId id="259" r:id="rId5"/>
    <p:sldId id="261" r:id="rId6"/>
    <p:sldId id="287" r:id="rId7"/>
    <p:sldId id="262" r:id="rId8"/>
    <p:sldId id="268" r:id="rId9"/>
    <p:sldId id="258" r:id="rId10"/>
    <p:sldId id="270" r:id="rId11"/>
    <p:sldId id="269" r:id="rId12"/>
    <p:sldId id="286" r:id="rId13"/>
    <p:sldId id="291" r:id="rId14"/>
    <p:sldId id="267" r:id="rId15"/>
    <p:sldId id="279" r:id="rId16"/>
    <p:sldId id="276" r:id="rId17"/>
    <p:sldId id="272" r:id="rId18"/>
    <p:sldId id="275" r:id="rId19"/>
    <p:sldId id="280" r:id="rId20"/>
    <p:sldId id="273" r:id="rId21"/>
    <p:sldId id="282" r:id="rId22"/>
    <p:sldId id="283" r:id="rId23"/>
    <p:sldId id="274" r:id="rId24"/>
    <p:sldId id="265" r:id="rId25"/>
    <p:sldId id="290" r:id="rId26"/>
    <p:sldId id="26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25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59" autoAdjust="0"/>
    <p:restoredTop sz="94660"/>
  </p:normalViewPr>
  <p:slideViewPr>
    <p:cSldViewPr snapToGrid="0">
      <p:cViewPr varScale="1">
        <p:scale>
          <a:sx n="61" d="100"/>
          <a:sy n="61" d="100"/>
        </p:scale>
        <p:origin x="90" y="11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2C319-68CC-A25B-BF86-8EEC69DADD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4E1A0DD4-A32F-6A51-A0B4-2432DCA37E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0E36BDE4-092F-5520-EF82-A6766A611995}"/>
              </a:ext>
            </a:extLst>
          </p:cNvPr>
          <p:cNvSpPr>
            <a:spLocks noGrp="1"/>
          </p:cNvSpPr>
          <p:nvPr>
            <p:ph type="dt" sz="half" idx="10"/>
          </p:nvPr>
        </p:nvSpPr>
        <p:spPr/>
        <p:txBody>
          <a:bodyPr/>
          <a:lstStyle/>
          <a:p>
            <a:fld id="{9CD4CA5D-FBB2-4CEE-A585-5771FD6B351F}" type="datetimeFigureOut">
              <a:rPr lang="en-NZ" smtClean="0"/>
              <a:t>22/11/2025</a:t>
            </a:fld>
            <a:endParaRPr lang="en-NZ"/>
          </a:p>
        </p:txBody>
      </p:sp>
      <p:sp>
        <p:nvSpPr>
          <p:cNvPr id="5" name="Footer Placeholder 4">
            <a:extLst>
              <a:ext uri="{FF2B5EF4-FFF2-40B4-BE49-F238E27FC236}">
                <a16:creationId xmlns:a16="http://schemas.microsoft.com/office/drawing/2014/main" id="{113962F7-557F-F2F8-6D18-A66C8DF8E5B7}"/>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FAF8B562-74FC-C121-6965-FA5F452B7C28}"/>
              </a:ext>
            </a:extLst>
          </p:cNvPr>
          <p:cNvSpPr>
            <a:spLocks noGrp="1"/>
          </p:cNvSpPr>
          <p:nvPr>
            <p:ph type="sldNum" sz="quarter" idx="12"/>
          </p:nvPr>
        </p:nvSpPr>
        <p:spPr/>
        <p:txBody>
          <a:bodyPr/>
          <a:lstStyle/>
          <a:p>
            <a:fld id="{AB9381E1-7FAD-4DA7-8CEC-D2125F696001}" type="slidenum">
              <a:rPr lang="en-NZ" smtClean="0"/>
              <a:t>‹#›</a:t>
            </a:fld>
            <a:endParaRPr lang="en-NZ"/>
          </a:p>
        </p:txBody>
      </p:sp>
    </p:spTree>
    <p:extLst>
      <p:ext uri="{BB962C8B-B14F-4D97-AF65-F5344CB8AC3E}">
        <p14:creationId xmlns:p14="http://schemas.microsoft.com/office/powerpoint/2010/main" val="754862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1F0BE-62DD-D19E-F3E3-B3A42E0587B4}"/>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D8E18578-5DD1-01C7-C968-3E9BB72570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DA31BF1D-03D0-7CE8-45CE-014A596F6923}"/>
              </a:ext>
            </a:extLst>
          </p:cNvPr>
          <p:cNvSpPr>
            <a:spLocks noGrp="1"/>
          </p:cNvSpPr>
          <p:nvPr>
            <p:ph type="dt" sz="half" idx="10"/>
          </p:nvPr>
        </p:nvSpPr>
        <p:spPr/>
        <p:txBody>
          <a:bodyPr/>
          <a:lstStyle/>
          <a:p>
            <a:fld id="{9CD4CA5D-FBB2-4CEE-A585-5771FD6B351F}" type="datetimeFigureOut">
              <a:rPr lang="en-NZ" smtClean="0"/>
              <a:t>22/11/2025</a:t>
            </a:fld>
            <a:endParaRPr lang="en-NZ"/>
          </a:p>
        </p:txBody>
      </p:sp>
      <p:sp>
        <p:nvSpPr>
          <p:cNvPr id="5" name="Footer Placeholder 4">
            <a:extLst>
              <a:ext uri="{FF2B5EF4-FFF2-40B4-BE49-F238E27FC236}">
                <a16:creationId xmlns:a16="http://schemas.microsoft.com/office/drawing/2014/main" id="{B18F386D-9328-4408-7260-679DE3F15A33}"/>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DFBE32F-2065-97FF-6B7B-0E3FB10102DE}"/>
              </a:ext>
            </a:extLst>
          </p:cNvPr>
          <p:cNvSpPr>
            <a:spLocks noGrp="1"/>
          </p:cNvSpPr>
          <p:nvPr>
            <p:ph type="sldNum" sz="quarter" idx="12"/>
          </p:nvPr>
        </p:nvSpPr>
        <p:spPr/>
        <p:txBody>
          <a:bodyPr/>
          <a:lstStyle/>
          <a:p>
            <a:fld id="{AB9381E1-7FAD-4DA7-8CEC-D2125F696001}" type="slidenum">
              <a:rPr lang="en-NZ" smtClean="0"/>
              <a:t>‹#›</a:t>
            </a:fld>
            <a:endParaRPr lang="en-NZ"/>
          </a:p>
        </p:txBody>
      </p:sp>
    </p:spTree>
    <p:extLst>
      <p:ext uri="{BB962C8B-B14F-4D97-AF65-F5344CB8AC3E}">
        <p14:creationId xmlns:p14="http://schemas.microsoft.com/office/powerpoint/2010/main" val="2056953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9C513-9BD5-ED41-12E6-917C1AF723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0F1FBE2F-8483-DE7F-B504-2CBE80213D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E09AE0-1298-F0FC-1112-469CC6E11BAF}"/>
              </a:ext>
            </a:extLst>
          </p:cNvPr>
          <p:cNvSpPr>
            <a:spLocks noGrp="1"/>
          </p:cNvSpPr>
          <p:nvPr>
            <p:ph type="dt" sz="half" idx="10"/>
          </p:nvPr>
        </p:nvSpPr>
        <p:spPr/>
        <p:txBody>
          <a:bodyPr/>
          <a:lstStyle/>
          <a:p>
            <a:fld id="{9CD4CA5D-FBB2-4CEE-A585-5771FD6B351F}" type="datetimeFigureOut">
              <a:rPr lang="en-NZ" smtClean="0"/>
              <a:t>22/11/2025</a:t>
            </a:fld>
            <a:endParaRPr lang="en-NZ"/>
          </a:p>
        </p:txBody>
      </p:sp>
      <p:sp>
        <p:nvSpPr>
          <p:cNvPr id="5" name="Footer Placeholder 4">
            <a:extLst>
              <a:ext uri="{FF2B5EF4-FFF2-40B4-BE49-F238E27FC236}">
                <a16:creationId xmlns:a16="http://schemas.microsoft.com/office/drawing/2014/main" id="{F1A0B378-AC7C-06F9-5066-DCCC0BFA50AB}"/>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BE642CDC-2DAC-E4B3-89F4-1F0A8A155BF6}"/>
              </a:ext>
            </a:extLst>
          </p:cNvPr>
          <p:cNvSpPr>
            <a:spLocks noGrp="1"/>
          </p:cNvSpPr>
          <p:nvPr>
            <p:ph type="sldNum" sz="quarter" idx="12"/>
          </p:nvPr>
        </p:nvSpPr>
        <p:spPr/>
        <p:txBody>
          <a:bodyPr/>
          <a:lstStyle/>
          <a:p>
            <a:fld id="{AB9381E1-7FAD-4DA7-8CEC-D2125F696001}" type="slidenum">
              <a:rPr lang="en-NZ" smtClean="0"/>
              <a:t>‹#›</a:t>
            </a:fld>
            <a:endParaRPr lang="en-NZ"/>
          </a:p>
        </p:txBody>
      </p:sp>
    </p:spTree>
    <p:extLst>
      <p:ext uri="{BB962C8B-B14F-4D97-AF65-F5344CB8AC3E}">
        <p14:creationId xmlns:p14="http://schemas.microsoft.com/office/powerpoint/2010/main" val="1716661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242B6-98C1-CA12-A257-A4BBED85441E}"/>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7E60026C-2B71-3E24-164C-CF5FED9D05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A429B110-3362-CFF2-B979-0EC5EC6AEE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1C059FD2-D112-0697-1E72-6AFA7531AA6B}"/>
              </a:ext>
            </a:extLst>
          </p:cNvPr>
          <p:cNvSpPr>
            <a:spLocks noGrp="1"/>
          </p:cNvSpPr>
          <p:nvPr>
            <p:ph type="dt" sz="half" idx="10"/>
          </p:nvPr>
        </p:nvSpPr>
        <p:spPr/>
        <p:txBody>
          <a:bodyPr/>
          <a:lstStyle/>
          <a:p>
            <a:fld id="{9CD4CA5D-FBB2-4CEE-A585-5771FD6B351F}" type="datetimeFigureOut">
              <a:rPr lang="en-NZ" smtClean="0"/>
              <a:t>22/11/2025</a:t>
            </a:fld>
            <a:endParaRPr lang="en-NZ"/>
          </a:p>
        </p:txBody>
      </p:sp>
      <p:sp>
        <p:nvSpPr>
          <p:cNvPr id="6" name="Footer Placeholder 5">
            <a:extLst>
              <a:ext uri="{FF2B5EF4-FFF2-40B4-BE49-F238E27FC236}">
                <a16:creationId xmlns:a16="http://schemas.microsoft.com/office/drawing/2014/main" id="{9B24B7E8-8557-0C4D-455B-0CDFA7677BB0}"/>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ADBEBDED-38CB-3843-AA17-50E805150CAC}"/>
              </a:ext>
            </a:extLst>
          </p:cNvPr>
          <p:cNvSpPr>
            <a:spLocks noGrp="1"/>
          </p:cNvSpPr>
          <p:nvPr>
            <p:ph type="sldNum" sz="quarter" idx="12"/>
          </p:nvPr>
        </p:nvSpPr>
        <p:spPr/>
        <p:txBody>
          <a:bodyPr/>
          <a:lstStyle/>
          <a:p>
            <a:fld id="{AB9381E1-7FAD-4DA7-8CEC-D2125F696001}" type="slidenum">
              <a:rPr lang="en-NZ" smtClean="0"/>
              <a:t>‹#›</a:t>
            </a:fld>
            <a:endParaRPr lang="en-NZ"/>
          </a:p>
        </p:txBody>
      </p:sp>
    </p:spTree>
    <p:extLst>
      <p:ext uri="{BB962C8B-B14F-4D97-AF65-F5344CB8AC3E}">
        <p14:creationId xmlns:p14="http://schemas.microsoft.com/office/powerpoint/2010/main" val="1497289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4E269-7848-2202-95D1-1E03DFB9D553}"/>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260182D4-B77A-4239-74B6-12D63DEB40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13FB88-83A8-DCAF-4EB9-13954D33B5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453FE72D-686A-A605-F4BF-EE7C1D81E0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6E3DCB-9F61-6F99-B44E-3BF1FC4CAE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99CF92F7-03DE-14ED-B463-9D713AB20605}"/>
              </a:ext>
            </a:extLst>
          </p:cNvPr>
          <p:cNvSpPr>
            <a:spLocks noGrp="1"/>
          </p:cNvSpPr>
          <p:nvPr>
            <p:ph type="dt" sz="half" idx="10"/>
          </p:nvPr>
        </p:nvSpPr>
        <p:spPr/>
        <p:txBody>
          <a:bodyPr/>
          <a:lstStyle/>
          <a:p>
            <a:fld id="{9CD4CA5D-FBB2-4CEE-A585-5771FD6B351F}" type="datetimeFigureOut">
              <a:rPr lang="en-NZ" smtClean="0"/>
              <a:t>22/11/2025</a:t>
            </a:fld>
            <a:endParaRPr lang="en-NZ"/>
          </a:p>
        </p:txBody>
      </p:sp>
      <p:sp>
        <p:nvSpPr>
          <p:cNvPr id="8" name="Footer Placeholder 7">
            <a:extLst>
              <a:ext uri="{FF2B5EF4-FFF2-40B4-BE49-F238E27FC236}">
                <a16:creationId xmlns:a16="http://schemas.microsoft.com/office/drawing/2014/main" id="{7AA6B404-1D4E-3B43-6F41-349DAAA1FA91}"/>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23AF9BD8-6EBB-4BF0-888D-2DE0E715708C}"/>
              </a:ext>
            </a:extLst>
          </p:cNvPr>
          <p:cNvSpPr>
            <a:spLocks noGrp="1"/>
          </p:cNvSpPr>
          <p:nvPr>
            <p:ph type="sldNum" sz="quarter" idx="12"/>
          </p:nvPr>
        </p:nvSpPr>
        <p:spPr/>
        <p:txBody>
          <a:bodyPr/>
          <a:lstStyle/>
          <a:p>
            <a:fld id="{AB9381E1-7FAD-4DA7-8CEC-D2125F696001}" type="slidenum">
              <a:rPr lang="en-NZ" smtClean="0"/>
              <a:t>‹#›</a:t>
            </a:fld>
            <a:endParaRPr lang="en-NZ"/>
          </a:p>
        </p:txBody>
      </p:sp>
    </p:spTree>
    <p:extLst>
      <p:ext uri="{BB962C8B-B14F-4D97-AF65-F5344CB8AC3E}">
        <p14:creationId xmlns:p14="http://schemas.microsoft.com/office/powerpoint/2010/main" val="3472222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3C095-4E59-3484-0412-2E82172BAA2A}"/>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DD004002-12AC-E7D0-0028-130F10BBF9D1}"/>
              </a:ext>
            </a:extLst>
          </p:cNvPr>
          <p:cNvSpPr>
            <a:spLocks noGrp="1"/>
          </p:cNvSpPr>
          <p:nvPr>
            <p:ph type="dt" sz="half" idx="10"/>
          </p:nvPr>
        </p:nvSpPr>
        <p:spPr/>
        <p:txBody>
          <a:bodyPr/>
          <a:lstStyle/>
          <a:p>
            <a:fld id="{9CD4CA5D-FBB2-4CEE-A585-5771FD6B351F}" type="datetimeFigureOut">
              <a:rPr lang="en-NZ" smtClean="0"/>
              <a:t>22/11/2025</a:t>
            </a:fld>
            <a:endParaRPr lang="en-NZ"/>
          </a:p>
        </p:txBody>
      </p:sp>
      <p:sp>
        <p:nvSpPr>
          <p:cNvPr id="4" name="Footer Placeholder 3">
            <a:extLst>
              <a:ext uri="{FF2B5EF4-FFF2-40B4-BE49-F238E27FC236}">
                <a16:creationId xmlns:a16="http://schemas.microsoft.com/office/drawing/2014/main" id="{8BBA2999-45FF-86D3-7DB4-3236FD4658D8}"/>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981D85AC-D46C-C2E7-5140-42FB10CB3D82}"/>
              </a:ext>
            </a:extLst>
          </p:cNvPr>
          <p:cNvSpPr>
            <a:spLocks noGrp="1"/>
          </p:cNvSpPr>
          <p:nvPr>
            <p:ph type="sldNum" sz="quarter" idx="12"/>
          </p:nvPr>
        </p:nvSpPr>
        <p:spPr/>
        <p:txBody>
          <a:bodyPr/>
          <a:lstStyle/>
          <a:p>
            <a:fld id="{AB9381E1-7FAD-4DA7-8CEC-D2125F696001}" type="slidenum">
              <a:rPr lang="en-NZ" smtClean="0"/>
              <a:t>‹#›</a:t>
            </a:fld>
            <a:endParaRPr lang="en-NZ"/>
          </a:p>
        </p:txBody>
      </p:sp>
    </p:spTree>
    <p:extLst>
      <p:ext uri="{BB962C8B-B14F-4D97-AF65-F5344CB8AC3E}">
        <p14:creationId xmlns:p14="http://schemas.microsoft.com/office/powerpoint/2010/main" val="1970976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3C344C-B096-194E-B9B2-39A05053BAD7}"/>
              </a:ext>
            </a:extLst>
          </p:cNvPr>
          <p:cNvSpPr>
            <a:spLocks noGrp="1"/>
          </p:cNvSpPr>
          <p:nvPr>
            <p:ph type="dt" sz="half" idx="10"/>
          </p:nvPr>
        </p:nvSpPr>
        <p:spPr/>
        <p:txBody>
          <a:bodyPr/>
          <a:lstStyle/>
          <a:p>
            <a:fld id="{9CD4CA5D-FBB2-4CEE-A585-5771FD6B351F}" type="datetimeFigureOut">
              <a:rPr lang="en-NZ" smtClean="0"/>
              <a:t>22/11/2025</a:t>
            </a:fld>
            <a:endParaRPr lang="en-NZ"/>
          </a:p>
        </p:txBody>
      </p:sp>
      <p:sp>
        <p:nvSpPr>
          <p:cNvPr id="3" name="Footer Placeholder 2">
            <a:extLst>
              <a:ext uri="{FF2B5EF4-FFF2-40B4-BE49-F238E27FC236}">
                <a16:creationId xmlns:a16="http://schemas.microsoft.com/office/drawing/2014/main" id="{8C1430CE-20AC-2805-79F4-BBA076716609}"/>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8EE7EF22-5E89-96BC-2FFE-CB51C0E645DA}"/>
              </a:ext>
            </a:extLst>
          </p:cNvPr>
          <p:cNvSpPr>
            <a:spLocks noGrp="1"/>
          </p:cNvSpPr>
          <p:nvPr>
            <p:ph type="sldNum" sz="quarter" idx="12"/>
          </p:nvPr>
        </p:nvSpPr>
        <p:spPr/>
        <p:txBody>
          <a:bodyPr/>
          <a:lstStyle/>
          <a:p>
            <a:fld id="{AB9381E1-7FAD-4DA7-8CEC-D2125F696001}" type="slidenum">
              <a:rPr lang="en-NZ" smtClean="0"/>
              <a:t>‹#›</a:t>
            </a:fld>
            <a:endParaRPr lang="en-NZ"/>
          </a:p>
        </p:txBody>
      </p:sp>
    </p:spTree>
    <p:extLst>
      <p:ext uri="{BB962C8B-B14F-4D97-AF65-F5344CB8AC3E}">
        <p14:creationId xmlns:p14="http://schemas.microsoft.com/office/powerpoint/2010/main" val="4230081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33CA1-A89B-035F-D689-2B2D06ABC1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486B1F9C-DC30-E328-5DDC-F295CBDEBE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82056F16-7347-BA0B-BD06-A5584FE2C2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86CBD2-61C9-3E0D-E6D8-A77897289BF1}"/>
              </a:ext>
            </a:extLst>
          </p:cNvPr>
          <p:cNvSpPr>
            <a:spLocks noGrp="1"/>
          </p:cNvSpPr>
          <p:nvPr>
            <p:ph type="dt" sz="half" idx="10"/>
          </p:nvPr>
        </p:nvSpPr>
        <p:spPr/>
        <p:txBody>
          <a:bodyPr/>
          <a:lstStyle/>
          <a:p>
            <a:fld id="{9CD4CA5D-FBB2-4CEE-A585-5771FD6B351F}" type="datetimeFigureOut">
              <a:rPr lang="en-NZ" smtClean="0"/>
              <a:t>22/11/2025</a:t>
            </a:fld>
            <a:endParaRPr lang="en-NZ"/>
          </a:p>
        </p:txBody>
      </p:sp>
      <p:sp>
        <p:nvSpPr>
          <p:cNvPr id="6" name="Footer Placeholder 5">
            <a:extLst>
              <a:ext uri="{FF2B5EF4-FFF2-40B4-BE49-F238E27FC236}">
                <a16:creationId xmlns:a16="http://schemas.microsoft.com/office/drawing/2014/main" id="{141D35F0-6721-BCB9-0DCA-ED75D4756780}"/>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87861C6E-AC70-0855-6D5A-EDC0FF9B5FCA}"/>
              </a:ext>
            </a:extLst>
          </p:cNvPr>
          <p:cNvSpPr>
            <a:spLocks noGrp="1"/>
          </p:cNvSpPr>
          <p:nvPr>
            <p:ph type="sldNum" sz="quarter" idx="12"/>
          </p:nvPr>
        </p:nvSpPr>
        <p:spPr/>
        <p:txBody>
          <a:bodyPr/>
          <a:lstStyle/>
          <a:p>
            <a:fld id="{AB9381E1-7FAD-4DA7-8CEC-D2125F696001}" type="slidenum">
              <a:rPr lang="en-NZ" smtClean="0"/>
              <a:t>‹#›</a:t>
            </a:fld>
            <a:endParaRPr lang="en-NZ"/>
          </a:p>
        </p:txBody>
      </p:sp>
    </p:spTree>
    <p:extLst>
      <p:ext uri="{BB962C8B-B14F-4D97-AF65-F5344CB8AC3E}">
        <p14:creationId xmlns:p14="http://schemas.microsoft.com/office/powerpoint/2010/main" val="496698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B1F01-40FC-BD29-7455-333989AA67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537ACBDB-1F4C-7586-6C05-D2EEDDACC8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3042D683-3B01-F7B1-6CBB-1C2C13BD0E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AB1C85-EDB0-E510-C2F7-CCCD7C7A1BE9}"/>
              </a:ext>
            </a:extLst>
          </p:cNvPr>
          <p:cNvSpPr>
            <a:spLocks noGrp="1"/>
          </p:cNvSpPr>
          <p:nvPr>
            <p:ph type="dt" sz="half" idx="10"/>
          </p:nvPr>
        </p:nvSpPr>
        <p:spPr/>
        <p:txBody>
          <a:bodyPr/>
          <a:lstStyle/>
          <a:p>
            <a:fld id="{9CD4CA5D-FBB2-4CEE-A585-5771FD6B351F}" type="datetimeFigureOut">
              <a:rPr lang="en-NZ" smtClean="0"/>
              <a:t>22/11/2025</a:t>
            </a:fld>
            <a:endParaRPr lang="en-NZ"/>
          </a:p>
        </p:txBody>
      </p:sp>
      <p:sp>
        <p:nvSpPr>
          <p:cNvPr id="6" name="Footer Placeholder 5">
            <a:extLst>
              <a:ext uri="{FF2B5EF4-FFF2-40B4-BE49-F238E27FC236}">
                <a16:creationId xmlns:a16="http://schemas.microsoft.com/office/drawing/2014/main" id="{F40121CB-7A7E-E55D-73B9-D4E636F45E0F}"/>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E1574D75-9725-B135-4970-95FCDB50777F}"/>
              </a:ext>
            </a:extLst>
          </p:cNvPr>
          <p:cNvSpPr>
            <a:spLocks noGrp="1"/>
          </p:cNvSpPr>
          <p:nvPr>
            <p:ph type="sldNum" sz="quarter" idx="12"/>
          </p:nvPr>
        </p:nvSpPr>
        <p:spPr/>
        <p:txBody>
          <a:bodyPr/>
          <a:lstStyle/>
          <a:p>
            <a:fld id="{AB9381E1-7FAD-4DA7-8CEC-D2125F696001}" type="slidenum">
              <a:rPr lang="en-NZ" smtClean="0"/>
              <a:t>‹#›</a:t>
            </a:fld>
            <a:endParaRPr lang="en-NZ"/>
          </a:p>
        </p:txBody>
      </p:sp>
    </p:spTree>
    <p:extLst>
      <p:ext uri="{BB962C8B-B14F-4D97-AF65-F5344CB8AC3E}">
        <p14:creationId xmlns:p14="http://schemas.microsoft.com/office/powerpoint/2010/main" val="784723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FA80B-048F-EEEA-BC87-E1AAC0AE5F5B}"/>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8D4EE01A-CBDF-E75C-12B6-B5E15CBFC4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5BEDE6B0-E34F-AB5A-88F1-4C12693C4985}"/>
              </a:ext>
            </a:extLst>
          </p:cNvPr>
          <p:cNvSpPr>
            <a:spLocks noGrp="1"/>
          </p:cNvSpPr>
          <p:nvPr>
            <p:ph type="dt" sz="half" idx="10"/>
          </p:nvPr>
        </p:nvSpPr>
        <p:spPr/>
        <p:txBody>
          <a:bodyPr/>
          <a:lstStyle/>
          <a:p>
            <a:fld id="{9CD4CA5D-FBB2-4CEE-A585-5771FD6B351F}" type="datetimeFigureOut">
              <a:rPr lang="en-NZ" smtClean="0"/>
              <a:t>22/11/2025</a:t>
            </a:fld>
            <a:endParaRPr lang="en-NZ"/>
          </a:p>
        </p:txBody>
      </p:sp>
      <p:sp>
        <p:nvSpPr>
          <p:cNvPr id="5" name="Footer Placeholder 4">
            <a:extLst>
              <a:ext uri="{FF2B5EF4-FFF2-40B4-BE49-F238E27FC236}">
                <a16:creationId xmlns:a16="http://schemas.microsoft.com/office/drawing/2014/main" id="{3B5FBB1F-56A6-4CB0-E712-34A52AD4477D}"/>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D72A356C-5EBF-9675-F521-A7797FC32973}"/>
              </a:ext>
            </a:extLst>
          </p:cNvPr>
          <p:cNvSpPr>
            <a:spLocks noGrp="1"/>
          </p:cNvSpPr>
          <p:nvPr>
            <p:ph type="sldNum" sz="quarter" idx="12"/>
          </p:nvPr>
        </p:nvSpPr>
        <p:spPr/>
        <p:txBody>
          <a:bodyPr/>
          <a:lstStyle/>
          <a:p>
            <a:fld id="{AB9381E1-7FAD-4DA7-8CEC-D2125F696001}" type="slidenum">
              <a:rPr lang="en-NZ" smtClean="0"/>
              <a:t>‹#›</a:t>
            </a:fld>
            <a:endParaRPr lang="en-NZ"/>
          </a:p>
        </p:txBody>
      </p:sp>
    </p:spTree>
    <p:extLst>
      <p:ext uri="{BB962C8B-B14F-4D97-AF65-F5344CB8AC3E}">
        <p14:creationId xmlns:p14="http://schemas.microsoft.com/office/powerpoint/2010/main" val="1198322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7FA59B-F9AE-3CB4-DF98-128572602B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2CCAF912-A3D3-DF9C-1CB8-8C1280ACD7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84EBB230-1BE9-1EA1-3814-2706C48CC191}"/>
              </a:ext>
            </a:extLst>
          </p:cNvPr>
          <p:cNvSpPr>
            <a:spLocks noGrp="1"/>
          </p:cNvSpPr>
          <p:nvPr>
            <p:ph type="dt" sz="half" idx="10"/>
          </p:nvPr>
        </p:nvSpPr>
        <p:spPr/>
        <p:txBody>
          <a:bodyPr/>
          <a:lstStyle/>
          <a:p>
            <a:fld id="{9CD4CA5D-FBB2-4CEE-A585-5771FD6B351F}" type="datetimeFigureOut">
              <a:rPr lang="en-NZ" smtClean="0"/>
              <a:t>22/11/2025</a:t>
            </a:fld>
            <a:endParaRPr lang="en-NZ"/>
          </a:p>
        </p:txBody>
      </p:sp>
      <p:sp>
        <p:nvSpPr>
          <p:cNvPr id="5" name="Footer Placeholder 4">
            <a:extLst>
              <a:ext uri="{FF2B5EF4-FFF2-40B4-BE49-F238E27FC236}">
                <a16:creationId xmlns:a16="http://schemas.microsoft.com/office/drawing/2014/main" id="{1B976623-48ED-4A7B-A4E4-A63D5A8E1185}"/>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82E83C9E-70A3-C871-D265-5067D1E73639}"/>
              </a:ext>
            </a:extLst>
          </p:cNvPr>
          <p:cNvSpPr>
            <a:spLocks noGrp="1"/>
          </p:cNvSpPr>
          <p:nvPr>
            <p:ph type="sldNum" sz="quarter" idx="12"/>
          </p:nvPr>
        </p:nvSpPr>
        <p:spPr/>
        <p:txBody>
          <a:bodyPr/>
          <a:lstStyle/>
          <a:p>
            <a:fld id="{AB9381E1-7FAD-4DA7-8CEC-D2125F696001}" type="slidenum">
              <a:rPr lang="en-NZ" smtClean="0"/>
              <a:t>‹#›</a:t>
            </a:fld>
            <a:endParaRPr lang="en-NZ"/>
          </a:p>
        </p:txBody>
      </p:sp>
    </p:spTree>
    <p:extLst>
      <p:ext uri="{BB962C8B-B14F-4D97-AF65-F5344CB8AC3E}">
        <p14:creationId xmlns:p14="http://schemas.microsoft.com/office/powerpoint/2010/main" val="4246647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F1E344-CB0F-1BA7-C01B-3CC20FD9E3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B5C08540-01B0-55E5-599F-392850CFA4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34D12113-0464-FC0C-950E-21494838F2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D4CA5D-FBB2-4CEE-A585-5771FD6B351F}" type="datetimeFigureOut">
              <a:rPr lang="en-NZ" smtClean="0"/>
              <a:t>22/11/2025</a:t>
            </a:fld>
            <a:endParaRPr lang="en-NZ"/>
          </a:p>
        </p:txBody>
      </p:sp>
      <p:sp>
        <p:nvSpPr>
          <p:cNvPr id="5" name="Footer Placeholder 4">
            <a:extLst>
              <a:ext uri="{FF2B5EF4-FFF2-40B4-BE49-F238E27FC236}">
                <a16:creationId xmlns:a16="http://schemas.microsoft.com/office/drawing/2014/main" id="{CBCCA18A-EBFA-674E-CA2E-CF4336FFB1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Z"/>
          </a:p>
        </p:txBody>
      </p:sp>
      <p:sp>
        <p:nvSpPr>
          <p:cNvPr id="6" name="Slide Number Placeholder 5">
            <a:extLst>
              <a:ext uri="{FF2B5EF4-FFF2-40B4-BE49-F238E27FC236}">
                <a16:creationId xmlns:a16="http://schemas.microsoft.com/office/drawing/2014/main" id="{149F6D97-D9AF-88BC-A170-79CE7CE418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9381E1-7FAD-4DA7-8CEC-D2125F696001}" type="slidenum">
              <a:rPr lang="en-NZ" smtClean="0"/>
              <a:t>‹#›</a:t>
            </a:fld>
            <a:endParaRPr lang="en-NZ"/>
          </a:p>
        </p:txBody>
      </p:sp>
    </p:spTree>
    <p:extLst>
      <p:ext uri="{BB962C8B-B14F-4D97-AF65-F5344CB8AC3E}">
        <p14:creationId xmlns:p14="http://schemas.microsoft.com/office/powerpoint/2010/main" val="2846665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ED487B2-4523-1BA4-C64E-C49F53F13926}"/>
              </a:ext>
            </a:extLst>
          </p:cNvPr>
          <p:cNvSpPr/>
          <p:nvPr/>
        </p:nvSpPr>
        <p:spPr>
          <a:xfrm>
            <a:off x="5745018" y="0"/>
            <a:ext cx="6446982" cy="6858000"/>
          </a:xfrm>
          <a:prstGeom prst="rect">
            <a:avLst/>
          </a:prstGeom>
          <a:solidFill>
            <a:srgbClr val="DB255D">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effectLst>
                <a:reflection stA="38000" endPos="65000" dist="50800" dir="5400000" sy="-100000" algn="bl" rotWithShape="0"/>
              </a:effectLst>
            </a:endParaRPr>
          </a:p>
        </p:txBody>
      </p:sp>
      <p:sp>
        <p:nvSpPr>
          <p:cNvPr id="2" name="Title 1">
            <a:extLst>
              <a:ext uri="{FF2B5EF4-FFF2-40B4-BE49-F238E27FC236}">
                <a16:creationId xmlns:a16="http://schemas.microsoft.com/office/drawing/2014/main" id="{33DF00AC-0D80-4511-A3B9-F4DCD88BF724}"/>
              </a:ext>
            </a:extLst>
          </p:cNvPr>
          <p:cNvSpPr>
            <a:spLocks noGrp="1"/>
          </p:cNvSpPr>
          <p:nvPr>
            <p:ph type="ctrTitle"/>
          </p:nvPr>
        </p:nvSpPr>
        <p:spPr>
          <a:xfrm>
            <a:off x="5805578" y="1475116"/>
            <a:ext cx="6142008" cy="1953883"/>
          </a:xfrm>
        </p:spPr>
        <p:txBody>
          <a:bodyPr>
            <a:noAutofit/>
          </a:bodyPr>
          <a:lstStyle/>
          <a:p>
            <a:r>
              <a:rPr lang="en-NZ" sz="4400" b="1" dirty="0">
                <a:solidFill>
                  <a:schemeClr val="bg1"/>
                </a:solidFill>
                <a:effectLst>
                  <a:outerShdw blurRad="50800" dist="38100" dir="2700000" algn="tl" rotWithShape="0">
                    <a:prstClr val="black">
                      <a:alpha val="40000"/>
                    </a:prstClr>
                  </a:outerShdw>
                </a:effectLst>
                <a:latin typeface="Bahnschrift" panose="020B0502040204020203" pitchFamily="34" charset="0"/>
              </a:rPr>
              <a:t>Attracting backpackers accommodation segment in Bangkok</a:t>
            </a:r>
          </a:p>
        </p:txBody>
      </p:sp>
      <p:sp>
        <p:nvSpPr>
          <p:cNvPr id="3" name="Subtitle 2">
            <a:extLst>
              <a:ext uri="{FF2B5EF4-FFF2-40B4-BE49-F238E27FC236}">
                <a16:creationId xmlns:a16="http://schemas.microsoft.com/office/drawing/2014/main" id="{6EF078AE-CC75-6A71-B60A-2429031EC96C}"/>
              </a:ext>
            </a:extLst>
          </p:cNvPr>
          <p:cNvSpPr>
            <a:spLocks noGrp="1"/>
          </p:cNvSpPr>
          <p:nvPr>
            <p:ph type="subTitle" idx="1"/>
          </p:nvPr>
        </p:nvSpPr>
        <p:spPr>
          <a:xfrm>
            <a:off x="6890327" y="3642519"/>
            <a:ext cx="4682836" cy="827881"/>
          </a:xfrm>
        </p:spPr>
        <p:txBody>
          <a:bodyPr>
            <a:normAutofit/>
          </a:bodyPr>
          <a:lstStyle/>
          <a:p>
            <a:pPr algn="r"/>
            <a:r>
              <a:rPr lang="en-NZ" dirty="0">
                <a:solidFill>
                  <a:schemeClr val="bg1"/>
                </a:solidFill>
                <a:effectLst>
                  <a:outerShdw blurRad="50800" dist="38100" dir="2700000" algn="tl" rotWithShape="0">
                    <a:prstClr val="black">
                      <a:alpha val="40000"/>
                    </a:prstClr>
                  </a:outerShdw>
                </a:effectLst>
                <a:latin typeface="Bahnschrift" panose="020B0502040204020203" pitchFamily="34" charset="0"/>
              </a:rPr>
              <a:t>A case study for Airbnb hosts</a:t>
            </a:r>
          </a:p>
        </p:txBody>
      </p:sp>
      <p:pic>
        <p:nvPicPr>
          <p:cNvPr id="1026" name="Picture 2" descr="Airbnb Logo History">
            <a:extLst>
              <a:ext uri="{FF2B5EF4-FFF2-40B4-BE49-F238E27FC236}">
                <a16:creationId xmlns:a16="http://schemas.microsoft.com/office/drawing/2014/main" id="{5108C76A-7F9D-6C3F-E7B6-A22608EA2CA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054" b="95969" l="9932" r="89932">
                        <a14:foregroundMark x1="52232" y1="9622" x2="53787" y2="9469"/>
                        <a14:foregroundMark x1="43356" y1="10493" x2="44704" y2="10360"/>
                        <a14:foregroundMark x1="46893" y1="5246" x2="49615" y2="5246"/>
                        <a14:foregroundMark x1="27664" y1="82790" x2="24036" y2="83237"/>
                        <a14:foregroundMark x1="24898" y1="94562" x2="26984" y2="93922"/>
                        <a14:foregroundMark x1="34331" y1="83749" x2="33696" y2="90403"/>
                        <a14:foregroundMark x1="34558" y1="76903" x2="34558" y2="76903"/>
                        <a14:foregroundMark x1="41789" y1="81375" x2="41587" y2="82470"/>
                        <a14:foregroundMark x1="39184" y1="95521" x2="39941" y2="91411"/>
                        <a14:foregroundMark x1="46893" y1="77223" x2="46531" y2="95969"/>
                        <a14:foregroundMark x1="58957" y1="83877" x2="58095" y2="93346"/>
                        <a14:foregroundMark x1="69433" y1="76711" x2="69297" y2="80486"/>
                        <a14:foregroundMark x1="40544" y1="83429" x2="40952" y2="84005"/>
                        <a14:foregroundMark x1="41859" y1="83301" x2="38957" y2="83749"/>
                        <a14:foregroundMark x1="39758" y1="89083" x2="39138" y2="91875"/>
                        <a14:backgroundMark x1="46395" y1="13180" x2="47392" y2="10940"/>
                        <a14:backgroundMark x1="46304" y1="10365" x2="48209" y2="9789"/>
                        <a14:backgroundMark x1="48617" y1="9469" x2="50522" y2="10237"/>
                        <a14:backgroundMark x1="48027" y1="9917" x2="48707" y2="10621"/>
                        <a14:backgroundMark x1="48798" y1="9789" x2="49932" y2="10237"/>
                        <a14:backgroundMark x1="48798" y1="10237" x2="45986" y2="10813"/>
                        <a14:backgroundMark x1="46803" y1="10365" x2="45306" y2="11388"/>
                        <a14:backgroundMark x1="49342" y1="9469" x2="50839" y2="10109"/>
                        <a14:backgroundMark x1="48798" y1="9789" x2="50023" y2="10237"/>
                        <a14:backgroundMark x1="48299" y1="10045" x2="50340" y2="10365"/>
                        <a14:backgroundMark x1="50431" y1="10045" x2="51066" y2="10365"/>
                        <a14:backgroundMark x1="50249" y1="9341" x2="51474" y2="10621"/>
                        <a14:backgroundMark x1="45306" y1="10365" x2="44807" y2="11068"/>
                        <a14:backgroundMark x1="44490" y1="11196" x2="44807" y2="11196"/>
                        <a14:backgroundMark x1="44717" y1="10813" x2="44717" y2="10813"/>
                        <a14:backgroundMark x1="45079" y1="11388" x2="44490" y2="11068"/>
                        <a14:backgroundMark x1="41678" y1="90275" x2="41179" y2="85988"/>
                        <a14:backgroundMark x1="41542" y1="90595" x2="41361" y2="86308"/>
                        <a14:backgroundMark x1="41088" y1="90595" x2="41270" y2="86180"/>
                        <a14:backgroundMark x1="40952" y1="91299" x2="41047" y2="86921"/>
                        <a14:backgroundMark x1="40544" y1="91427" x2="40590" y2="88978"/>
                        <a14:backgroundMark x1="40862" y1="91555" x2="41292" y2="85817"/>
                        <a14:backgroundMark x1="40454" y1="90979" x2="40796" y2="88050"/>
                        <a14:backgroundMark x1="40136" y1="90595" x2="42494" y2="84581"/>
                        <a14:backgroundMark x1="41270" y1="90979" x2="41995" y2="84709"/>
                        <a14:backgroundMark x1="41769" y1="85733" x2="41475" y2="84995"/>
                        <a14:backgroundMark x1="41361" y1="92386" x2="41361" y2="85733"/>
                        <a14:backgroundMark x1="41043" y1="85733" x2="40635" y2="86564"/>
                        <a14:backgroundMark x1="41451" y1="85477" x2="40272" y2="86436"/>
                        <a14:backgroundMark x1="41179" y1="85413" x2="40680" y2="89315"/>
                        <a14:backgroundMark x1="40544" y1="87716" x2="40544" y2="90275"/>
                        <a14:backgroundMark x1="41270" y1="85988" x2="41179" y2="85413"/>
                      </a14:backgroundRemoval>
                    </a14:imgEffect>
                  </a14:imgLayer>
                </a14:imgProps>
              </a:ext>
              <a:ext uri="{28A0092B-C50C-407E-A947-70E740481C1C}">
                <a14:useLocalDpi xmlns:a14="http://schemas.microsoft.com/office/drawing/2010/main" val="0"/>
              </a:ext>
            </a:extLst>
          </a:blip>
          <a:srcRect/>
          <a:stretch>
            <a:fillRect/>
          </a:stretch>
        </p:blipFill>
        <p:spPr bwMode="auto">
          <a:xfrm>
            <a:off x="0" y="287547"/>
            <a:ext cx="2126843" cy="1507706"/>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CB76107B-25EC-8F6B-41A6-83EB63C60816}"/>
              </a:ext>
            </a:extLst>
          </p:cNvPr>
          <p:cNvSpPr txBox="1">
            <a:spLocks/>
          </p:cNvSpPr>
          <p:nvPr/>
        </p:nvSpPr>
        <p:spPr>
          <a:xfrm>
            <a:off x="8324849" y="5488385"/>
            <a:ext cx="3248313" cy="4552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NZ" sz="2000" b="1" dirty="0">
                <a:solidFill>
                  <a:schemeClr val="bg1"/>
                </a:solidFill>
                <a:effectLst>
                  <a:outerShdw blurRad="50800" dist="38100" dir="2700000" algn="tl" rotWithShape="0">
                    <a:prstClr val="black">
                      <a:alpha val="40000"/>
                    </a:prstClr>
                  </a:outerShdw>
                </a:effectLst>
                <a:latin typeface="Bahnschrift" panose="020B0502040204020203" pitchFamily="34" charset="0"/>
              </a:rPr>
              <a:t>Yonathan Hary Hutagalung</a:t>
            </a:r>
          </a:p>
        </p:txBody>
      </p:sp>
      <p:sp>
        <p:nvSpPr>
          <p:cNvPr id="6" name="Subtitle 2">
            <a:extLst>
              <a:ext uri="{FF2B5EF4-FFF2-40B4-BE49-F238E27FC236}">
                <a16:creationId xmlns:a16="http://schemas.microsoft.com/office/drawing/2014/main" id="{412CE0C4-26CC-1928-5328-5CD7FACB2270}"/>
              </a:ext>
            </a:extLst>
          </p:cNvPr>
          <p:cNvSpPr txBox="1">
            <a:spLocks/>
          </p:cNvSpPr>
          <p:nvPr/>
        </p:nvSpPr>
        <p:spPr>
          <a:xfrm>
            <a:off x="8153401" y="5945585"/>
            <a:ext cx="3419762" cy="455215"/>
          </a:xfrm>
          <a:prstGeom prst="rect">
            <a:avLst/>
          </a:prstGeom>
        </p:spPr>
        <p:txBody>
          <a:bodyPr vert="horz" lIns="91440" tIns="45720" rIns="91440" bIns="45720" rtlCol="0">
            <a:normAutofit fontScale="7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NZ" sz="2000" dirty="0">
                <a:solidFill>
                  <a:schemeClr val="bg1"/>
                </a:solidFill>
                <a:effectLst>
                  <a:outerShdw blurRad="50800" dist="38100" dir="2700000" algn="tl" rotWithShape="0">
                    <a:prstClr val="black">
                      <a:alpha val="40000"/>
                    </a:prstClr>
                  </a:outerShdw>
                </a:effectLst>
                <a:latin typeface="Bahnschrift" panose="020B0502040204020203" pitchFamily="34" charset="0"/>
              </a:rPr>
              <a:t>Frequent travellers &amp; Junior consultant at Airbnb LLC Southeast Asia Division</a:t>
            </a:r>
          </a:p>
        </p:txBody>
      </p:sp>
    </p:spTree>
    <p:extLst>
      <p:ext uri="{BB962C8B-B14F-4D97-AF65-F5344CB8AC3E}">
        <p14:creationId xmlns:p14="http://schemas.microsoft.com/office/powerpoint/2010/main" val="3448218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29803C8-5108-0D67-E917-480B7FABE5C1}"/>
              </a:ext>
            </a:extLst>
          </p:cNvPr>
          <p:cNvSpPr/>
          <p:nvPr/>
        </p:nvSpPr>
        <p:spPr>
          <a:xfrm>
            <a:off x="10511900" y="5791200"/>
            <a:ext cx="915262" cy="737069"/>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solidFill>
                <a:schemeClr val="tx1"/>
              </a:solidFill>
            </a:endParaRPr>
          </a:p>
        </p:txBody>
      </p:sp>
      <p:sp>
        <p:nvSpPr>
          <p:cNvPr id="2" name="Rectangle 1">
            <a:extLst>
              <a:ext uri="{FF2B5EF4-FFF2-40B4-BE49-F238E27FC236}">
                <a16:creationId xmlns:a16="http://schemas.microsoft.com/office/drawing/2014/main" id="{87C3093D-DBC6-3738-2727-C4D9162EE447}"/>
              </a:ext>
            </a:extLst>
          </p:cNvPr>
          <p:cNvSpPr/>
          <p:nvPr/>
        </p:nvSpPr>
        <p:spPr>
          <a:xfrm>
            <a:off x="764838" y="901700"/>
            <a:ext cx="10662324" cy="4648200"/>
          </a:xfrm>
          <a:prstGeom prst="rect">
            <a:avLst/>
          </a:prstGeom>
          <a:solidFill>
            <a:srgbClr val="DB255D">
              <a:alpha val="6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solidFill>
                <a:schemeClr val="tx1"/>
              </a:solidFill>
            </a:endParaRPr>
          </a:p>
        </p:txBody>
      </p:sp>
      <p:sp>
        <p:nvSpPr>
          <p:cNvPr id="3" name="Rectangle 2">
            <a:extLst>
              <a:ext uri="{FF2B5EF4-FFF2-40B4-BE49-F238E27FC236}">
                <a16:creationId xmlns:a16="http://schemas.microsoft.com/office/drawing/2014/main" id="{11CCC8E3-463F-6CB9-7B74-6120DCC4313B}"/>
              </a:ext>
            </a:extLst>
          </p:cNvPr>
          <p:cNvSpPr/>
          <p:nvPr/>
        </p:nvSpPr>
        <p:spPr>
          <a:xfrm>
            <a:off x="1226522" y="1134576"/>
            <a:ext cx="2811184" cy="923330"/>
          </a:xfrm>
          <a:prstGeom prst="rect">
            <a:avLst/>
          </a:prstGeom>
          <a:solidFill>
            <a:schemeClr val="bg1">
              <a:alpha val="60000"/>
            </a:schemeClr>
          </a:solidFill>
        </p:spPr>
        <p:txBody>
          <a:bodyPr wrap="squar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latin typeface="Bahnschrift" panose="020B0502040204020203" pitchFamily="34" charset="0"/>
              </a:rPr>
              <a:t>Outline</a:t>
            </a:r>
          </a:p>
        </p:txBody>
      </p:sp>
      <p:pic>
        <p:nvPicPr>
          <p:cNvPr id="4" name="Picture 2" descr="Airbnb Logo History">
            <a:extLst>
              <a:ext uri="{FF2B5EF4-FFF2-40B4-BE49-F238E27FC236}">
                <a16:creationId xmlns:a16="http://schemas.microsoft.com/office/drawing/2014/main" id="{74FCE885-439B-BA5B-1CCC-22068C0DD42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054" b="95969" l="9932" r="89932">
                        <a14:foregroundMark x1="52232" y1="9622" x2="53787" y2="9469"/>
                        <a14:foregroundMark x1="43356" y1="10493" x2="44704" y2="10360"/>
                        <a14:foregroundMark x1="46893" y1="5246" x2="49615" y2="5246"/>
                        <a14:foregroundMark x1="27664" y1="82790" x2="24036" y2="83237"/>
                        <a14:foregroundMark x1="24898" y1="94562" x2="26984" y2="93922"/>
                        <a14:foregroundMark x1="34331" y1="83749" x2="33696" y2="90403"/>
                        <a14:foregroundMark x1="34558" y1="76903" x2="34558" y2="76903"/>
                        <a14:foregroundMark x1="41789" y1="81375" x2="41587" y2="82470"/>
                        <a14:foregroundMark x1="39184" y1="95521" x2="39941" y2="91411"/>
                        <a14:foregroundMark x1="46893" y1="77223" x2="46531" y2="95969"/>
                        <a14:foregroundMark x1="58957" y1="83877" x2="58095" y2="93346"/>
                        <a14:foregroundMark x1="69433" y1="76711" x2="69297" y2="80486"/>
                        <a14:foregroundMark x1="40544" y1="83429" x2="40952" y2="84005"/>
                        <a14:foregroundMark x1="41859" y1="83301" x2="38957" y2="83749"/>
                        <a14:foregroundMark x1="39758" y1="89083" x2="39138" y2="91875"/>
                        <a14:backgroundMark x1="46395" y1="13180" x2="47392" y2="10940"/>
                        <a14:backgroundMark x1="46304" y1="10365" x2="48209" y2="9789"/>
                        <a14:backgroundMark x1="48617" y1="9469" x2="50522" y2="10237"/>
                        <a14:backgroundMark x1="48027" y1="9917" x2="48707" y2="10621"/>
                        <a14:backgroundMark x1="48798" y1="9789" x2="49932" y2="10237"/>
                        <a14:backgroundMark x1="48798" y1="10237" x2="45986" y2="10813"/>
                        <a14:backgroundMark x1="46803" y1="10365" x2="45306" y2="11388"/>
                        <a14:backgroundMark x1="49342" y1="9469" x2="50839" y2="10109"/>
                        <a14:backgroundMark x1="48798" y1="9789" x2="50023" y2="10237"/>
                        <a14:backgroundMark x1="48299" y1="10045" x2="50340" y2="10365"/>
                        <a14:backgroundMark x1="50431" y1="10045" x2="51066" y2="10365"/>
                        <a14:backgroundMark x1="50249" y1="9341" x2="51474" y2="10621"/>
                        <a14:backgroundMark x1="45306" y1="10365" x2="44807" y2="11068"/>
                        <a14:backgroundMark x1="44490" y1="11196" x2="44807" y2="11196"/>
                        <a14:backgroundMark x1="44717" y1="10813" x2="44717" y2="10813"/>
                        <a14:backgroundMark x1="45079" y1="11388" x2="44490" y2="11068"/>
                        <a14:backgroundMark x1="41678" y1="90275" x2="41179" y2="85988"/>
                        <a14:backgroundMark x1="41542" y1="90595" x2="41361" y2="86308"/>
                        <a14:backgroundMark x1="41088" y1="90595" x2="41270" y2="86180"/>
                        <a14:backgroundMark x1="40952" y1="91299" x2="41047" y2="86921"/>
                        <a14:backgroundMark x1="40544" y1="91427" x2="40590" y2="88978"/>
                        <a14:backgroundMark x1="40862" y1="91555" x2="41292" y2="85817"/>
                        <a14:backgroundMark x1="40454" y1="90979" x2="40796" y2="88050"/>
                        <a14:backgroundMark x1="40136" y1="90595" x2="42494" y2="84581"/>
                        <a14:backgroundMark x1="41270" y1="90979" x2="41995" y2="84709"/>
                        <a14:backgroundMark x1="41769" y1="85733" x2="41475" y2="84995"/>
                        <a14:backgroundMark x1="41361" y1="92386" x2="41361" y2="85733"/>
                        <a14:backgroundMark x1="41043" y1="85733" x2="40635" y2="86564"/>
                        <a14:backgroundMark x1="41451" y1="85477" x2="40272" y2="86436"/>
                        <a14:backgroundMark x1="41179" y1="85413" x2="40680" y2="89315"/>
                        <a14:backgroundMark x1="40544" y1="87716" x2="40544" y2="90275"/>
                        <a14:backgroundMark x1="41270" y1="85988" x2="41179" y2="85413"/>
                      </a14:backgroundRemoval>
                    </a14:imgEffect>
                  </a14:imgLayer>
                </a14:imgProps>
              </a:ext>
              <a:ext uri="{28A0092B-C50C-407E-A947-70E740481C1C}">
                <a14:useLocalDpi xmlns:a14="http://schemas.microsoft.com/office/drawing/2010/main" val="0"/>
              </a:ext>
            </a:extLst>
          </a:blip>
          <a:srcRect/>
          <a:stretch>
            <a:fillRect/>
          </a:stretch>
        </p:blipFill>
        <p:spPr bwMode="auto">
          <a:xfrm>
            <a:off x="10511900" y="5833726"/>
            <a:ext cx="915262" cy="64882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62321C7-6A1A-C709-7EEC-3ABDB92B5EA1}"/>
              </a:ext>
            </a:extLst>
          </p:cNvPr>
          <p:cNvSpPr txBox="1"/>
          <p:nvPr/>
        </p:nvSpPr>
        <p:spPr>
          <a:xfrm>
            <a:off x="1226522" y="2146806"/>
            <a:ext cx="7585731" cy="3046988"/>
          </a:xfrm>
          <a:prstGeom prst="rect">
            <a:avLst/>
          </a:prstGeom>
          <a:noFill/>
        </p:spPr>
        <p:txBody>
          <a:bodyPr wrap="none" rtlCol="0">
            <a:spAutoFit/>
          </a:bodyPr>
          <a:lstStyle/>
          <a:p>
            <a:r>
              <a:rPr lang="en-NZ" sz="2400" dirty="0">
                <a:solidFill>
                  <a:schemeClr val="bg1"/>
                </a:solidFill>
                <a:latin typeface="Bahnschrift SemiBold" panose="020B0502040204020203" pitchFamily="34" charset="0"/>
              </a:rPr>
              <a:t>- Company context, problem statement, stakeholders.</a:t>
            </a:r>
          </a:p>
          <a:p>
            <a:r>
              <a:rPr lang="en-NZ" sz="2400" dirty="0">
                <a:solidFill>
                  <a:schemeClr val="bg1"/>
                </a:solidFill>
                <a:latin typeface="Bahnschrift SemiBold" panose="020B0502040204020203" pitchFamily="34" charset="0"/>
              </a:rPr>
              <a:t>- Business impact</a:t>
            </a:r>
          </a:p>
          <a:p>
            <a:r>
              <a:rPr lang="en-NZ" sz="2400" dirty="0">
                <a:solidFill>
                  <a:schemeClr val="bg1"/>
                </a:solidFill>
                <a:latin typeface="Bahnschrift SemiBold" panose="020B0502040204020203" pitchFamily="34" charset="0"/>
              </a:rPr>
              <a:t>- Data Understanding and Cleaning</a:t>
            </a:r>
          </a:p>
          <a:p>
            <a:r>
              <a:rPr lang="en-NZ" sz="2400" dirty="0">
                <a:solidFill>
                  <a:schemeClr val="bg1"/>
                </a:solidFill>
                <a:latin typeface="Bahnschrift SemiBold" panose="020B0502040204020203" pitchFamily="34" charset="0"/>
              </a:rPr>
              <a:t>- Pricing Strategy</a:t>
            </a:r>
          </a:p>
          <a:p>
            <a:r>
              <a:rPr lang="en-NZ" sz="2400" dirty="0">
                <a:solidFill>
                  <a:schemeClr val="bg1"/>
                </a:solidFill>
                <a:latin typeface="Bahnschrift SemiBold" panose="020B0502040204020203" pitchFamily="34" charset="0"/>
              </a:rPr>
              <a:t>- Geographic Analysis</a:t>
            </a:r>
          </a:p>
          <a:p>
            <a:r>
              <a:rPr lang="en-NZ" sz="2400" dirty="0">
                <a:solidFill>
                  <a:schemeClr val="bg1"/>
                </a:solidFill>
                <a:latin typeface="Bahnschrift SemiBold" panose="020B0502040204020203" pitchFamily="34" charset="0"/>
              </a:rPr>
              <a:t>- Marketing Competition</a:t>
            </a:r>
          </a:p>
          <a:p>
            <a:r>
              <a:rPr lang="en-NZ" sz="2400" dirty="0">
                <a:solidFill>
                  <a:schemeClr val="bg1"/>
                </a:solidFill>
                <a:latin typeface="Bahnschrift SemiBold" panose="020B0502040204020203" pitchFamily="34" charset="0"/>
              </a:rPr>
              <a:t>- Recommendations and Conclusions</a:t>
            </a:r>
          </a:p>
          <a:p>
            <a:endParaRPr lang="en-NZ" sz="2400" dirty="0">
              <a:solidFill>
                <a:schemeClr val="bg1"/>
              </a:solidFill>
              <a:latin typeface="Bahnschrift SemiBold" panose="020B0502040204020203" pitchFamily="34" charset="0"/>
            </a:endParaRPr>
          </a:p>
        </p:txBody>
      </p:sp>
    </p:spTree>
    <p:extLst>
      <p:ext uri="{BB962C8B-B14F-4D97-AF65-F5344CB8AC3E}">
        <p14:creationId xmlns:p14="http://schemas.microsoft.com/office/powerpoint/2010/main" val="153123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72BCA6C-F04A-D0B4-140E-70FE23A0FB35}"/>
              </a:ext>
            </a:extLst>
          </p:cNvPr>
          <p:cNvSpPr/>
          <p:nvPr/>
        </p:nvSpPr>
        <p:spPr>
          <a:xfrm>
            <a:off x="1986684" y="2343150"/>
            <a:ext cx="8218632" cy="1434141"/>
          </a:xfrm>
          <a:prstGeom prst="rect">
            <a:avLst/>
          </a:prstGeom>
          <a:solidFill>
            <a:srgbClr val="DB255D">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effectLst>
                <a:reflection stA="38000" endPos="65000" dist="50800" dir="5400000" sy="-100000" algn="bl" rotWithShape="0"/>
              </a:effectLst>
            </a:endParaRPr>
          </a:p>
        </p:txBody>
      </p:sp>
      <p:sp>
        <p:nvSpPr>
          <p:cNvPr id="2" name="Title 1">
            <a:extLst>
              <a:ext uri="{FF2B5EF4-FFF2-40B4-BE49-F238E27FC236}">
                <a16:creationId xmlns:a16="http://schemas.microsoft.com/office/drawing/2014/main" id="{33DF00AC-0D80-4511-A3B9-F4DCD88BF724}"/>
              </a:ext>
            </a:extLst>
          </p:cNvPr>
          <p:cNvSpPr>
            <a:spLocks noGrp="1"/>
          </p:cNvSpPr>
          <p:nvPr>
            <p:ph type="ctrTitle"/>
          </p:nvPr>
        </p:nvSpPr>
        <p:spPr>
          <a:xfrm>
            <a:off x="389626" y="1475117"/>
            <a:ext cx="11412748" cy="1953883"/>
          </a:xfrm>
        </p:spPr>
        <p:txBody>
          <a:bodyPr>
            <a:noAutofit/>
          </a:bodyPr>
          <a:lstStyle/>
          <a:p>
            <a:r>
              <a:rPr lang="en-NZ" sz="4400" b="1" dirty="0">
                <a:solidFill>
                  <a:schemeClr val="bg1"/>
                </a:solidFill>
                <a:effectLst>
                  <a:outerShdw blurRad="50800" dist="38100" dir="2700000" algn="tl" rotWithShape="0">
                    <a:prstClr val="black">
                      <a:alpha val="40000"/>
                    </a:prstClr>
                  </a:outerShdw>
                </a:effectLst>
                <a:latin typeface="Bahnschrift" panose="020B0502040204020203" pitchFamily="34" charset="0"/>
              </a:rPr>
              <a:t>Overview</a:t>
            </a:r>
          </a:p>
        </p:txBody>
      </p:sp>
      <p:pic>
        <p:nvPicPr>
          <p:cNvPr id="1026" name="Picture 2" descr="Airbnb Logo History">
            <a:extLst>
              <a:ext uri="{FF2B5EF4-FFF2-40B4-BE49-F238E27FC236}">
                <a16:creationId xmlns:a16="http://schemas.microsoft.com/office/drawing/2014/main" id="{5108C76A-7F9D-6C3F-E7B6-A22608EA2CA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054" b="95969" l="9932" r="89932">
                        <a14:foregroundMark x1="52232" y1="9622" x2="53787" y2="9469"/>
                        <a14:foregroundMark x1="43356" y1="10493" x2="44704" y2="10360"/>
                        <a14:foregroundMark x1="46893" y1="5246" x2="49615" y2="5246"/>
                        <a14:foregroundMark x1="27664" y1="82790" x2="24036" y2="83237"/>
                        <a14:foregroundMark x1="24898" y1="94562" x2="26984" y2="93922"/>
                        <a14:foregroundMark x1="34331" y1="83749" x2="33696" y2="90403"/>
                        <a14:foregroundMark x1="34558" y1="76903" x2="34558" y2="76903"/>
                        <a14:foregroundMark x1="41789" y1="81375" x2="41587" y2="82470"/>
                        <a14:foregroundMark x1="39184" y1="95521" x2="39941" y2="91411"/>
                        <a14:foregroundMark x1="46893" y1="77223" x2="46531" y2="95969"/>
                        <a14:foregroundMark x1="58957" y1="83877" x2="58095" y2="93346"/>
                        <a14:foregroundMark x1="69433" y1="76711" x2="69297" y2="80486"/>
                        <a14:foregroundMark x1="40544" y1="83429" x2="40952" y2="84005"/>
                        <a14:foregroundMark x1="41859" y1="83301" x2="38957" y2="83749"/>
                        <a14:foregroundMark x1="39758" y1="89083" x2="39138" y2="91875"/>
                        <a14:backgroundMark x1="46395" y1="13180" x2="47392" y2="10940"/>
                        <a14:backgroundMark x1="46304" y1="10365" x2="48209" y2="9789"/>
                        <a14:backgroundMark x1="48617" y1="9469" x2="50522" y2="10237"/>
                        <a14:backgroundMark x1="48027" y1="9917" x2="48707" y2="10621"/>
                        <a14:backgroundMark x1="48798" y1="9789" x2="49932" y2="10237"/>
                        <a14:backgroundMark x1="48798" y1="10237" x2="45986" y2="10813"/>
                        <a14:backgroundMark x1="46803" y1="10365" x2="45306" y2="11388"/>
                        <a14:backgroundMark x1="49342" y1="9469" x2="50839" y2="10109"/>
                        <a14:backgroundMark x1="48798" y1="9789" x2="50023" y2="10237"/>
                        <a14:backgroundMark x1="48299" y1="10045" x2="50340" y2="10365"/>
                        <a14:backgroundMark x1="50431" y1="10045" x2="51066" y2="10365"/>
                        <a14:backgroundMark x1="50249" y1="9341" x2="51474" y2="10621"/>
                        <a14:backgroundMark x1="45306" y1="10365" x2="44807" y2="11068"/>
                        <a14:backgroundMark x1="44490" y1="11196" x2="44807" y2="11196"/>
                        <a14:backgroundMark x1="44717" y1="10813" x2="44717" y2="10813"/>
                        <a14:backgroundMark x1="45079" y1="11388" x2="44490" y2="11068"/>
                        <a14:backgroundMark x1="41678" y1="90275" x2="41179" y2="85988"/>
                        <a14:backgroundMark x1="41542" y1="90595" x2="41361" y2="86308"/>
                        <a14:backgroundMark x1="41088" y1="90595" x2="41270" y2="86180"/>
                        <a14:backgroundMark x1="40952" y1="91299" x2="41047" y2="86921"/>
                        <a14:backgroundMark x1="40544" y1="91427" x2="40590" y2="88978"/>
                        <a14:backgroundMark x1="40862" y1="91555" x2="41292" y2="85817"/>
                        <a14:backgroundMark x1="40454" y1="90979" x2="40796" y2="88050"/>
                        <a14:backgroundMark x1="40136" y1="90595" x2="42494" y2="84581"/>
                        <a14:backgroundMark x1="41270" y1="90979" x2="41995" y2="84709"/>
                        <a14:backgroundMark x1="41769" y1="85733" x2="41475" y2="84995"/>
                        <a14:backgroundMark x1="41361" y1="92386" x2="41361" y2="85733"/>
                        <a14:backgroundMark x1="41043" y1="85733" x2="40635" y2="86564"/>
                        <a14:backgroundMark x1="41451" y1="85477" x2="40272" y2="86436"/>
                        <a14:backgroundMark x1="41179" y1="85413" x2="40680" y2="89315"/>
                        <a14:backgroundMark x1="40544" y1="87716" x2="40544" y2="90275"/>
                        <a14:backgroundMark x1="41270" y1="85988" x2="41179" y2="85413"/>
                      </a14:backgroundRemoval>
                    </a14:imgEffect>
                  </a14:imgLayer>
                </a14:imgProps>
              </a:ext>
              <a:ext uri="{28A0092B-C50C-407E-A947-70E740481C1C}">
                <a14:useLocalDpi xmlns:a14="http://schemas.microsoft.com/office/drawing/2010/main" val="0"/>
              </a:ext>
            </a:extLst>
          </a:blip>
          <a:srcRect/>
          <a:stretch>
            <a:fillRect/>
          </a:stretch>
        </p:blipFill>
        <p:spPr bwMode="auto">
          <a:xfrm>
            <a:off x="0" y="287547"/>
            <a:ext cx="2126843" cy="1507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1694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6899D377-B127-0F9E-9C94-F0474CB1534D}"/>
              </a:ext>
            </a:extLst>
          </p:cNvPr>
          <p:cNvSpPr/>
          <p:nvPr/>
        </p:nvSpPr>
        <p:spPr>
          <a:xfrm>
            <a:off x="7626967" y="1728552"/>
            <a:ext cx="3736510" cy="1176588"/>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solidFill>
                <a:schemeClr val="tx1"/>
              </a:solidFill>
            </a:endParaRPr>
          </a:p>
        </p:txBody>
      </p:sp>
      <p:sp>
        <p:nvSpPr>
          <p:cNvPr id="2" name="Rectangle 1">
            <a:extLst>
              <a:ext uri="{FF2B5EF4-FFF2-40B4-BE49-F238E27FC236}">
                <a16:creationId xmlns:a16="http://schemas.microsoft.com/office/drawing/2014/main" id="{EFDB2122-AA2F-6891-03FF-28B4F29E1F19}"/>
              </a:ext>
            </a:extLst>
          </p:cNvPr>
          <p:cNvSpPr/>
          <p:nvPr/>
        </p:nvSpPr>
        <p:spPr>
          <a:xfrm>
            <a:off x="810702" y="695671"/>
            <a:ext cx="4204642" cy="2137377"/>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solidFill>
                <a:schemeClr val="tx1"/>
              </a:solidFill>
            </a:endParaRPr>
          </a:p>
        </p:txBody>
      </p:sp>
      <p:pic>
        <p:nvPicPr>
          <p:cNvPr id="1026" name="Picture 2" descr="Airbnb Logo and symbol, meaning, history, PNG, brand">
            <a:extLst>
              <a:ext uri="{FF2B5EF4-FFF2-40B4-BE49-F238E27FC236}">
                <a16:creationId xmlns:a16="http://schemas.microsoft.com/office/drawing/2014/main" id="{11FF707E-612C-7287-3454-DBD9B555433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048" b="16962"/>
          <a:stretch/>
        </p:blipFill>
        <p:spPr bwMode="auto">
          <a:xfrm>
            <a:off x="1637580" y="769562"/>
            <a:ext cx="2550886" cy="91817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65C8AA26-2450-6E3C-FBBE-55953BDCDE2C}"/>
              </a:ext>
            </a:extLst>
          </p:cNvPr>
          <p:cNvSpPr txBox="1"/>
          <p:nvPr/>
        </p:nvSpPr>
        <p:spPr>
          <a:xfrm>
            <a:off x="991859" y="1687738"/>
            <a:ext cx="3842328" cy="923330"/>
          </a:xfrm>
          <a:prstGeom prst="rect">
            <a:avLst/>
          </a:prstGeom>
          <a:noFill/>
        </p:spPr>
        <p:txBody>
          <a:bodyPr wrap="square" rtlCol="0">
            <a:spAutoFit/>
          </a:bodyPr>
          <a:lstStyle/>
          <a:p>
            <a:pPr algn="just"/>
            <a:r>
              <a:rPr lang="en-US" dirty="0">
                <a:latin typeface="Bahnschrift Condensed" panose="020B0502040204020203" pitchFamily="34" charset="0"/>
              </a:rPr>
              <a:t>A</a:t>
            </a:r>
            <a:r>
              <a:rPr lang="en-US" b="0" i="0" dirty="0">
                <a:effectLst/>
                <a:latin typeface="Bahnschrift Condensed" panose="020B0502040204020203" pitchFamily="34" charset="0"/>
              </a:rPr>
              <a:t>n online marketplace where hosts can rent out their properties to guests for short-term stays, ranging from individual rooms to entire homes.</a:t>
            </a:r>
            <a:endParaRPr lang="en-NZ" dirty="0">
              <a:latin typeface="Bahnschrift Condensed" panose="020B0502040204020203" pitchFamily="34" charset="0"/>
            </a:endParaRPr>
          </a:p>
        </p:txBody>
      </p:sp>
      <p:sp>
        <p:nvSpPr>
          <p:cNvPr id="12" name="Rectangle 11">
            <a:extLst>
              <a:ext uri="{FF2B5EF4-FFF2-40B4-BE49-F238E27FC236}">
                <a16:creationId xmlns:a16="http://schemas.microsoft.com/office/drawing/2014/main" id="{F836ABB7-2E2F-E11E-EB6C-485DBA4D09FF}"/>
              </a:ext>
            </a:extLst>
          </p:cNvPr>
          <p:cNvSpPr/>
          <p:nvPr/>
        </p:nvSpPr>
        <p:spPr>
          <a:xfrm>
            <a:off x="5316572" y="695671"/>
            <a:ext cx="2164880" cy="1114163"/>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solidFill>
                <a:schemeClr val="tx1"/>
              </a:solidFill>
            </a:endParaRPr>
          </a:p>
        </p:txBody>
      </p:sp>
      <p:sp>
        <p:nvSpPr>
          <p:cNvPr id="13" name="TextBox 12">
            <a:extLst>
              <a:ext uri="{FF2B5EF4-FFF2-40B4-BE49-F238E27FC236}">
                <a16:creationId xmlns:a16="http://schemas.microsoft.com/office/drawing/2014/main" id="{883F5EA0-2323-6DB4-BD9E-9FB033D05402}"/>
              </a:ext>
            </a:extLst>
          </p:cNvPr>
          <p:cNvSpPr txBox="1"/>
          <p:nvPr/>
        </p:nvSpPr>
        <p:spPr>
          <a:xfrm>
            <a:off x="5479908" y="732616"/>
            <a:ext cx="1983723" cy="1077218"/>
          </a:xfrm>
          <a:prstGeom prst="rect">
            <a:avLst/>
          </a:prstGeom>
          <a:noFill/>
        </p:spPr>
        <p:txBody>
          <a:bodyPr wrap="square" rtlCol="0">
            <a:spAutoFit/>
          </a:bodyPr>
          <a:lstStyle/>
          <a:p>
            <a:pPr algn="just"/>
            <a:r>
              <a:rPr lang="en-US" sz="1600" b="1" dirty="0">
                <a:latin typeface="Bahnschrift" panose="020B0502040204020203" pitchFamily="34" charset="0"/>
              </a:rPr>
              <a:t>Characteristic</a:t>
            </a:r>
          </a:p>
          <a:p>
            <a:pPr marL="285750" indent="-285750" algn="just">
              <a:buFont typeface="Arial" panose="020B0604020202020204" pitchFamily="34" charset="0"/>
              <a:buChar char="•"/>
            </a:pPr>
            <a:r>
              <a:rPr lang="en-US" sz="1600" dirty="0">
                <a:latin typeface="Bahnschrift Condensed" panose="020B0502040204020203" pitchFamily="34" charset="0"/>
              </a:rPr>
              <a:t>Unique</a:t>
            </a:r>
          </a:p>
          <a:p>
            <a:pPr marL="285750" indent="-285750" algn="just">
              <a:buFont typeface="Arial" panose="020B0604020202020204" pitchFamily="34" charset="0"/>
              <a:buChar char="•"/>
            </a:pPr>
            <a:r>
              <a:rPr lang="en-US" sz="1600" dirty="0">
                <a:latin typeface="Bahnschrift Condensed" panose="020B0502040204020203" pitchFamily="34" charset="0"/>
              </a:rPr>
              <a:t>Flexible</a:t>
            </a:r>
          </a:p>
          <a:p>
            <a:pPr marL="285750" indent="-285750" algn="just">
              <a:buFont typeface="Arial" panose="020B0604020202020204" pitchFamily="34" charset="0"/>
              <a:buChar char="•"/>
            </a:pPr>
            <a:r>
              <a:rPr lang="en-US" sz="1600" dirty="0">
                <a:latin typeface="Bahnschrift Condensed" panose="020B0502040204020203" pitchFamily="34" charset="0"/>
              </a:rPr>
              <a:t>Cost-effective</a:t>
            </a:r>
            <a:endParaRPr lang="en-NZ" sz="1600" dirty="0">
              <a:latin typeface="Bahnschrift Condensed" panose="020B0502040204020203" pitchFamily="34" charset="0"/>
            </a:endParaRPr>
          </a:p>
        </p:txBody>
      </p:sp>
      <p:sp>
        <p:nvSpPr>
          <p:cNvPr id="15" name="Rectangle 14">
            <a:extLst>
              <a:ext uri="{FF2B5EF4-FFF2-40B4-BE49-F238E27FC236}">
                <a16:creationId xmlns:a16="http://schemas.microsoft.com/office/drawing/2014/main" id="{C4D1D7D7-7DA8-EE0F-35B4-8D51D841EC36}"/>
              </a:ext>
            </a:extLst>
          </p:cNvPr>
          <p:cNvSpPr/>
          <p:nvPr/>
        </p:nvSpPr>
        <p:spPr>
          <a:xfrm>
            <a:off x="5316571" y="1927423"/>
            <a:ext cx="2164881" cy="886522"/>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solidFill>
                <a:schemeClr val="tx1"/>
              </a:solidFill>
            </a:endParaRPr>
          </a:p>
        </p:txBody>
      </p:sp>
      <p:sp>
        <p:nvSpPr>
          <p:cNvPr id="16" name="TextBox 15">
            <a:extLst>
              <a:ext uri="{FF2B5EF4-FFF2-40B4-BE49-F238E27FC236}">
                <a16:creationId xmlns:a16="http://schemas.microsoft.com/office/drawing/2014/main" id="{23D21FBF-146D-F15B-5AF0-4C3750CFAA73}"/>
              </a:ext>
            </a:extLst>
          </p:cNvPr>
          <p:cNvSpPr txBox="1"/>
          <p:nvPr/>
        </p:nvSpPr>
        <p:spPr>
          <a:xfrm>
            <a:off x="5453401" y="1946701"/>
            <a:ext cx="1891219" cy="830997"/>
          </a:xfrm>
          <a:prstGeom prst="rect">
            <a:avLst/>
          </a:prstGeom>
          <a:noFill/>
        </p:spPr>
        <p:txBody>
          <a:bodyPr wrap="square" rtlCol="0">
            <a:spAutoFit/>
          </a:bodyPr>
          <a:lstStyle/>
          <a:p>
            <a:r>
              <a:rPr lang="en-US" sz="1600" b="1" dirty="0">
                <a:latin typeface="Bahnschrift" panose="020B0502040204020203" pitchFamily="34" charset="0"/>
              </a:rPr>
              <a:t>Business model </a:t>
            </a:r>
          </a:p>
          <a:p>
            <a:r>
              <a:rPr lang="en-US" sz="1600" dirty="0">
                <a:latin typeface="Bahnschrift Condensed" panose="020B0502040204020203" pitchFamily="34" charset="0"/>
              </a:rPr>
              <a:t>Charging commissions to hosts</a:t>
            </a:r>
            <a:endParaRPr lang="en-NZ" sz="1600" dirty="0">
              <a:latin typeface="Bahnschrift Condensed" panose="020B0502040204020203" pitchFamily="34" charset="0"/>
            </a:endParaRPr>
          </a:p>
        </p:txBody>
      </p:sp>
      <p:sp>
        <p:nvSpPr>
          <p:cNvPr id="17" name="Rectangle 16">
            <a:extLst>
              <a:ext uri="{FF2B5EF4-FFF2-40B4-BE49-F238E27FC236}">
                <a16:creationId xmlns:a16="http://schemas.microsoft.com/office/drawing/2014/main" id="{4D369750-5096-82A7-AC0D-253FE9F90584}"/>
              </a:ext>
            </a:extLst>
          </p:cNvPr>
          <p:cNvSpPr/>
          <p:nvPr/>
        </p:nvSpPr>
        <p:spPr>
          <a:xfrm>
            <a:off x="810702" y="3332652"/>
            <a:ext cx="6670750" cy="518705"/>
          </a:xfrm>
          <a:prstGeom prst="rect">
            <a:avLst/>
          </a:prstGeom>
          <a:solidFill>
            <a:srgbClr val="DB255D">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dirty="0">
                <a:solidFill>
                  <a:schemeClr val="bg1"/>
                </a:solidFill>
                <a:latin typeface="Bahnschrift" panose="020B0502040204020203" pitchFamily="34" charset="0"/>
              </a:rPr>
              <a:t>Stakeholders</a:t>
            </a:r>
          </a:p>
        </p:txBody>
      </p:sp>
      <p:sp>
        <p:nvSpPr>
          <p:cNvPr id="18" name="Rectangle 17">
            <a:extLst>
              <a:ext uri="{FF2B5EF4-FFF2-40B4-BE49-F238E27FC236}">
                <a16:creationId xmlns:a16="http://schemas.microsoft.com/office/drawing/2014/main" id="{1FAFC391-72D4-39A5-9984-68A3C3EACD18}"/>
              </a:ext>
            </a:extLst>
          </p:cNvPr>
          <p:cNvSpPr/>
          <p:nvPr/>
        </p:nvSpPr>
        <p:spPr>
          <a:xfrm>
            <a:off x="1117599" y="3851358"/>
            <a:ext cx="2022764" cy="518706"/>
          </a:xfrm>
          <a:prstGeom prst="rect">
            <a:avLst/>
          </a:prstGeom>
          <a:solidFill>
            <a:schemeClr val="tx1">
              <a:lumMod val="75000"/>
              <a:lumOff val="2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dirty="0">
                <a:solidFill>
                  <a:schemeClr val="bg1"/>
                </a:solidFill>
                <a:latin typeface="Bahnschrift" panose="020B0502040204020203" pitchFamily="34" charset="0"/>
              </a:rPr>
              <a:t>Host</a:t>
            </a:r>
          </a:p>
        </p:txBody>
      </p:sp>
      <p:sp>
        <p:nvSpPr>
          <p:cNvPr id="19" name="Rectangle 18">
            <a:extLst>
              <a:ext uri="{FF2B5EF4-FFF2-40B4-BE49-F238E27FC236}">
                <a16:creationId xmlns:a16="http://schemas.microsoft.com/office/drawing/2014/main" id="{5425B938-DA10-4BE1-46A7-978105DCC7BF}"/>
              </a:ext>
            </a:extLst>
          </p:cNvPr>
          <p:cNvSpPr/>
          <p:nvPr/>
        </p:nvSpPr>
        <p:spPr>
          <a:xfrm>
            <a:off x="3140363" y="3851358"/>
            <a:ext cx="4341089" cy="518706"/>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400" dirty="0">
                <a:solidFill>
                  <a:schemeClr val="tx1"/>
                </a:solidFill>
                <a:latin typeface="Bahnschrift" panose="020B0502040204020203" pitchFamily="34" charset="0"/>
              </a:rPr>
              <a:t>Pricing strategies and neighbourhood insights</a:t>
            </a:r>
          </a:p>
        </p:txBody>
      </p:sp>
      <p:sp>
        <p:nvSpPr>
          <p:cNvPr id="20" name="Rectangle 19">
            <a:extLst>
              <a:ext uri="{FF2B5EF4-FFF2-40B4-BE49-F238E27FC236}">
                <a16:creationId xmlns:a16="http://schemas.microsoft.com/office/drawing/2014/main" id="{09D6412E-F137-693A-DEBA-68AA73EA5DA1}"/>
              </a:ext>
            </a:extLst>
          </p:cNvPr>
          <p:cNvSpPr/>
          <p:nvPr/>
        </p:nvSpPr>
        <p:spPr>
          <a:xfrm>
            <a:off x="1117599" y="4370064"/>
            <a:ext cx="2022764" cy="518706"/>
          </a:xfrm>
          <a:prstGeom prst="rect">
            <a:avLst/>
          </a:prstGeom>
          <a:solidFill>
            <a:schemeClr val="tx1">
              <a:lumMod val="75000"/>
              <a:lumOff val="2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dirty="0">
                <a:solidFill>
                  <a:schemeClr val="bg1"/>
                </a:solidFill>
                <a:latin typeface="Bahnschrift" panose="020B0502040204020203" pitchFamily="34" charset="0"/>
              </a:rPr>
              <a:t>Airbnb Platform</a:t>
            </a:r>
          </a:p>
        </p:txBody>
      </p:sp>
      <p:sp>
        <p:nvSpPr>
          <p:cNvPr id="22" name="Rectangle 21">
            <a:extLst>
              <a:ext uri="{FF2B5EF4-FFF2-40B4-BE49-F238E27FC236}">
                <a16:creationId xmlns:a16="http://schemas.microsoft.com/office/drawing/2014/main" id="{0DCA88E4-17C2-5AFF-E557-07A8E86039E3}"/>
              </a:ext>
            </a:extLst>
          </p:cNvPr>
          <p:cNvSpPr/>
          <p:nvPr/>
        </p:nvSpPr>
        <p:spPr>
          <a:xfrm>
            <a:off x="3140363" y="4370064"/>
            <a:ext cx="4341089" cy="499603"/>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400" dirty="0">
                <a:solidFill>
                  <a:schemeClr val="tx1"/>
                </a:solidFill>
                <a:latin typeface="Bahnschrift" panose="020B0502040204020203" pitchFamily="34" charset="0"/>
              </a:rPr>
              <a:t>Optimize marketplace heath</a:t>
            </a:r>
          </a:p>
        </p:txBody>
      </p:sp>
      <p:sp>
        <p:nvSpPr>
          <p:cNvPr id="23" name="Rectangle 22">
            <a:extLst>
              <a:ext uri="{FF2B5EF4-FFF2-40B4-BE49-F238E27FC236}">
                <a16:creationId xmlns:a16="http://schemas.microsoft.com/office/drawing/2014/main" id="{F25589BD-1246-40E3-558A-2EC9FC73EEF9}"/>
              </a:ext>
            </a:extLst>
          </p:cNvPr>
          <p:cNvSpPr/>
          <p:nvPr/>
        </p:nvSpPr>
        <p:spPr>
          <a:xfrm>
            <a:off x="1117599" y="4869667"/>
            <a:ext cx="2022764" cy="429490"/>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latin typeface="Bahnschrift" panose="020B0502040204020203" pitchFamily="34" charset="0"/>
              </a:rPr>
              <a:t>Travellers</a:t>
            </a:r>
          </a:p>
        </p:txBody>
      </p:sp>
      <p:sp>
        <p:nvSpPr>
          <p:cNvPr id="24" name="Rectangle 23">
            <a:extLst>
              <a:ext uri="{FF2B5EF4-FFF2-40B4-BE49-F238E27FC236}">
                <a16:creationId xmlns:a16="http://schemas.microsoft.com/office/drawing/2014/main" id="{F00CD3D1-0890-DEE7-128C-A0133FD00E5A}"/>
              </a:ext>
            </a:extLst>
          </p:cNvPr>
          <p:cNvSpPr/>
          <p:nvPr/>
        </p:nvSpPr>
        <p:spPr>
          <a:xfrm>
            <a:off x="1117598" y="5299157"/>
            <a:ext cx="2022764" cy="429490"/>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latin typeface="Bahnschrift" panose="020B0502040204020203" pitchFamily="34" charset="0"/>
              </a:rPr>
              <a:t>Bangkok Tourism</a:t>
            </a:r>
          </a:p>
        </p:txBody>
      </p:sp>
      <p:sp>
        <p:nvSpPr>
          <p:cNvPr id="25" name="Rectangle 24">
            <a:extLst>
              <a:ext uri="{FF2B5EF4-FFF2-40B4-BE49-F238E27FC236}">
                <a16:creationId xmlns:a16="http://schemas.microsoft.com/office/drawing/2014/main" id="{C16F207E-75EB-B9AC-9F7F-18AB93DA2292}"/>
              </a:ext>
            </a:extLst>
          </p:cNvPr>
          <p:cNvSpPr/>
          <p:nvPr/>
        </p:nvSpPr>
        <p:spPr>
          <a:xfrm>
            <a:off x="3140363" y="4869667"/>
            <a:ext cx="4341089" cy="448593"/>
          </a:xfrm>
          <a:prstGeom prst="rect">
            <a:avLst/>
          </a:prstGeom>
          <a:solidFill>
            <a:schemeClr val="tx1">
              <a:lumMod val="75000"/>
              <a:lumOff val="2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400" dirty="0">
                <a:solidFill>
                  <a:schemeClr val="bg1"/>
                </a:solidFill>
                <a:latin typeface="Bahnschrift" panose="020B0502040204020203" pitchFamily="34" charset="0"/>
              </a:rPr>
              <a:t>Quality listings with competitive pricings</a:t>
            </a:r>
          </a:p>
        </p:txBody>
      </p:sp>
      <p:sp>
        <p:nvSpPr>
          <p:cNvPr id="26" name="Rectangle 25">
            <a:extLst>
              <a:ext uri="{FF2B5EF4-FFF2-40B4-BE49-F238E27FC236}">
                <a16:creationId xmlns:a16="http://schemas.microsoft.com/office/drawing/2014/main" id="{A1727D8B-A8FD-3B1F-920A-A010F59A59A7}"/>
              </a:ext>
            </a:extLst>
          </p:cNvPr>
          <p:cNvSpPr/>
          <p:nvPr/>
        </p:nvSpPr>
        <p:spPr>
          <a:xfrm>
            <a:off x="3140363" y="5318260"/>
            <a:ext cx="4341089" cy="410387"/>
          </a:xfrm>
          <a:prstGeom prst="rect">
            <a:avLst/>
          </a:prstGeom>
          <a:solidFill>
            <a:schemeClr val="tx1">
              <a:lumMod val="75000"/>
              <a:lumOff val="2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400" dirty="0">
                <a:solidFill>
                  <a:schemeClr val="bg1"/>
                </a:solidFill>
                <a:latin typeface="Bahnschrift" panose="020B0502040204020203" pitchFamily="34" charset="0"/>
              </a:rPr>
              <a:t>Supporting growth and visitor experience</a:t>
            </a:r>
          </a:p>
        </p:txBody>
      </p:sp>
      <p:sp>
        <p:nvSpPr>
          <p:cNvPr id="27" name="Rectangle 26">
            <a:extLst>
              <a:ext uri="{FF2B5EF4-FFF2-40B4-BE49-F238E27FC236}">
                <a16:creationId xmlns:a16="http://schemas.microsoft.com/office/drawing/2014/main" id="{28F5831E-5B6A-4CE2-32F2-0685D513361D}"/>
              </a:ext>
            </a:extLst>
          </p:cNvPr>
          <p:cNvSpPr/>
          <p:nvPr/>
        </p:nvSpPr>
        <p:spPr>
          <a:xfrm rot="16200000">
            <a:off x="454995" y="4207063"/>
            <a:ext cx="1018311" cy="306897"/>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400" dirty="0">
                <a:solidFill>
                  <a:schemeClr val="bg1"/>
                </a:solidFill>
                <a:latin typeface="Bahnschrift" panose="020B0502040204020203" pitchFamily="34" charset="0"/>
              </a:rPr>
              <a:t>Direct</a:t>
            </a:r>
          </a:p>
        </p:txBody>
      </p:sp>
      <p:sp>
        <p:nvSpPr>
          <p:cNvPr id="28" name="Rectangle 27">
            <a:extLst>
              <a:ext uri="{FF2B5EF4-FFF2-40B4-BE49-F238E27FC236}">
                <a16:creationId xmlns:a16="http://schemas.microsoft.com/office/drawing/2014/main" id="{294153C6-86BB-D17C-72F3-DAECE6AA5BF2}"/>
              </a:ext>
            </a:extLst>
          </p:cNvPr>
          <p:cNvSpPr/>
          <p:nvPr/>
        </p:nvSpPr>
        <p:spPr>
          <a:xfrm rot="16200000">
            <a:off x="534658" y="5145706"/>
            <a:ext cx="858983" cy="306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400" dirty="0">
                <a:solidFill>
                  <a:schemeClr val="tx1"/>
                </a:solidFill>
                <a:latin typeface="Bahnschrift" panose="020B0502040204020203" pitchFamily="34" charset="0"/>
              </a:rPr>
              <a:t>Indirect</a:t>
            </a:r>
          </a:p>
        </p:txBody>
      </p:sp>
      <p:sp>
        <p:nvSpPr>
          <p:cNvPr id="30" name="Rectangle 29">
            <a:extLst>
              <a:ext uri="{FF2B5EF4-FFF2-40B4-BE49-F238E27FC236}">
                <a16:creationId xmlns:a16="http://schemas.microsoft.com/office/drawing/2014/main" id="{353DBA9D-549D-ED1D-5F22-15EA3CA8BCD5}"/>
              </a:ext>
            </a:extLst>
          </p:cNvPr>
          <p:cNvSpPr/>
          <p:nvPr/>
        </p:nvSpPr>
        <p:spPr>
          <a:xfrm>
            <a:off x="7644788" y="695672"/>
            <a:ext cx="3736510" cy="865273"/>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solidFill>
                <a:schemeClr val="tx1"/>
              </a:solidFill>
            </a:endParaRPr>
          </a:p>
        </p:txBody>
      </p:sp>
      <p:sp>
        <p:nvSpPr>
          <p:cNvPr id="32" name="TextBox 31">
            <a:extLst>
              <a:ext uri="{FF2B5EF4-FFF2-40B4-BE49-F238E27FC236}">
                <a16:creationId xmlns:a16="http://schemas.microsoft.com/office/drawing/2014/main" id="{88110459-1EAF-1391-E78C-845037BC287C}"/>
              </a:ext>
            </a:extLst>
          </p:cNvPr>
          <p:cNvSpPr txBox="1"/>
          <p:nvPr/>
        </p:nvSpPr>
        <p:spPr>
          <a:xfrm>
            <a:off x="7782679" y="863278"/>
            <a:ext cx="3417462" cy="523220"/>
          </a:xfrm>
          <a:prstGeom prst="rect">
            <a:avLst/>
          </a:prstGeom>
          <a:noFill/>
        </p:spPr>
        <p:txBody>
          <a:bodyPr wrap="square" rtlCol="0">
            <a:spAutoFit/>
          </a:bodyPr>
          <a:lstStyle/>
          <a:p>
            <a:pPr algn="ctr"/>
            <a:r>
              <a:rPr lang="en-US" sz="2800" dirty="0">
                <a:latin typeface="Bahnschrift" panose="020B0502040204020203" pitchFamily="34" charset="0"/>
              </a:rPr>
              <a:t>Problem statement</a:t>
            </a:r>
            <a:endParaRPr lang="en-NZ" sz="2800" dirty="0">
              <a:latin typeface="Bahnschrift" panose="020B0502040204020203" pitchFamily="34" charset="0"/>
            </a:endParaRPr>
          </a:p>
        </p:txBody>
      </p:sp>
      <p:pic>
        <p:nvPicPr>
          <p:cNvPr id="1030" name="Picture 6" descr="Free High Quality Price Icon PNG Transparent Background, Free Download  #7319 - FreeIconsPNG">
            <a:extLst>
              <a:ext uri="{FF2B5EF4-FFF2-40B4-BE49-F238E27FC236}">
                <a16:creationId xmlns:a16="http://schemas.microsoft.com/office/drawing/2014/main" id="{1A72E798-BDCA-2459-7AA0-02484629BA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8027" y="1928550"/>
            <a:ext cx="677176" cy="774937"/>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3">
            <a:extLst>
              <a:ext uri="{FF2B5EF4-FFF2-40B4-BE49-F238E27FC236}">
                <a16:creationId xmlns:a16="http://schemas.microsoft.com/office/drawing/2014/main" id="{64541297-99E7-43D6-A441-B8168BC0471F}"/>
              </a:ext>
            </a:extLst>
          </p:cNvPr>
          <p:cNvSpPr/>
          <p:nvPr/>
        </p:nvSpPr>
        <p:spPr>
          <a:xfrm>
            <a:off x="7623155" y="3170615"/>
            <a:ext cx="3736510" cy="1176588"/>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solidFill>
                <a:schemeClr val="tx1"/>
              </a:solidFill>
            </a:endParaRPr>
          </a:p>
        </p:txBody>
      </p:sp>
      <p:sp>
        <p:nvSpPr>
          <p:cNvPr id="35" name="Rectangle 34">
            <a:extLst>
              <a:ext uri="{FF2B5EF4-FFF2-40B4-BE49-F238E27FC236}">
                <a16:creationId xmlns:a16="http://schemas.microsoft.com/office/drawing/2014/main" id="{37D3B7A1-D71A-A7BB-7151-F64A340F8F90}"/>
              </a:ext>
            </a:extLst>
          </p:cNvPr>
          <p:cNvSpPr/>
          <p:nvPr/>
        </p:nvSpPr>
        <p:spPr>
          <a:xfrm>
            <a:off x="7623155" y="4552058"/>
            <a:ext cx="3736510" cy="1176588"/>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solidFill>
                <a:schemeClr val="tx1"/>
              </a:solidFill>
            </a:endParaRPr>
          </a:p>
        </p:txBody>
      </p:sp>
      <p:pic>
        <p:nvPicPr>
          <p:cNvPr id="1036" name="Picture 12">
            <a:extLst>
              <a:ext uri="{FF2B5EF4-FFF2-40B4-BE49-F238E27FC236}">
                <a16:creationId xmlns:a16="http://schemas.microsoft.com/office/drawing/2014/main" id="{7423784A-7EB4-D3D4-6A10-8BD26BFF4FDD}"/>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3027" b="96973" l="476" r="98333">
                        <a14:foregroundMark x1="35238" y1="4191" x2="27976" y2="5588"/>
                        <a14:foregroundMark x1="27976" y1="5588" x2="14405" y2="17113"/>
                        <a14:foregroundMark x1="14405" y1="17113" x2="4643" y2="32945"/>
                        <a14:foregroundMark x1="4643" y1="32945" x2="952" y2="48778"/>
                        <a14:foregroundMark x1="952" y1="48778" x2="3690" y2="63446"/>
                        <a14:foregroundMark x1="33214" y1="6636" x2="51548" y2="1863"/>
                        <a14:foregroundMark x1="51548" y1="1863" x2="62262" y2="3027"/>
                        <a14:foregroundMark x1="62262" y1="3027" x2="64881" y2="4075"/>
                        <a14:foregroundMark x1="65952" y1="4191" x2="80714" y2="12456"/>
                        <a14:foregroundMark x1="80714" y1="12456" x2="87619" y2="19208"/>
                        <a14:foregroundMark x1="87619" y1="19208" x2="94881" y2="31665"/>
                        <a14:foregroundMark x1="96667" y1="34226" x2="98452" y2="58556"/>
                        <a14:foregroundMark x1="98452" y1="58556" x2="97976" y2="61583"/>
                        <a14:foregroundMark x1="2857" y1="48428" x2="51310" y2="49593"/>
                        <a14:foregroundMark x1="51310" y1="49593" x2="84762" y2="48661"/>
                        <a14:foregroundMark x1="61429" y1="6752" x2="74286" y2="42375"/>
                        <a14:foregroundMark x1="3452" y1="64144" x2="9762" y2="78231"/>
                        <a14:foregroundMark x1="9762" y1="78231" x2="14405" y2="83120"/>
                        <a14:foregroundMark x1="15952" y1="83353" x2="29643" y2="76834"/>
                        <a14:foregroundMark x1="29643" y1="76834" x2="29286" y2="72759"/>
                        <a14:foregroundMark x1="30714" y1="77416" x2="34405" y2="85099"/>
                        <a14:foregroundMark x1="20000" y1="87544" x2="42976" y2="96973"/>
                      </a14:backgroundRemoval>
                    </a14:imgEffect>
                  </a14:imgLayer>
                </a14:imgProps>
              </a:ext>
              <a:ext uri="{28A0092B-C50C-407E-A947-70E740481C1C}">
                <a14:useLocalDpi xmlns:a14="http://schemas.microsoft.com/office/drawing/2010/main" val="0"/>
              </a:ext>
            </a:extLst>
          </a:blip>
          <a:srcRect/>
          <a:stretch>
            <a:fillRect/>
          </a:stretch>
        </p:blipFill>
        <p:spPr bwMode="auto">
          <a:xfrm>
            <a:off x="7718027" y="3410320"/>
            <a:ext cx="677176" cy="69256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Competition, Leadership icon, text, logo png | PNGEgg">
            <a:extLst>
              <a:ext uri="{FF2B5EF4-FFF2-40B4-BE49-F238E27FC236}">
                <a16:creationId xmlns:a16="http://schemas.microsoft.com/office/drawing/2014/main" id="{B765EA80-E80D-67E9-722B-3B2AEA267A39}"/>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2919" b="99784" l="2111" r="97778">
                        <a14:foregroundMark x1="17444" y1="24432" x2="18222" y2="22378"/>
                        <a14:foregroundMark x1="48444" y1="9622" x2="53222" y2="6162"/>
                        <a14:foregroundMark x1="86000" y1="19676" x2="87889" y2="18703"/>
                        <a14:foregroundMark x1="80222" y1="17081" x2="87556" y2="23135"/>
                        <a14:foregroundMark x1="48333" y1="3351" x2="56406" y2="9897"/>
                        <a14:foregroundMark x1="14444" y1="20973" x2="18778" y2="22919"/>
                        <a14:foregroundMark x1="15556" y1="39027" x2="16556" y2="75892"/>
                        <a14:foregroundMark x1="47333" y1="24108" x2="51778" y2="47027"/>
                        <a14:foregroundMark x1="45778" y1="28108" x2="45556" y2="35243"/>
                        <a14:foregroundMark x1="45556" y1="35243" x2="49222" y2="41297"/>
                        <a14:foregroundMark x1="20333" y1="20000" x2="12556" y2="20541"/>
                        <a14:foregroundMark x1="12556" y1="20541" x2="15778" y2="27243"/>
                        <a14:foregroundMark x1="15778" y1="27243" x2="19222" y2="21297"/>
                        <a14:foregroundMark x1="53444" y1="22595" x2="54778" y2="39027"/>
                        <a14:foregroundMark x1="54778" y1="39027" x2="54778" y2="39027"/>
                        <a14:foregroundMark x1="56667" y1="21838" x2="44111" y2="22703"/>
                        <a14:foregroundMark x1="44111" y1="22703" x2="41333" y2="30919"/>
                        <a14:foregroundMark x1="41333" y1="30919" x2="47444" y2="54054"/>
                        <a14:foregroundMark x1="47444" y1="54054" x2="47444" y2="61730"/>
                        <a14:foregroundMark x1="47444" y1="61730" x2="58000" y2="38811"/>
                        <a14:foregroundMark x1="58000" y1="38811" x2="58333" y2="27243"/>
                        <a14:foregroundMark x1="51556" y1="41622" x2="47667" y2="63027"/>
                        <a14:foregroundMark x1="47667" y1="63027" x2="54000" y2="64973"/>
                        <a14:foregroundMark x1="86333" y1="31892" x2="79333" y2="48757"/>
                        <a14:foregroundMark x1="79333" y1="48757" x2="84000" y2="59568"/>
                        <a14:foregroundMark x1="84000" y1="59568" x2="81889" y2="68865"/>
                        <a14:foregroundMark x1="81889" y1="68865" x2="82444" y2="76216"/>
                        <a14:foregroundMark x1="82444" y1="76216" x2="89778" y2="42919"/>
                        <a14:foregroundMark x1="85778" y1="35351" x2="77444" y2="39135"/>
                        <a14:foregroundMark x1="77444" y1="39135" x2="73000" y2="54595"/>
                        <a14:foregroundMark x1="73000" y1="54595" x2="78889" y2="63243"/>
                        <a14:foregroundMark x1="78889" y1="63243" x2="80889" y2="75784"/>
                        <a14:foregroundMark x1="80889" y1="75784" x2="88444" y2="69297"/>
                        <a14:foregroundMark x1="88444" y1="69297" x2="92667" y2="40000"/>
                        <a14:foregroundMark x1="22556" y1="38919" x2="13222" y2="39027"/>
                        <a14:foregroundMark x1="13222" y1="39027" x2="10444" y2="48324"/>
                        <a14:foregroundMark x1="10444" y1="48324" x2="16556" y2="80649"/>
                        <a14:foregroundMark x1="16556" y1="80649" x2="20667" y2="72541"/>
                        <a14:foregroundMark x1="15778" y1="37946" x2="5667" y2="45514"/>
                        <a14:foregroundMark x1="5667" y1="45514" x2="8333" y2="60757"/>
                        <a14:foregroundMark x1="3333" y1="96865" x2="3905" y2="96432"/>
                        <a14:foregroundMark x1="31180" y1="89070" x2="32556" y2="88865"/>
                        <a14:foregroundMark x1="9333" y1="92324" x2="27628" y2="89599"/>
                        <a14:foregroundMark x1="32556" y1="88865" x2="34444" y2="74270"/>
                        <a14:foregroundMark x1="2222" y1="92000" x2="2222" y2="99784"/>
                        <a14:foregroundMark x1="97778" y1="88757" x2="96889" y2="94811"/>
                        <a14:backgroundMark x1="19778" y1="4865" x2="38222" y2="16649"/>
                        <a14:backgroundMark x1="58444" y1="9838" x2="57333" y2="12757"/>
                        <a14:backgroundMark x1="28000" y1="89081" x2="29556" y2="89297"/>
                        <a14:backgroundMark x1="30111" y1="89081" x2="30222" y2="89081"/>
                        <a14:backgroundMark x1="30444" y1="88649" x2="30000" y2="89297"/>
                        <a14:backgroundMark x1="5000" y1="94595" x2="5444" y2="94811"/>
                        <a14:backgroundMark x1="5333" y1="94703" x2="8222" y2="95351"/>
                        <a14:backgroundMark x1="6556" y1="94270" x2="7111" y2="94162"/>
                        <a14:backgroundMark x1="5333" y1="94919" x2="5333" y2="96432"/>
                        <a14:backgroundMark x1="6333" y1="94486" x2="7111" y2="94811"/>
                        <a14:backgroundMark x1="6667" y1="94378" x2="8000" y2="94162"/>
                      </a14:backgroundRemoval>
                    </a14:imgEffect>
                  </a14:imgLayer>
                </a14:imgProps>
              </a:ext>
              <a:ext uri="{28A0092B-C50C-407E-A947-70E740481C1C}">
                <a14:useLocalDpi xmlns:a14="http://schemas.microsoft.com/office/drawing/2010/main" val="0"/>
              </a:ext>
            </a:extLst>
          </a:blip>
          <a:srcRect/>
          <a:stretch>
            <a:fillRect/>
          </a:stretch>
        </p:blipFill>
        <p:spPr bwMode="auto">
          <a:xfrm>
            <a:off x="7718027" y="4720413"/>
            <a:ext cx="677176" cy="696027"/>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9FDF23B1-3F25-66DF-F713-08950F89C50B}"/>
              </a:ext>
            </a:extLst>
          </p:cNvPr>
          <p:cNvSpPr txBox="1"/>
          <p:nvPr/>
        </p:nvSpPr>
        <p:spPr>
          <a:xfrm>
            <a:off x="8447256" y="3251545"/>
            <a:ext cx="2860356" cy="954107"/>
          </a:xfrm>
          <a:prstGeom prst="rect">
            <a:avLst/>
          </a:prstGeom>
          <a:noFill/>
        </p:spPr>
        <p:txBody>
          <a:bodyPr wrap="square">
            <a:spAutoFit/>
          </a:bodyPr>
          <a:lstStyle/>
          <a:p>
            <a:r>
              <a:rPr lang="en-US" sz="1400" dirty="0">
                <a:latin typeface="Bahnschrift Condensed" panose="020B0502040204020203" pitchFamily="34" charset="0"/>
              </a:rPr>
              <a:t>Which neighborhoods in Bangkok show the highest demand and best listing performance, and what geographic factors contribute to success?</a:t>
            </a:r>
            <a:endParaRPr lang="en-NZ" sz="1400" dirty="0">
              <a:latin typeface="Bahnschrift Condensed" panose="020B0502040204020203" pitchFamily="34" charset="0"/>
            </a:endParaRPr>
          </a:p>
        </p:txBody>
      </p:sp>
      <p:sp>
        <p:nvSpPr>
          <p:cNvPr id="39" name="TextBox 38">
            <a:extLst>
              <a:ext uri="{FF2B5EF4-FFF2-40B4-BE49-F238E27FC236}">
                <a16:creationId xmlns:a16="http://schemas.microsoft.com/office/drawing/2014/main" id="{67585911-1025-DAB7-8713-53C5B59179C4}"/>
              </a:ext>
            </a:extLst>
          </p:cNvPr>
          <p:cNvSpPr txBox="1"/>
          <p:nvPr/>
        </p:nvSpPr>
        <p:spPr>
          <a:xfrm>
            <a:off x="8441180" y="4619865"/>
            <a:ext cx="3013357" cy="954107"/>
          </a:xfrm>
          <a:prstGeom prst="rect">
            <a:avLst/>
          </a:prstGeom>
          <a:noFill/>
        </p:spPr>
        <p:txBody>
          <a:bodyPr wrap="square">
            <a:spAutoFit/>
          </a:bodyPr>
          <a:lstStyle/>
          <a:p>
            <a:r>
              <a:rPr lang="en-US" sz="1400" dirty="0">
                <a:latin typeface="Bahnschrift Condensed" panose="020B0502040204020203" pitchFamily="34" charset="0"/>
              </a:rPr>
              <a:t>What listing characteristics differentiate high-performing listings from underperforming ones? How does minimum nights and availability affects number of review</a:t>
            </a:r>
            <a:endParaRPr lang="en-NZ" sz="1400" dirty="0">
              <a:latin typeface="Bahnschrift Condensed" panose="020B0502040204020203" pitchFamily="34" charset="0"/>
            </a:endParaRPr>
          </a:p>
        </p:txBody>
      </p:sp>
      <p:sp>
        <p:nvSpPr>
          <p:cNvPr id="40" name="TextBox 39">
            <a:extLst>
              <a:ext uri="{FF2B5EF4-FFF2-40B4-BE49-F238E27FC236}">
                <a16:creationId xmlns:a16="http://schemas.microsoft.com/office/drawing/2014/main" id="{A4F23563-999A-0D92-5244-49B50C7D74AC}"/>
              </a:ext>
            </a:extLst>
          </p:cNvPr>
          <p:cNvSpPr txBox="1"/>
          <p:nvPr/>
        </p:nvSpPr>
        <p:spPr>
          <a:xfrm>
            <a:off x="8449162" y="1833607"/>
            <a:ext cx="2860356" cy="954107"/>
          </a:xfrm>
          <a:prstGeom prst="rect">
            <a:avLst/>
          </a:prstGeom>
          <a:noFill/>
        </p:spPr>
        <p:txBody>
          <a:bodyPr wrap="square">
            <a:spAutoFit/>
          </a:bodyPr>
          <a:lstStyle/>
          <a:p>
            <a:r>
              <a:rPr lang="en-US" sz="1400" dirty="0">
                <a:latin typeface="Bahnschrift Condensed" panose="020B0502040204020203" pitchFamily="34" charset="0"/>
              </a:rPr>
              <a:t>How does price relate to booking success? What price characteristic attracts more bookings? How is price across neighborhood and for different room types?</a:t>
            </a:r>
            <a:endParaRPr lang="en-NZ" sz="1400" dirty="0">
              <a:latin typeface="Bahnschrift Condensed" panose="020B0502040204020203" pitchFamily="34" charset="0"/>
            </a:endParaRPr>
          </a:p>
        </p:txBody>
      </p:sp>
    </p:spTree>
    <p:extLst>
      <p:ext uri="{BB962C8B-B14F-4D97-AF65-F5344CB8AC3E}">
        <p14:creationId xmlns:p14="http://schemas.microsoft.com/office/powerpoint/2010/main" val="4099249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FDB2122-AA2F-6891-03FF-28B4F29E1F19}"/>
              </a:ext>
            </a:extLst>
          </p:cNvPr>
          <p:cNvSpPr/>
          <p:nvPr/>
        </p:nvSpPr>
        <p:spPr>
          <a:xfrm>
            <a:off x="6373091" y="429770"/>
            <a:ext cx="4932219" cy="617775"/>
          </a:xfrm>
          <a:prstGeom prst="rect">
            <a:avLst/>
          </a:prstGeom>
          <a:solidFill>
            <a:srgbClr val="DB255D">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solidFill>
                <a:schemeClr val="tx1"/>
              </a:solidFill>
            </a:endParaRPr>
          </a:p>
        </p:txBody>
      </p:sp>
      <p:sp>
        <p:nvSpPr>
          <p:cNvPr id="3" name="Rectangle 2">
            <a:extLst>
              <a:ext uri="{FF2B5EF4-FFF2-40B4-BE49-F238E27FC236}">
                <a16:creationId xmlns:a16="http://schemas.microsoft.com/office/drawing/2014/main" id="{11CCC8E3-463F-6CB9-7B74-6120DCC4313B}"/>
              </a:ext>
            </a:extLst>
          </p:cNvPr>
          <p:cNvSpPr/>
          <p:nvPr/>
        </p:nvSpPr>
        <p:spPr>
          <a:xfrm>
            <a:off x="6727736" y="532442"/>
            <a:ext cx="4300894" cy="461665"/>
          </a:xfrm>
          <a:prstGeom prst="rect">
            <a:avLst/>
          </a:prstGeom>
          <a:noFill/>
        </p:spPr>
        <p:txBody>
          <a:bodyPr wrap="square" lIns="91440" tIns="45720" rIns="91440" bIns="45720">
            <a:spAutoFit/>
          </a:bodyPr>
          <a:lstStyle/>
          <a:p>
            <a:pPr algn="ctr"/>
            <a:r>
              <a:rPr lang="en-US" sz="2400" b="1" cap="none" spc="0" dirty="0">
                <a:ln w="0"/>
                <a:solidFill>
                  <a:schemeClr val="tx1"/>
                </a:solidFill>
                <a:effectLst>
                  <a:outerShdw blurRad="38100" dist="19050" dir="2700000" algn="tl" rotWithShape="0">
                    <a:schemeClr val="dk1">
                      <a:alpha val="40000"/>
                    </a:schemeClr>
                  </a:outerShdw>
                </a:effectLst>
                <a:latin typeface="Bahnschrift" panose="020B0502040204020203" pitchFamily="34" charset="0"/>
              </a:rPr>
              <a:t>Why backpackers?</a:t>
            </a:r>
          </a:p>
        </p:txBody>
      </p:sp>
      <p:sp>
        <p:nvSpPr>
          <p:cNvPr id="5" name="Rectangle 4">
            <a:extLst>
              <a:ext uri="{FF2B5EF4-FFF2-40B4-BE49-F238E27FC236}">
                <a16:creationId xmlns:a16="http://schemas.microsoft.com/office/drawing/2014/main" id="{E4247F54-69F4-8E86-5E46-3103D7D45EF2}"/>
              </a:ext>
            </a:extLst>
          </p:cNvPr>
          <p:cNvSpPr/>
          <p:nvPr/>
        </p:nvSpPr>
        <p:spPr>
          <a:xfrm>
            <a:off x="6373091" y="2805394"/>
            <a:ext cx="2399775" cy="651321"/>
          </a:xfrm>
          <a:prstGeom prst="rect">
            <a:avLst/>
          </a:prstGeom>
          <a:solidFill>
            <a:schemeClr val="bg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Consistent Revenue</a:t>
            </a:r>
          </a:p>
        </p:txBody>
      </p:sp>
      <p:sp>
        <p:nvSpPr>
          <p:cNvPr id="6" name="Rectangle 5">
            <a:extLst>
              <a:ext uri="{FF2B5EF4-FFF2-40B4-BE49-F238E27FC236}">
                <a16:creationId xmlns:a16="http://schemas.microsoft.com/office/drawing/2014/main" id="{FAE1991B-45E9-F11B-75AB-2D3C54962FD5}"/>
              </a:ext>
            </a:extLst>
          </p:cNvPr>
          <p:cNvSpPr/>
          <p:nvPr/>
        </p:nvSpPr>
        <p:spPr>
          <a:xfrm>
            <a:off x="6373091" y="3532709"/>
            <a:ext cx="2399776" cy="541843"/>
          </a:xfrm>
          <a:prstGeom prst="rect">
            <a:avLst/>
          </a:prstGeom>
          <a:solidFill>
            <a:schemeClr val="bg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Digital First Market</a:t>
            </a:r>
          </a:p>
        </p:txBody>
      </p:sp>
      <p:sp>
        <p:nvSpPr>
          <p:cNvPr id="7" name="Rectangle 6">
            <a:extLst>
              <a:ext uri="{FF2B5EF4-FFF2-40B4-BE49-F238E27FC236}">
                <a16:creationId xmlns:a16="http://schemas.microsoft.com/office/drawing/2014/main" id="{72EDD721-1B58-7099-26FD-28360DB0DEE5}"/>
              </a:ext>
            </a:extLst>
          </p:cNvPr>
          <p:cNvSpPr/>
          <p:nvPr/>
        </p:nvSpPr>
        <p:spPr>
          <a:xfrm>
            <a:off x="6373090" y="4150546"/>
            <a:ext cx="2399776" cy="541843"/>
          </a:xfrm>
          <a:prstGeom prst="rect">
            <a:avLst/>
          </a:prstGeom>
          <a:solidFill>
            <a:schemeClr val="bg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Social media growth</a:t>
            </a:r>
          </a:p>
        </p:txBody>
      </p:sp>
      <p:sp>
        <p:nvSpPr>
          <p:cNvPr id="8" name="Rectangle 7">
            <a:extLst>
              <a:ext uri="{FF2B5EF4-FFF2-40B4-BE49-F238E27FC236}">
                <a16:creationId xmlns:a16="http://schemas.microsoft.com/office/drawing/2014/main" id="{6D1D12BD-E4FB-EE91-73E8-DAAADB19C96B}"/>
              </a:ext>
            </a:extLst>
          </p:cNvPr>
          <p:cNvSpPr/>
          <p:nvPr/>
        </p:nvSpPr>
        <p:spPr>
          <a:xfrm>
            <a:off x="6373090" y="4779757"/>
            <a:ext cx="2399776" cy="563936"/>
          </a:xfrm>
          <a:prstGeom prst="rect">
            <a:avLst/>
          </a:prstGeom>
          <a:solidFill>
            <a:schemeClr val="bg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Repeat Customers</a:t>
            </a:r>
          </a:p>
        </p:txBody>
      </p:sp>
      <p:sp>
        <p:nvSpPr>
          <p:cNvPr id="9" name="Rectangle 8">
            <a:extLst>
              <a:ext uri="{FF2B5EF4-FFF2-40B4-BE49-F238E27FC236}">
                <a16:creationId xmlns:a16="http://schemas.microsoft.com/office/drawing/2014/main" id="{2FE175D7-5722-2ED9-3E97-DE647908D081}"/>
              </a:ext>
            </a:extLst>
          </p:cNvPr>
          <p:cNvSpPr/>
          <p:nvPr/>
        </p:nvSpPr>
        <p:spPr>
          <a:xfrm>
            <a:off x="9086834" y="2805394"/>
            <a:ext cx="2218476" cy="651321"/>
          </a:xfrm>
          <a:prstGeom prst="rect">
            <a:avLst/>
          </a:prstGeom>
          <a:solidFill>
            <a:srgbClr val="DB255D">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400" dirty="0">
                <a:solidFill>
                  <a:schemeClr val="tx1"/>
                </a:solidFill>
              </a:rPr>
              <a:t>Year-round booking e steady occupancy</a:t>
            </a:r>
          </a:p>
        </p:txBody>
      </p:sp>
      <p:sp>
        <p:nvSpPr>
          <p:cNvPr id="14" name="Rectangle 13">
            <a:extLst>
              <a:ext uri="{FF2B5EF4-FFF2-40B4-BE49-F238E27FC236}">
                <a16:creationId xmlns:a16="http://schemas.microsoft.com/office/drawing/2014/main" id="{F53F489E-51DF-3E15-64C2-7E0754C18700}"/>
              </a:ext>
            </a:extLst>
          </p:cNvPr>
          <p:cNvSpPr/>
          <p:nvPr/>
        </p:nvSpPr>
        <p:spPr>
          <a:xfrm>
            <a:off x="9086834" y="4150547"/>
            <a:ext cx="2218476" cy="541842"/>
          </a:xfrm>
          <a:prstGeom prst="rect">
            <a:avLst/>
          </a:prstGeom>
          <a:solidFill>
            <a:srgbClr val="DB255D">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400" dirty="0">
                <a:solidFill>
                  <a:schemeClr val="tx1"/>
                </a:solidFill>
              </a:rPr>
              <a:t>Backpackers promotes via social media</a:t>
            </a:r>
          </a:p>
        </p:txBody>
      </p:sp>
      <p:sp>
        <p:nvSpPr>
          <p:cNvPr id="21" name="Rectangle 20">
            <a:extLst>
              <a:ext uri="{FF2B5EF4-FFF2-40B4-BE49-F238E27FC236}">
                <a16:creationId xmlns:a16="http://schemas.microsoft.com/office/drawing/2014/main" id="{9B7059EF-061D-BAA9-E2AE-DF82A88905F4}"/>
              </a:ext>
            </a:extLst>
          </p:cNvPr>
          <p:cNvSpPr/>
          <p:nvPr/>
        </p:nvSpPr>
        <p:spPr>
          <a:xfrm>
            <a:off x="9086833" y="4768384"/>
            <a:ext cx="2218476" cy="563936"/>
          </a:xfrm>
          <a:prstGeom prst="rect">
            <a:avLst/>
          </a:prstGeom>
          <a:solidFill>
            <a:srgbClr val="DB255D">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400" dirty="0">
                <a:solidFill>
                  <a:schemeClr val="tx1"/>
                </a:solidFill>
              </a:rPr>
              <a:t>Strong Community loyalty and referrals</a:t>
            </a:r>
          </a:p>
        </p:txBody>
      </p:sp>
      <p:sp>
        <p:nvSpPr>
          <p:cNvPr id="4" name="Rectangle 3">
            <a:extLst>
              <a:ext uri="{FF2B5EF4-FFF2-40B4-BE49-F238E27FC236}">
                <a16:creationId xmlns:a16="http://schemas.microsoft.com/office/drawing/2014/main" id="{E2FED7DF-197A-DB5F-50E6-FB29E5E13E10}"/>
              </a:ext>
            </a:extLst>
          </p:cNvPr>
          <p:cNvSpPr/>
          <p:nvPr/>
        </p:nvSpPr>
        <p:spPr>
          <a:xfrm>
            <a:off x="9086834" y="3510616"/>
            <a:ext cx="2218476" cy="563936"/>
          </a:xfrm>
          <a:prstGeom prst="rect">
            <a:avLst/>
          </a:prstGeom>
          <a:solidFill>
            <a:srgbClr val="DB255D">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400" dirty="0">
                <a:solidFill>
                  <a:schemeClr val="tx1"/>
                </a:solidFill>
              </a:rPr>
              <a:t>Strong Community loyalty and referrals</a:t>
            </a:r>
          </a:p>
        </p:txBody>
      </p:sp>
      <p:sp>
        <p:nvSpPr>
          <p:cNvPr id="10" name="Rectangle 9">
            <a:extLst>
              <a:ext uri="{FF2B5EF4-FFF2-40B4-BE49-F238E27FC236}">
                <a16:creationId xmlns:a16="http://schemas.microsoft.com/office/drawing/2014/main" id="{21EFD4C8-F445-AEBA-B3F7-56C5428091FC}"/>
              </a:ext>
            </a:extLst>
          </p:cNvPr>
          <p:cNvSpPr/>
          <p:nvPr/>
        </p:nvSpPr>
        <p:spPr>
          <a:xfrm>
            <a:off x="6373090" y="5431061"/>
            <a:ext cx="4932219" cy="840509"/>
          </a:xfrm>
          <a:prstGeom prst="rect">
            <a:avLst/>
          </a:prstGeom>
          <a:solidFill>
            <a:schemeClr val="bg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0" i="0" dirty="0">
                <a:solidFill>
                  <a:schemeClr val="tx1"/>
                </a:solidFill>
                <a:effectLst/>
                <a:latin typeface="Bahnschrift Condensed" panose="020B0502040204020203" pitchFamily="34" charset="0"/>
              </a:rPr>
              <a:t>“The global backpack market size is forecasted to grow from around USD 18.8 billion in 2025 to approximately USD 30-37 billion by the early 2030”</a:t>
            </a:r>
            <a:endParaRPr lang="en-NZ" dirty="0">
              <a:solidFill>
                <a:schemeClr val="tx1"/>
              </a:solidFill>
              <a:latin typeface="Bahnschrift Condensed" panose="020B0502040204020203" pitchFamily="34" charset="0"/>
            </a:endParaRPr>
          </a:p>
        </p:txBody>
      </p:sp>
      <p:sp>
        <p:nvSpPr>
          <p:cNvPr id="11" name="Arrow: Right 10">
            <a:extLst>
              <a:ext uri="{FF2B5EF4-FFF2-40B4-BE49-F238E27FC236}">
                <a16:creationId xmlns:a16="http://schemas.microsoft.com/office/drawing/2014/main" id="{9C12E42D-4E1C-EB93-9F06-8FA1684951CB}"/>
              </a:ext>
            </a:extLst>
          </p:cNvPr>
          <p:cNvSpPr/>
          <p:nvPr/>
        </p:nvSpPr>
        <p:spPr>
          <a:xfrm rot="5400000">
            <a:off x="8732116" y="1393129"/>
            <a:ext cx="208649" cy="2526926"/>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2" name="Rectangle 11">
            <a:extLst>
              <a:ext uri="{FF2B5EF4-FFF2-40B4-BE49-F238E27FC236}">
                <a16:creationId xmlns:a16="http://schemas.microsoft.com/office/drawing/2014/main" id="{0F4C91F6-60D7-2E5E-D3CD-B3C3110C8673}"/>
              </a:ext>
            </a:extLst>
          </p:cNvPr>
          <p:cNvSpPr/>
          <p:nvPr/>
        </p:nvSpPr>
        <p:spPr>
          <a:xfrm>
            <a:off x="706578" y="429770"/>
            <a:ext cx="5112332" cy="617775"/>
          </a:xfrm>
          <a:prstGeom prst="rect">
            <a:avLst/>
          </a:prstGeom>
          <a:solidFill>
            <a:srgbClr val="DB255D">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solidFill>
                <a:schemeClr val="tx1"/>
              </a:solidFill>
            </a:endParaRPr>
          </a:p>
        </p:txBody>
      </p:sp>
      <p:sp>
        <p:nvSpPr>
          <p:cNvPr id="17" name="Rectangle 16">
            <a:extLst>
              <a:ext uri="{FF2B5EF4-FFF2-40B4-BE49-F238E27FC236}">
                <a16:creationId xmlns:a16="http://schemas.microsoft.com/office/drawing/2014/main" id="{7E1CFC1D-AEC7-B73B-3120-4BCA9B0384D4}"/>
              </a:ext>
            </a:extLst>
          </p:cNvPr>
          <p:cNvSpPr/>
          <p:nvPr/>
        </p:nvSpPr>
        <p:spPr>
          <a:xfrm>
            <a:off x="1022242" y="494271"/>
            <a:ext cx="4300894" cy="461665"/>
          </a:xfrm>
          <a:prstGeom prst="rect">
            <a:avLst/>
          </a:prstGeom>
          <a:noFill/>
        </p:spPr>
        <p:txBody>
          <a:bodyPr wrap="square" lIns="91440" tIns="45720" rIns="91440" bIns="45720">
            <a:spAutoFit/>
          </a:bodyPr>
          <a:lstStyle/>
          <a:p>
            <a:pPr algn="ctr"/>
            <a:r>
              <a:rPr lang="en-US" sz="2400" b="1" dirty="0">
                <a:ln w="0"/>
                <a:effectLst>
                  <a:outerShdw blurRad="38100" dist="19050" dir="2700000" algn="tl" rotWithShape="0">
                    <a:schemeClr val="dk1">
                      <a:alpha val="40000"/>
                    </a:schemeClr>
                  </a:outerShdw>
                </a:effectLst>
                <a:latin typeface="Bahnschrift" panose="020B0502040204020203" pitchFamily="34" charset="0"/>
              </a:rPr>
              <a:t>Business Impact</a:t>
            </a:r>
            <a:endParaRPr lang="en-US" sz="2400" b="1" cap="none" spc="0" dirty="0">
              <a:ln w="0"/>
              <a:solidFill>
                <a:schemeClr val="tx1"/>
              </a:solidFill>
              <a:effectLst>
                <a:outerShdw blurRad="38100" dist="19050" dir="2700000" algn="tl" rotWithShape="0">
                  <a:schemeClr val="dk1">
                    <a:alpha val="40000"/>
                  </a:schemeClr>
                </a:outerShdw>
              </a:effectLst>
              <a:latin typeface="Bahnschrift" panose="020B0502040204020203" pitchFamily="34" charset="0"/>
            </a:endParaRPr>
          </a:p>
        </p:txBody>
      </p:sp>
      <p:sp>
        <p:nvSpPr>
          <p:cNvPr id="18" name="Rectangle 17">
            <a:extLst>
              <a:ext uri="{FF2B5EF4-FFF2-40B4-BE49-F238E27FC236}">
                <a16:creationId xmlns:a16="http://schemas.microsoft.com/office/drawing/2014/main" id="{03FBC414-7C2C-42BC-CBAE-49AE9BC37547}"/>
              </a:ext>
            </a:extLst>
          </p:cNvPr>
          <p:cNvSpPr/>
          <p:nvPr/>
        </p:nvSpPr>
        <p:spPr>
          <a:xfrm>
            <a:off x="706580" y="1047545"/>
            <a:ext cx="5112332" cy="2305255"/>
          </a:xfrm>
          <a:prstGeom prst="rect">
            <a:avLst/>
          </a:prstGeom>
          <a:solidFill>
            <a:schemeClr val="bg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solidFill>
                <a:schemeClr val="tx1"/>
              </a:solidFill>
            </a:endParaRPr>
          </a:p>
        </p:txBody>
      </p:sp>
      <p:sp>
        <p:nvSpPr>
          <p:cNvPr id="20" name="TextBox 19">
            <a:extLst>
              <a:ext uri="{FF2B5EF4-FFF2-40B4-BE49-F238E27FC236}">
                <a16:creationId xmlns:a16="http://schemas.microsoft.com/office/drawing/2014/main" id="{FA0F41C2-4D39-C9DF-F183-13141BD5DAEC}"/>
              </a:ext>
            </a:extLst>
          </p:cNvPr>
          <p:cNvSpPr txBox="1"/>
          <p:nvPr/>
        </p:nvSpPr>
        <p:spPr>
          <a:xfrm>
            <a:off x="775852" y="1211394"/>
            <a:ext cx="4862947" cy="2031325"/>
          </a:xfrm>
          <a:prstGeom prst="rect">
            <a:avLst/>
          </a:prstGeom>
          <a:noFill/>
        </p:spPr>
        <p:txBody>
          <a:bodyPr wrap="square">
            <a:spAutoFit/>
          </a:bodyPr>
          <a:lstStyle/>
          <a:p>
            <a:pPr marL="285750" indent="-285750">
              <a:buFont typeface="Arial" panose="020B0604020202020204" pitchFamily="34" charset="0"/>
              <a:buChar char="•"/>
            </a:pPr>
            <a:r>
              <a:rPr lang="en-NZ" dirty="0">
                <a:latin typeface="Bahnschrift Condensed" panose="020B0502040204020203" pitchFamily="34" charset="0"/>
              </a:rPr>
              <a:t>D</a:t>
            </a:r>
            <a:r>
              <a:rPr lang="en-NZ" dirty="0">
                <a:solidFill>
                  <a:schemeClr val="tx1"/>
                </a:solidFill>
                <a:latin typeface="Bahnschrift Condensed" panose="020B0502040204020203" pitchFamily="34" charset="0"/>
              </a:rPr>
              <a:t>ata-driven decision-making</a:t>
            </a:r>
          </a:p>
          <a:p>
            <a:pPr marL="285750" indent="-285750">
              <a:buFont typeface="Arial" panose="020B0604020202020204" pitchFamily="34" charset="0"/>
              <a:buChar char="•"/>
            </a:pPr>
            <a:r>
              <a:rPr lang="en-US" dirty="0">
                <a:solidFill>
                  <a:schemeClr val="tx1"/>
                </a:solidFill>
                <a:latin typeface="Bahnschrift Condensed" panose="020B0502040204020203" pitchFamily="34" charset="0"/>
              </a:rPr>
              <a:t>Identify high-potential neighborhoods and market gaps</a:t>
            </a:r>
          </a:p>
          <a:p>
            <a:pPr marL="285750" indent="-285750">
              <a:buFont typeface="Arial" panose="020B0604020202020204" pitchFamily="34" charset="0"/>
              <a:buChar char="•"/>
            </a:pPr>
            <a:r>
              <a:rPr lang="en-US" dirty="0">
                <a:latin typeface="Bahnschrift Condensed" panose="020B0502040204020203" pitchFamily="34" charset="0"/>
              </a:rPr>
              <a:t>H</a:t>
            </a:r>
            <a:r>
              <a:rPr lang="en-US" dirty="0">
                <a:solidFill>
                  <a:schemeClr val="tx1"/>
                </a:solidFill>
                <a:latin typeface="Bahnschrift Condensed" panose="020B0502040204020203" pitchFamily="34" charset="0"/>
              </a:rPr>
              <a:t>osts can optimize their pricing strategies</a:t>
            </a:r>
          </a:p>
          <a:p>
            <a:pPr marL="285750" indent="-285750">
              <a:buFont typeface="Arial" panose="020B0604020202020204" pitchFamily="34" charset="0"/>
              <a:buChar char="•"/>
            </a:pPr>
            <a:r>
              <a:rPr lang="en-US" dirty="0">
                <a:latin typeface="Bahnschrift Condensed" panose="020B0502040204020203" pitchFamily="34" charset="0"/>
              </a:rPr>
              <a:t>R</a:t>
            </a:r>
            <a:r>
              <a:rPr lang="en-US" dirty="0">
                <a:solidFill>
                  <a:schemeClr val="tx1"/>
                </a:solidFill>
                <a:latin typeface="Bahnschrift Condensed" panose="020B0502040204020203" pitchFamily="34" charset="0"/>
              </a:rPr>
              <a:t>educe competitive risk through strategic positioning and differentiation</a:t>
            </a:r>
          </a:p>
          <a:p>
            <a:pPr marL="285750" indent="-285750">
              <a:buFont typeface="Arial" panose="020B0604020202020204" pitchFamily="34" charset="0"/>
              <a:buChar char="•"/>
            </a:pPr>
            <a:r>
              <a:rPr lang="en-US" dirty="0">
                <a:latin typeface="Bahnschrift Condensed" panose="020B0502040204020203" pitchFamily="34" charset="0"/>
              </a:rPr>
              <a:t>S</a:t>
            </a:r>
            <a:r>
              <a:rPr lang="en-US" dirty="0">
                <a:solidFill>
                  <a:schemeClr val="tx1"/>
                </a:solidFill>
                <a:latin typeface="Bahnschrift Condensed" panose="020B0502040204020203" pitchFamily="34" charset="0"/>
              </a:rPr>
              <a:t>upports Airbnb's overall platform growth and host satisfaction</a:t>
            </a:r>
            <a:endParaRPr lang="en-NZ" dirty="0">
              <a:solidFill>
                <a:schemeClr val="tx1"/>
              </a:solidFill>
              <a:latin typeface="Bahnschrift Condensed" panose="020B0502040204020203" pitchFamily="34" charset="0"/>
            </a:endParaRPr>
          </a:p>
        </p:txBody>
      </p:sp>
      <p:sp>
        <p:nvSpPr>
          <p:cNvPr id="22" name="Rectangle 21">
            <a:extLst>
              <a:ext uri="{FF2B5EF4-FFF2-40B4-BE49-F238E27FC236}">
                <a16:creationId xmlns:a16="http://schemas.microsoft.com/office/drawing/2014/main" id="{DC3BE871-6488-C42D-02DF-7EDACA73D938}"/>
              </a:ext>
            </a:extLst>
          </p:cNvPr>
          <p:cNvSpPr/>
          <p:nvPr/>
        </p:nvSpPr>
        <p:spPr>
          <a:xfrm>
            <a:off x="706580" y="3661687"/>
            <a:ext cx="5112331" cy="617775"/>
          </a:xfrm>
          <a:prstGeom prst="rect">
            <a:avLst/>
          </a:prstGeom>
          <a:solidFill>
            <a:srgbClr val="DB255D">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solidFill>
                <a:schemeClr val="tx1"/>
              </a:solidFill>
              <a:latin typeface="Bahnschrift" panose="020B0502040204020203" pitchFamily="34" charset="0"/>
            </a:endParaRPr>
          </a:p>
        </p:txBody>
      </p:sp>
      <p:sp>
        <p:nvSpPr>
          <p:cNvPr id="23" name="Rectangle 22">
            <a:extLst>
              <a:ext uri="{FF2B5EF4-FFF2-40B4-BE49-F238E27FC236}">
                <a16:creationId xmlns:a16="http://schemas.microsoft.com/office/drawing/2014/main" id="{7E8CFE1F-D2BD-0ADF-9F61-6CBC50721739}"/>
              </a:ext>
            </a:extLst>
          </p:cNvPr>
          <p:cNvSpPr/>
          <p:nvPr/>
        </p:nvSpPr>
        <p:spPr>
          <a:xfrm>
            <a:off x="1246908" y="3739741"/>
            <a:ext cx="4110863" cy="461665"/>
          </a:xfrm>
          <a:prstGeom prst="rect">
            <a:avLst/>
          </a:prstGeom>
          <a:noFill/>
        </p:spPr>
        <p:txBody>
          <a:bodyPr wrap="square" lIns="91440" tIns="45720" rIns="91440" bIns="45720">
            <a:spAutoFit/>
          </a:bodyPr>
          <a:lstStyle/>
          <a:p>
            <a:pPr algn="ctr"/>
            <a:r>
              <a:rPr lang="en-US" sz="2400" b="1" cap="none" spc="0" dirty="0">
                <a:ln w="0"/>
                <a:solidFill>
                  <a:schemeClr val="bg1"/>
                </a:solidFill>
                <a:effectLst>
                  <a:outerShdw blurRad="38100" dist="19050" dir="2700000" algn="tl" rotWithShape="0">
                    <a:schemeClr val="dk1">
                      <a:alpha val="40000"/>
                    </a:schemeClr>
                  </a:outerShdw>
                </a:effectLst>
              </a:rPr>
              <a:t>Why Bangkok is important?</a:t>
            </a:r>
          </a:p>
        </p:txBody>
      </p:sp>
      <p:sp>
        <p:nvSpPr>
          <p:cNvPr id="24" name="Rectangle 23">
            <a:extLst>
              <a:ext uri="{FF2B5EF4-FFF2-40B4-BE49-F238E27FC236}">
                <a16:creationId xmlns:a16="http://schemas.microsoft.com/office/drawing/2014/main" id="{74F4C0DF-7B7D-65C6-17E3-9618CA2CEE00}"/>
              </a:ext>
            </a:extLst>
          </p:cNvPr>
          <p:cNvSpPr/>
          <p:nvPr/>
        </p:nvSpPr>
        <p:spPr>
          <a:xfrm>
            <a:off x="706580" y="4279461"/>
            <a:ext cx="5112332" cy="1964322"/>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NZ" dirty="0">
                <a:solidFill>
                  <a:schemeClr val="tx1"/>
                </a:solidFill>
              </a:rPr>
              <a:t>Bangkok was the </a:t>
            </a:r>
            <a:r>
              <a:rPr lang="en-NZ" i="1" u="sng" dirty="0">
                <a:solidFill>
                  <a:schemeClr val="tx1"/>
                </a:solidFill>
              </a:rPr>
              <a:t>world's most visited city </a:t>
            </a:r>
            <a:r>
              <a:rPr lang="en-NZ" dirty="0">
                <a:solidFill>
                  <a:schemeClr val="tx1"/>
                </a:solidFill>
              </a:rPr>
              <a:t>with </a:t>
            </a:r>
            <a:r>
              <a:rPr lang="en-NZ" b="1" dirty="0">
                <a:solidFill>
                  <a:schemeClr val="tx1"/>
                </a:solidFill>
              </a:rPr>
              <a:t>32.4 million </a:t>
            </a:r>
            <a:r>
              <a:rPr lang="en-NZ" dirty="0">
                <a:solidFill>
                  <a:schemeClr val="tx1"/>
                </a:solidFill>
              </a:rPr>
              <a:t>international tourists, contributing around </a:t>
            </a:r>
            <a:r>
              <a:rPr lang="en-NZ" b="1" dirty="0">
                <a:solidFill>
                  <a:schemeClr val="tx1"/>
                </a:solidFill>
              </a:rPr>
              <a:t>$35 billion USD</a:t>
            </a:r>
            <a:r>
              <a:rPr lang="en-NZ" dirty="0">
                <a:solidFill>
                  <a:schemeClr val="tx1"/>
                </a:solidFill>
              </a:rPr>
              <a:t> in tourist spending, which represents roughly </a:t>
            </a:r>
            <a:r>
              <a:rPr lang="en-NZ" b="1" dirty="0">
                <a:solidFill>
                  <a:schemeClr val="tx1"/>
                </a:solidFill>
              </a:rPr>
              <a:t>18% of Thailand's GDP</a:t>
            </a:r>
            <a:r>
              <a:rPr lang="en-NZ" dirty="0">
                <a:solidFill>
                  <a:schemeClr val="tx1"/>
                </a:solidFill>
              </a:rPr>
              <a:t>,</a:t>
            </a:r>
            <a:r>
              <a:rPr lang="en-NZ" b="1" dirty="0">
                <a:solidFill>
                  <a:schemeClr val="tx1"/>
                </a:solidFill>
              </a:rPr>
              <a:t> </a:t>
            </a:r>
            <a:r>
              <a:rPr lang="en-NZ" dirty="0">
                <a:solidFill>
                  <a:schemeClr val="tx1"/>
                </a:solidFill>
              </a:rPr>
              <a:t>highlighting tourism's critical economic role.</a:t>
            </a:r>
          </a:p>
        </p:txBody>
      </p:sp>
      <p:sp>
        <p:nvSpPr>
          <p:cNvPr id="27" name="Rectangle 26">
            <a:extLst>
              <a:ext uri="{FF2B5EF4-FFF2-40B4-BE49-F238E27FC236}">
                <a16:creationId xmlns:a16="http://schemas.microsoft.com/office/drawing/2014/main" id="{EA7C0706-523F-E2EE-D402-60EABA80820D}"/>
              </a:ext>
            </a:extLst>
          </p:cNvPr>
          <p:cNvSpPr/>
          <p:nvPr/>
        </p:nvSpPr>
        <p:spPr>
          <a:xfrm>
            <a:off x="6373683" y="1107833"/>
            <a:ext cx="4931626" cy="1399957"/>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Bahnschrift" panose="020B0502040204020203" pitchFamily="34" charset="0"/>
              </a:rPr>
              <a:t>Characteristic:</a:t>
            </a:r>
          </a:p>
          <a:p>
            <a:pPr marL="285750" indent="-285750">
              <a:buFont typeface="Arial" panose="020B0604020202020204" pitchFamily="34" charset="0"/>
              <a:buChar char="•"/>
            </a:pPr>
            <a:r>
              <a:rPr lang="en-US" sz="1200" dirty="0">
                <a:solidFill>
                  <a:schemeClr val="tx1"/>
                </a:solidFill>
                <a:latin typeface="Bahnschrift" panose="020B0502040204020203" pitchFamily="34" charset="0"/>
              </a:rPr>
              <a:t>Strong emphasis on community, adventure, and cultural experiences.</a:t>
            </a:r>
          </a:p>
          <a:p>
            <a:pPr marL="285750" indent="-285750">
              <a:buFont typeface="Arial" panose="020B0604020202020204" pitchFamily="34" charset="0"/>
              <a:buChar char="•"/>
            </a:pPr>
            <a:r>
              <a:rPr lang="en-US" sz="1200" dirty="0">
                <a:solidFill>
                  <a:schemeClr val="tx1"/>
                </a:solidFill>
                <a:latin typeface="Bahnschrift" panose="020B0502040204020203" pitchFamily="34" charset="0"/>
              </a:rPr>
              <a:t>Demographically Gen Z ranged from 20 – 25 years old</a:t>
            </a:r>
          </a:p>
          <a:p>
            <a:pPr marL="285750" indent="-285750">
              <a:buFont typeface="Arial" panose="020B0604020202020204" pitchFamily="34" charset="0"/>
              <a:buChar char="•"/>
            </a:pPr>
            <a:r>
              <a:rPr lang="en-US" sz="1200" dirty="0">
                <a:solidFill>
                  <a:schemeClr val="tx1"/>
                </a:solidFill>
                <a:latin typeface="Bahnschrift" panose="020B0502040204020203" pitchFamily="34" charset="0"/>
              </a:rPr>
              <a:t>Heavy use of Social Media</a:t>
            </a:r>
          </a:p>
          <a:p>
            <a:pPr marL="285750" indent="-285750">
              <a:buFont typeface="Arial" panose="020B0604020202020204" pitchFamily="34" charset="0"/>
              <a:buChar char="•"/>
            </a:pPr>
            <a:r>
              <a:rPr lang="en-US" sz="1200" dirty="0">
                <a:solidFill>
                  <a:schemeClr val="tx1"/>
                </a:solidFill>
                <a:latin typeface="Bahnschrift" panose="020B0502040204020203" pitchFamily="34" charset="0"/>
              </a:rPr>
              <a:t>Increasing globalization, attracting north American and European individuals.</a:t>
            </a:r>
          </a:p>
        </p:txBody>
      </p:sp>
      <p:cxnSp>
        <p:nvCxnSpPr>
          <p:cNvPr id="31" name="Straight Arrow Connector 30">
            <a:extLst>
              <a:ext uri="{FF2B5EF4-FFF2-40B4-BE49-F238E27FC236}">
                <a16:creationId xmlns:a16="http://schemas.microsoft.com/office/drawing/2014/main" id="{88CB0B58-007C-69E1-38FD-1B105D20B90A}"/>
              </a:ext>
            </a:extLst>
          </p:cNvPr>
          <p:cNvCxnSpPr>
            <a:stCxn id="5" idx="3"/>
            <a:endCxn id="9" idx="1"/>
          </p:cNvCxnSpPr>
          <p:nvPr/>
        </p:nvCxnSpPr>
        <p:spPr>
          <a:xfrm>
            <a:off x="8772866" y="3131055"/>
            <a:ext cx="313968" cy="0"/>
          </a:xfrm>
          <a:prstGeom prst="straightConnector1">
            <a:avLst/>
          </a:prstGeom>
          <a:ln w="57150">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7A993837-912F-2F92-A855-3BE69F26A54C}"/>
              </a:ext>
            </a:extLst>
          </p:cNvPr>
          <p:cNvCxnSpPr/>
          <p:nvPr/>
        </p:nvCxnSpPr>
        <p:spPr>
          <a:xfrm>
            <a:off x="8772866" y="3803630"/>
            <a:ext cx="313968" cy="0"/>
          </a:xfrm>
          <a:prstGeom prst="straightConnector1">
            <a:avLst/>
          </a:prstGeom>
          <a:ln w="57150">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8CAC657A-C233-326C-867F-C44A418D4887}"/>
              </a:ext>
            </a:extLst>
          </p:cNvPr>
          <p:cNvCxnSpPr/>
          <p:nvPr/>
        </p:nvCxnSpPr>
        <p:spPr>
          <a:xfrm>
            <a:off x="8772866" y="4439261"/>
            <a:ext cx="313968" cy="0"/>
          </a:xfrm>
          <a:prstGeom prst="straightConnector1">
            <a:avLst/>
          </a:prstGeom>
          <a:ln w="57150">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D91EE675-DD76-A18A-18EB-2BE4F5E0C807}"/>
              </a:ext>
            </a:extLst>
          </p:cNvPr>
          <p:cNvCxnSpPr/>
          <p:nvPr/>
        </p:nvCxnSpPr>
        <p:spPr>
          <a:xfrm>
            <a:off x="8772866" y="5084128"/>
            <a:ext cx="313968" cy="0"/>
          </a:xfrm>
          <a:prstGeom prst="straightConnector1">
            <a:avLst/>
          </a:prstGeom>
          <a:ln w="57150">
            <a:solidFill>
              <a:schemeClr val="bg1"/>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21267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72BCA6C-F04A-D0B4-140E-70FE23A0FB35}"/>
              </a:ext>
            </a:extLst>
          </p:cNvPr>
          <p:cNvSpPr/>
          <p:nvPr/>
        </p:nvSpPr>
        <p:spPr>
          <a:xfrm>
            <a:off x="1986684" y="2343150"/>
            <a:ext cx="8218632" cy="1434141"/>
          </a:xfrm>
          <a:prstGeom prst="rect">
            <a:avLst/>
          </a:prstGeom>
          <a:solidFill>
            <a:srgbClr val="DB255D">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effectLst>
                <a:reflection stA="38000" endPos="65000" dist="50800" dir="5400000" sy="-100000" algn="bl" rotWithShape="0"/>
              </a:effectLst>
            </a:endParaRPr>
          </a:p>
        </p:txBody>
      </p:sp>
      <p:sp>
        <p:nvSpPr>
          <p:cNvPr id="2" name="Title 1">
            <a:extLst>
              <a:ext uri="{FF2B5EF4-FFF2-40B4-BE49-F238E27FC236}">
                <a16:creationId xmlns:a16="http://schemas.microsoft.com/office/drawing/2014/main" id="{33DF00AC-0D80-4511-A3B9-F4DCD88BF724}"/>
              </a:ext>
            </a:extLst>
          </p:cNvPr>
          <p:cNvSpPr>
            <a:spLocks noGrp="1"/>
          </p:cNvSpPr>
          <p:nvPr>
            <p:ph type="ctrTitle"/>
          </p:nvPr>
        </p:nvSpPr>
        <p:spPr>
          <a:xfrm>
            <a:off x="389626" y="1475117"/>
            <a:ext cx="11412748" cy="1953883"/>
          </a:xfrm>
        </p:spPr>
        <p:txBody>
          <a:bodyPr>
            <a:noAutofit/>
          </a:bodyPr>
          <a:lstStyle/>
          <a:p>
            <a:r>
              <a:rPr lang="en-NZ" sz="4400" b="1" dirty="0">
                <a:solidFill>
                  <a:schemeClr val="bg1"/>
                </a:solidFill>
                <a:effectLst>
                  <a:outerShdw blurRad="50800" dist="38100" dir="2700000" algn="tl" rotWithShape="0">
                    <a:prstClr val="black">
                      <a:alpha val="40000"/>
                    </a:prstClr>
                  </a:outerShdw>
                </a:effectLst>
                <a:latin typeface="Bahnschrift" panose="020B0502040204020203" pitchFamily="34" charset="0"/>
              </a:rPr>
              <a:t>Data Cleaning</a:t>
            </a:r>
          </a:p>
        </p:txBody>
      </p:sp>
      <p:pic>
        <p:nvPicPr>
          <p:cNvPr id="1026" name="Picture 2" descr="Airbnb Logo History">
            <a:extLst>
              <a:ext uri="{FF2B5EF4-FFF2-40B4-BE49-F238E27FC236}">
                <a16:creationId xmlns:a16="http://schemas.microsoft.com/office/drawing/2014/main" id="{5108C76A-7F9D-6C3F-E7B6-A22608EA2CA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054" b="95969" l="9932" r="89932">
                        <a14:foregroundMark x1="52232" y1="9622" x2="53787" y2="9469"/>
                        <a14:foregroundMark x1="43356" y1="10493" x2="44704" y2="10360"/>
                        <a14:foregroundMark x1="46893" y1="5246" x2="49615" y2="5246"/>
                        <a14:foregroundMark x1="27664" y1="82790" x2="24036" y2="83237"/>
                        <a14:foregroundMark x1="24898" y1="94562" x2="26984" y2="93922"/>
                        <a14:foregroundMark x1="34331" y1="83749" x2="33696" y2="90403"/>
                        <a14:foregroundMark x1="34558" y1="76903" x2="34558" y2="76903"/>
                        <a14:foregroundMark x1="41789" y1="81375" x2="41587" y2="82470"/>
                        <a14:foregroundMark x1="39184" y1="95521" x2="39941" y2="91411"/>
                        <a14:foregroundMark x1="46893" y1="77223" x2="46531" y2="95969"/>
                        <a14:foregroundMark x1="58957" y1="83877" x2="58095" y2="93346"/>
                        <a14:foregroundMark x1="69433" y1="76711" x2="69297" y2="80486"/>
                        <a14:foregroundMark x1="40544" y1="83429" x2="40952" y2="84005"/>
                        <a14:foregroundMark x1="41859" y1="83301" x2="38957" y2="83749"/>
                        <a14:foregroundMark x1="39758" y1="89083" x2="39138" y2="91875"/>
                        <a14:backgroundMark x1="46395" y1="13180" x2="47392" y2="10940"/>
                        <a14:backgroundMark x1="46304" y1="10365" x2="48209" y2="9789"/>
                        <a14:backgroundMark x1="48617" y1="9469" x2="50522" y2="10237"/>
                        <a14:backgroundMark x1="48027" y1="9917" x2="48707" y2="10621"/>
                        <a14:backgroundMark x1="48798" y1="9789" x2="49932" y2="10237"/>
                        <a14:backgroundMark x1="48798" y1="10237" x2="45986" y2="10813"/>
                        <a14:backgroundMark x1="46803" y1="10365" x2="45306" y2="11388"/>
                        <a14:backgroundMark x1="49342" y1="9469" x2="50839" y2="10109"/>
                        <a14:backgroundMark x1="48798" y1="9789" x2="50023" y2="10237"/>
                        <a14:backgroundMark x1="48299" y1="10045" x2="50340" y2="10365"/>
                        <a14:backgroundMark x1="50431" y1="10045" x2="51066" y2="10365"/>
                        <a14:backgroundMark x1="50249" y1="9341" x2="51474" y2="10621"/>
                        <a14:backgroundMark x1="45306" y1="10365" x2="44807" y2="11068"/>
                        <a14:backgroundMark x1="44490" y1="11196" x2="44807" y2="11196"/>
                        <a14:backgroundMark x1="44717" y1="10813" x2="44717" y2="10813"/>
                        <a14:backgroundMark x1="45079" y1="11388" x2="44490" y2="11068"/>
                        <a14:backgroundMark x1="41678" y1="90275" x2="41179" y2="85988"/>
                        <a14:backgroundMark x1="41542" y1="90595" x2="41361" y2="86308"/>
                        <a14:backgroundMark x1="41088" y1="90595" x2="41270" y2="86180"/>
                        <a14:backgroundMark x1="40952" y1="91299" x2="41047" y2="86921"/>
                        <a14:backgroundMark x1="40544" y1="91427" x2="40590" y2="88978"/>
                        <a14:backgroundMark x1="40862" y1="91555" x2="41292" y2="85817"/>
                        <a14:backgroundMark x1="40454" y1="90979" x2="40796" y2="88050"/>
                        <a14:backgroundMark x1="40136" y1="90595" x2="42494" y2="84581"/>
                        <a14:backgroundMark x1="41270" y1="90979" x2="41995" y2="84709"/>
                        <a14:backgroundMark x1="41769" y1="85733" x2="41475" y2="84995"/>
                        <a14:backgroundMark x1="41361" y1="92386" x2="41361" y2="85733"/>
                        <a14:backgroundMark x1="41043" y1="85733" x2="40635" y2="86564"/>
                        <a14:backgroundMark x1="41451" y1="85477" x2="40272" y2="86436"/>
                        <a14:backgroundMark x1="41179" y1="85413" x2="40680" y2="89315"/>
                        <a14:backgroundMark x1="40544" y1="87716" x2="40544" y2="90275"/>
                        <a14:backgroundMark x1="41270" y1="85988" x2="41179" y2="85413"/>
                      </a14:backgroundRemoval>
                    </a14:imgEffect>
                  </a14:imgLayer>
                </a14:imgProps>
              </a:ext>
              <a:ext uri="{28A0092B-C50C-407E-A947-70E740481C1C}">
                <a14:useLocalDpi xmlns:a14="http://schemas.microsoft.com/office/drawing/2010/main" val="0"/>
              </a:ext>
            </a:extLst>
          </a:blip>
          <a:srcRect/>
          <a:stretch>
            <a:fillRect/>
          </a:stretch>
        </p:blipFill>
        <p:spPr bwMode="auto">
          <a:xfrm>
            <a:off x="0" y="287547"/>
            <a:ext cx="2126843" cy="1507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7972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AF16E0-9DB7-A571-A96C-757B7C3C4B65}"/>
              </a:ext>
            </a:extLst>
          </p:cNvPr>
          <p:cNvSpPr/>
          <p:nvPr/>
        </p:nvSpPr>
        <p:spPr>
          <a:xfrm>
            <a:off x="850747" y="444033"/>
            <a:ext cx="10490506" cy="617775"/>
          </a:xfrm>
          <a:prstGeom prst="rect">
            <a:avLst/>
          </a:prstGeom>
          <a:solidFill>
            <a:srgbClr val="DB255D">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latin typeface="Bahnschrift" panose="020B0502040204020203" pitchFamily="34" charset="0"/>
              </a:rPr>
              <a:t>Data Cleaning</a:t>
            </a:r>
          </a:p>
        </p:txBody>
      </p:sp>
      <p:sp>
        <p:nvSpPr>
          <p:cNvPr id="8" name="Rectangle 7">
            <a:extLst>
              <a:ext uri="{FF2B5EF4-FFF2-40B4-BE49-F238E27FC236}">
                <a16:creationId xmlns:a16="http://schemas.microsoft.com/office/drawing/2014/main" id="{AE0F2050-4FD9-45DE-7276-02166CC0A75A}"/>
              </a:ext>
            </a:extLst>
          </p:cNvPr>
          <p:cNvSpPr/>
          <p:nvPr/>
        </p:nvSpPr>
        <p:spPr>
          <a:xfrm>
            <a:off x="850746" y="1291624"/>
            <a:ext cx="4640108" cy="4078662"/>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NZ" b="1" dirty="0">
                <a:solidFill>
                  <a:schemeClr val="tx1"/>
                </a:solidFill>
                <a:latin typeface="Bahnschrift" panose="020B0502040204020203" pitchFamily="34" charset="0"/>
              </a:rPr>
              <a:t>Data Cleaning Phase 1:</a:t>
            </a:r>
          </a:p>
          <a:p>
            <a:pPr marL="285750" indent="-285750">
              <a:buFont typeface="Arial" panose="020B0604020202020204" pitchFamily="34" charset="0"/>
              <a:buChar char="•"/>
            </a:pPr>
            <a:r>
              <a:rPr lang="en-NZ" dirty="0">
                <a:solidFill>
                  <a:schemeClr val="tx1"/>
                </a:solidFill>
                <a:latin typeface="Bahnschrift" panose="020B0502040204020203" pitchFamily="34" charset="0"/>
              </a:rPr>
              <a:t>Null Value present in </a:t>
            </a:r>
            <a:r>
              <a:rPr lang="en-NZ" i="1" dirty="0" err="1">
                <a:solidFill>
                  <a:schemeClr val="tx1"/>
                </a:solidFill>
                <a:latin typeface="Bahnschrift" panose="020B0502040204020203" pitchFamily="34" charset="0"/>
              </a:rPr>
              <a:t>host_name</a:t>
            </a:r>
            <a:r>
              <a:rPr lang="en-NZ" i="1" dirty="0">
                <a:solidFill>
                  <a:schemeClr val="tx1"/>
                </a:solidFill>
                <a:latin typeface="Bahnschrift" panose="020B0502040204020203" pitchFamily="34" charset="0"/>
              </a:rPr>
              <a:t> </a:t>
            </a:r>
            <a:r>
              <a:rPr lang="en-NZ" dirty="0">
                <a:solidFill>
                  <a:schemeClr val="tx1"/>
                </a:solidFill>
                <a:latin typeface="Bahnschrift" panose="020B0502040204020203" pitchFamily="34" charset="0"/>
              </a:rPr>
              <a:t>and </a:t>
            </a:r>
            <a:r>
              <a:rPr lang="en-NZ" i="1" dirty="0">
                <a:solidFill>
                  <a:schemeClr val="tx1"/>
                </a:solidFill>
                <a:latin typeface="Bahnschrift" panose="020B0502040204020203" pitchFamily="34" charset="0"/>
              </a:rPr>
              <a:t>name (property name)</a:t>
            </a:r>
            <a:r>
              <a:rPr lang="en-NZ" dirty="0">
                <a:solidFill>
                  <a:schemeClr val="tx1"/>
                </a:solidFill>
                <a:latin typeface="Bahnschrift" panose="020B0502040204020203" pitchFamily="34" charset="0"/>
              </a:rPr>
              <a:t> we use .</a:t>
            </a:r>
            <a:r>
              <a:rPr lang="en-NZ" dirty="0" err="1">
                <a:solidFill>
                  <a:schemeClr val="tx1"/>
                </a:solidFill>
                <a:latin typeface="Bahnschrift" panose="020B0502040204020203" pitchFamily="34" charset="0"/>
              </a:rPr>
              <a:t>fillna</a:t>
            </a:r>
            <a:r>
              <a:rPr lang="en-NZ" dirty="0">
                <a:solidFill>
                  <a:schemeClr val="tx1"/>
                </a:solidFill>
                <a:latin typeface="Bahnschrift" panose="020B0502040204020203" pitchFamily="34" charset="0"/>
              </a:rPr>
              <a:t> method to add “unknown” so that data could be used.</a:t>
            </a:r>
          </a:p>
          <a:p>
            <a:pPr marL="285750" indent="-285750">
              <a:buFont typeface="Arial" panose="020B0604020202020204" pitchFamily="34" charset="0"/>
              <a:buChar char="•"/>
            </a:pPr>
            <a:r>
              <a:rPr lang="en-NZ" dirty="0">
                <a:solidFill>
                  <a:schemeClr val="tx1"/>
                </a:solidFill>
                <a:latin typeface="Bahnschrift" panose="020B0502040204020203" pitchFamily="34" charset="0"/>
              </a:rPr>
              <a:t>Deleting the rows </a:t>
            </a:r>
            <a:r>
              <a:rPr lang="en-NZ" b="1" dirty="0">
                <a:solidFill>
                  <a:schemeClr val="tx1"/>
                </a:solidFill>
                <a:latin typeface="Bahnschrift" panose="020B0502040204020203" pitchFamily="34" charset="0"/>
              </a:rPr>
              <a:t>(in last reviews)</a:t>
            </a:r>
            <a:r>
              <a:rPr lang="en-NZ" dirty="0">
                <a:solidFill>
                  <a:schemeClr val="tx1"/>
                </a:solidFill>
                <a:latin typeface="Bahnschrift" panose="020B0502040204020203" pitchFamily="34" charset="0"/>
              </a:rPr>
              <a:t> using .</a:t>
            </a:r>
            <a:r>
              <a:rPr lang="en-NZ" dirty="0" err="1">
                <a:solidFill>
                  <a:schemeClr val="tx1"/>
                </a:solidFill>
                <a:latin typeface="Bahnschrift" panose="020B0502040204020203" pitchFamily="34" charset="0"/>
              </a:rPr>
              <a:t>dropna</a:t>
            </a:r>
            <a:r>
              <a:rPr lang="en-NZ" dirty="0">
                <a:solidFill>
                  <a:schemeClr val="tx1"/>
                </a:solidFill>
                <a:latin typeface="Bahnschrift" panose="020B0502040204020203" pitchFamily="34" charset="0"/>
              </a:rPr>
              <a:t> because it could not be used for analysis.</a:t>
            </a:r>
          </a:p>
          <a:p>
            <a:pPr marL="285750" indent="-285750">
              <a:buFont typeface="Arial" panose="020B0604020202020204" pitchFamily="34" charset="0"/>
              <a:buChar char="•"/>
            </a:pPr>
            <a:r>
              <a:rPr lang="en-NZ" dirty="0">
                <a:solidFill>
                  <a:schemeClr val="tx1"/>
                </a:solidFill>
                <a:latin typeface="Bahnschrift" panose="020B0502040204020203" pitchFamily="34" charset="0"/>
              </a:rPr>
              <a:t>There is duplicated </a:t>
            </a:r>
            <a:r>
              <a:rPr lang="en-NZ" b="1" dirty="0">
                <a:solidFill>
                  <a:schemeClr val="tx1"/>
                </a:solidFill>
                <a:latin typeface="Bahnschrift" panose="020B0502040204020203" pitchFamily="34" charset="0"/>
              </a:rPr>
              <a:t>property name</a:t>
            </a:r>
            <a:r>
              <a:rPr lang="en-NZ" dirty="0">
                <a:solidFill>
                  <a:schemeClr val="tx1"/>
                </a:solidFill>
                <a:latin typeface="Bahnschrift" panose="020B0502040204020203" pitchFamily="34" charset="0"/>
              </a:rPr>
              <a:t> but it might be a SEO decision to make the same name for more than 1 rooms</a:t>
            </a:r>
          </a:p>
          <a:p>
            <a:pPr marL="285750" indent="-285750">
              <a:buFont typeface="Arial" panose="020B0604020202020204" pitchFamily="34" charset="0"/>
              <a:buChar char="•"/>
            </a:pPr>
            <a:r>
              <a:rPr lang="en-NZ" b="1" dirty="0" err="1">
                <a:solidFill>
                  <a:schemeClr val="tx1"/>
                </a:solidFill>
                <a:latin typeface="Bahnschrift" panose="020B0502040204020203" pitchFamily="34" charset="0"/>
              </a:rPr>
              <a:t>Last_review</a:t>
            </a:r>
            <a:r>
              <a:rPr lang="en-NZ" b="1" dirty="0">
                <a:solidFill>
                  <a:schemeClr val="tx1"/>
                </a:solidFill>
                <a:latin typeface="Bahnschrift" panose="020B0502040204020203" pitchFamily="34" charset="0"/>
              </a:rPr>
              <a:t> </a:t>
            </a:r>
            <a:r>
              <a:rPr lang="en-NZ" dirty="0" err="1">
                <a:solidFill>
                  <a:schemeClr val="tx1"/>
                </a:solidFill>
                <a:latin typeface="Bahnschrift" panose="020B0502040204020203" pitchFamily="34" charset="0"/>
              </a:rPr>
              <a:t>dtypes</a:t>
            </a:r>
            <a:r>
              <a:rPr lang="en-NZ" dirty="0">
                <a:solidFill>
                  <a:schemeClr val="tx1"/>
                </a:solidFill>
                <a:latin typeface="Bahnschrift" panose="020B0502040204020203" pitchFamily="34" charset="0"/>
              </a:rPr>
              <a:t> changed to datetime</a:t>
            </a:r>
          </a:p>
          <a:p>
            <a:pPr marL="285750" indent="-285750">
              <a:buFont typeface="Arial" panose="020B0604020202020204" pitchFamily="34" charset="0"/>
              <a:buChar char="•"/>
            </a:pPr>
            <a:r>
              <a:rPr lang="en-NZ" dirty="0">
                <a:solidFill>
                  <a:schemeClr val="tx1"/>
                </a:solidFill>
                <a:latin typeface="Bahnschrift" panose="020B0502040204020203" pitchFamily="34" charset="0"/>
              </a:rPr>
              <a:t>Deleting </a:t>
            </a:r>
            <a:r>
              <a:rPr lang="en-NZ" b="1" dirty="0">
                <a:solidFill>
                  <a:schemeClr val="tx1"/>
                </a:solidFill>
                <a:latin typeface="Bahnschrift" panose="020B0502040204020203" pitchFamily="34" charset="0"/>
              </a:rPr>
              <a:t>Unnamed:0 </a:t>
            </a:r>
            <a:r>
              <a:rPr lang="en-NZ" dirty="0">
                <a:solidFill>
                  <a:schemeClr val="tx1"/>
                </a:solidFill>
                <a:latin typeface="Bahnschrift" panose="020B0502040204020203" pitchFamily="34" charset="0"/>
              </a:rPr>
              <a:t>columns</a:t>
            </a:r>
          </a:p>
        </p:txBody>
      </p:sp>
      <p:sp>
        <p:nvSpPr>
          <p:cNvPr id="11" name="Rectangle 10">
            <a:extLst>
              <a:ext uri="{FF2B5EF4-FFF2-40B4-BE49-F238E27FC236}">
                <a16:creationId xmlns:a16="http://schemas.microsoft.com/office/drawing/2014/main" id="{259211C7-9A9B-F9E1-4177-16015D965DBB}"/>
              </a:ext>
            </a:extLst>
          </p:cNvPr>
          <p:cNvSpPr/>
          <p:nvPr/>
        </p:nvSpPr>
        <p:spPr>
          <a:xfrm>
            <a:off x="6095999" y="1291624"/>
            <a:ext cx="1976741" cy="4078662"/>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NZ" b="1" dirty="0">
                <a:solidFill>
                  <a:schemeClr val="tx1"/>
                </a:solidFill>
                <a:latin typeface="Bahnschrift" panose="020B0502040204020203" pitchFamily="34" charset="0"/>
              </a:rPr>
              <a:t>Data Cleaning Phase 2:</a:t>
            </a:r>
          </a:p>
          <a:p>
            <a:r>
              <a:rPr lang="en-NZ" dirty="0">
                <a:solidFill>
                  <a:schemeClr val="tx1"/>
                </a:solidFill>
                <a:latin typeface="Bahnschrift" panose="020B0502040204020203" pitchFamily="34" charset="0"/>
              </a:rPr>
              <a:t>Capping the price point to 2000THB to measure only budget friendly sectors based on sources online and personal backpacking experience.</a:t>
            </a:r>
          </a:p>
        </p:txBody>
      </p:sp>
      <p:sp>
        <p:nvSpPr>
          <p:cNvPr id="12" name="Rectangle 11">
            <a:extLst>
              <a:ext uri="{FF2B5EF4-FFF2-40B4-BE49-F238E27FC236}">
                <a16:creationId xmlns:a16="http://schemas.microsoft.com/office/drawing/2014/main" id="{12E40D87-9C1B-0715-5124-23BE8EC459AB}"/>
              </a:ext>
            </a:extLst>
          </p:cNvPr>
          <p:cNvSpPr/>
          <p:nvPr/>
        </p:nvSpPr>
        <p:spPr>
          <a:xfrm>
            <a:off x="8781143" y="1291624"/>
            <a:ext cx="2560110" cy="4078662"/>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NZ" b="1" dirty="0">
                <a:solidFill>
                  <a:schemeClr val="tx1"/>
                </a:solidFill>
                <a:latin typeface="Bahnschrift" panose="020B0502040204020203" pitchFamily="34" charset="0"/>
              </a:rPr>
              <a:t>Data Cleaning Phase 3:</a:t>
            </a:r>
          </a:p>
          <a:p>
            <a:pPr algn="just"/>
            <a:r>
              <a:rPr lang="en-NZ" dirty="0">
                <a:solidFill>
                  <a:schemeClr val="tx1"/>
                </a:solidFill>
                <a:latin typeface="Bahnschrift" panose="020B0502040204020203" pitchFamily="34" charset="0"/>
              </a:rPr>
              <a:t>Adding segmentation for reviews, price, and  host type for </a:t>
            </a:r>
            <a:r>
              <a:rPr lang="en-NZ">
                <a:solidFill>
                  <a:schemeClr val="tx1"/>
                </a:solidFill>
                <a:latin typeface="Bahnschrift" panose="020B0502040204020203" pitchFamily="34" charset="0"/>
              </a:rPr>
              <a:t>further analysis.</a:t>
            </a:r>
            <a:endParaRPr lang="en-NZ" dirty="0">
              <a:solidFill>
                <a:schemeClr val="tx1"/>
              </a:solidFill>
              <a:latin typeface="Bahnschrift" panose="020B0502040204020203" pitchFamily="34" charset="0"/>
            </a:endParaRPr>
          </a:p>
        </p:txBody>
      </p:sp>
      <p:sp>
        <p:nvSpPr>
          <p:cNvPr id="13" name="Arrow: Right 12">
            <a:extLst>
              <a:ext uri="{FF2B5EF4-FFF2-40B4-BE49-F238E27FC236}">
                <a16:creationId xmlns:a16="http://schemas.microsoft.com/office/drawing/2014/main" id="{9F0C0E27-5532-97F9-809B-3C73BE10FEF8}"/>
              </a:ext>
            </a:extLst>
          </p:cNvPr>
          <p:cNvSpPr/>
          <p:nvPr/>
        </p:nvSpPr>
        <p:spPr>
          <a:xfrm>
            <a:off x="5670055" y="2031925"/>
            <a:ext cx="246743" cy="2598057"/>
          </a:xfrm>
          <a:prstGeom prst="right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4" name="Arrow: Right 13">
            <a:extLst>
              <a:ext uri="{FF2B5EF4-FFF2-40B4-BE49-F238E27FC236}">
                <a16:creationId xmlns:a16="http://schemas.microsoft.com/office/drawing/2014/main" id="{D56B1FD5-E490-A356-88F0-A820DD36C0C9}"/>
              </a:ext>
            </a:extLst>
          </p:cNvPr>
          <p:cNvSpPr/>
          <p:nvPr/>
        </p:nvSpPr>
        <p:spPr>
          <a:xfrm>
            <a:off x="8251941" y="2031926"/>
            <a:ext cx="246743" cy="2598057"/>
          </a:xfrm>
          <a:prstGeom prst="right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6" name="Rectangle 15">
            <a:extLst>
              <a:ext uri="{FF2B5EF4-FFF2-40B4-BE49-F238E27FC236}">
                <a16:creationId xmlns:a16="http://schemas.microsoft.com/office/drawing/2014/main" id="{4801CD8B-C864-5527-3CAA-723070BF9A7C}"/>
              </a:ext>
            </a:extLst>
          </p:cNvPr>
          <p:cNvSpPr/>
          <p:nvPr/>
        </p:nvSpPr>
        <p:spPr>
          <a:xfrm>
            <a:off x="850746" y="5600102"/>
            <a:ext cx="2443997" cy="466869"/>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NZ" dirty="0">
                <a:solidFill>
                  <a:schemeClr val="tx1"/>
                </a:solidFill>
                <a:latin typeface="Bahnschrift" panose="020B0502040204020203" pitchFamily="34" charset="0"/>
              </a:rPr>
              <a:t>15853 to 10063 rows</a:t>
            </a:r>
          </a:p>
        </p:txBody>
      </p:sp>
      <p:sp>
        <p:nvSpPr>
          <p:cNvPr id="17" name="Rectangle 16">
            <a:extLst>
              <a:ext uri="{FF2B5EF4-FFF2-40B4-BE49-F238E27FC236}">
                <a16:creationId xmlns:a16="http://schemas.microsoft.com/office/drawing/2014/main" id="{75A5DE46-6FEB-156A-1E4D-5E17193D6DAB}"/>
              </a:ext>
            </a:extLst>
          </p:cNvPr>
          <p:cNvSpPr/>
          <p:nvPr/>
        </p:nvSpPr>
        <p:spPr>
          <a:xfrm>
            <a:off x="6002772" y="5600102"/>
            <a:ext cx="2141425" cy="466869"/>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NZ" dirty="0">
                <a:solidFill>
                  <a:schemeClr val="tx1"/>
                </a:solidFill>
                <a:latin typeface="Bahnschrift" panose="020B0502040204020203" pitchFamily="34" charset="0"/>
              </a:rPr>
              <a:t>10063 to 6619 rows</a:t>
            </a:r>
          </a:p>
        </p:txBody>
      </p:sp>
      <p:sp>
        <p:nvSpPr>
          <p:cNvPr id="18" name="Rectangle 17">
            <a:extLst>
              <a:ext uri="{FF2B5EF4-FFF2-40B4-BE49-F238E27FC236}">
                <a16:creationId xmlns:a16="http://schemas.microsoft.com/office/drawing/2014/main" id="{91855D0A-6A4B-5B01-D846-E998244ABB75}"/>
              </a:ext>
            </a:extLst>
          </p:cNvPr>
          <p:cNvSpPr/>
          <p:nvPr/>
        </p:nvSpPr>
        <p:spPr>
          <a:xfrm>
            <a:off x="8990485" y="5600102"/>
            <a:ext cx="2141425" cy="466869"/>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NZ" dirty="0">
                <a:solidFill>
                  <a:schemeClr val="tx1"/>
                </a:solidFill>
                <a:latin typeface="Bahnschrift" panose="020B0502040204020203" pitchFamily="34" charset="0"/>
              </a:rPr>
              <a:t>6619 rows</a:t>
            </a:r>
          </a:p>
        </p:txBody>
      </p:sp>
      <p:cxnSp>
        <p:nvCxnSpPr>
          <p:cNvPr id="20" name="Straight Arrow Connector 19">
            <a:extLst>
              <a:ext uri="{FF2B5EF4-FFF2-40B4-BE49-F238E27FC236}">
                <a16:creationId xmlns:a16="http://schemas.microsoft.com/office/drawing/2014/main" id="{783EBC27-CFC8-F1C4-D59C-82973487973B}"/>
              </a:ext>
            </a:extLst>
          </p:cNvPr>
          <p:cNvCxnSpPr>
            <a:cxnSpLocks/>
            <a:stCxn id="16" idx="3"/>
            <a:endCxn id="17" idx="1"/>
          </p:cNvCxnSpPr>
          <p:nvPr/>
        </p:nvCxnSpPr>
        <p:spPr>
          <a:xfrm>
            <a:off x="3294743" y="5833537"/>
            <a:ext cx="2708029" cy="0"/>
          </a:xfrm>
          <a:prstGeom prst="straightConnector1">
            <a:avLst/>
          </a:prstGeom>
          <a:ln>
            <a:solidFill>
              <a:schemeClr val="bg1"/>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E325B725-301F-D5A4-225B-B0F3B0C11E5B}"/>
              </a:ext>
            </a:extLst>
          </p:cNvPr>
          <p:cNvCxnSpPr>
            <a:cxnSpLocks/>
            <a:stCxn id="17" idx="3"/>
            <a:endCxn id="18" idx="1"/>
          </p:cNvCxnSpPr>
          <p:nvPr/>
        </p:nvCxnSpPr>
        <p:spPr>
          <a:xfrm>
            <a:off x="8144197" y="5833537"/>
            <a:ext cx="846288" cy="0"/>
          </a:xfrm>
          <a:prstGeom prst="straightConnector1">
            <a:avLst/>
          </a:prstGeom>
          <a:ln>
            <a:solidFill>
              <a:schemeClr val="bg1"/>
            </a:solidFill>
            <a:headEnd type="none" w="med" len="med"/>
            <a:tailEnd type="arrow" w="med" len="med"/>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530800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72BCA6C-F04A-D0B4-140E-70FE23A0FB35}"/>
              </a:ext>
            </a:extLst>
          </p:cNvPr>
          <p:cNvSpPr/>
          <p:nvPr/>
        </p:nvSpPr>
        <p:spPr>
          <a:xfrm>
            <a:off x="1986684" y="2343150"/>
            <a:ext cx="8218632" cy="1434141"/>
          </a:xfrm>
          <a:prstGeom prst="rect">
            <a:avLst/>
          </a:prstGeom>
          <a:solidFill>
            <a:srgbClr val="DB255D">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effectLst>
                <a:reflection stA="38000" endPos="65000" dist="50800" dir="5400000" sy="-100000" algn="bl" rotWithShape="0"/>
              </a:effectLst>
            </a:endParaRPr>
          </a:p>
        </p:txBody>
      </p:sp>
      <p:sp>
        <p:nvSpPr>
          <p:cNvPr id="2" name="Title 1">
            <a:extLst>
              <a:ext uri="{FF2B5EF4-FFF2-40B4-BE49-F238E27FC236}">
                <a16:creationId xmlns:a16="http://schemas.microsoft.com/office/drawing/2014/main" id="{33DF00AC-0D80-4511-A3B9-F4DCD88BF724}"/>
              </a:ext>
            </a:extLst>
          </p:cNvPr>
          <p:cNvSpPr>
            <a:spLocks noGrp="1"/>
          </p:cNvSpPr>
          <p:nvPr>
            <p:ph type="ctrTitle"/>
          </p:nvPr>
        </p:nvSpPr>
        <p:spPr>
          <a:xfrm>
            <a:off x="389626" y="1475117"/>
            <a:ext cx="11412748" cy="1953883"/>
          </a:xfrm>
        </p:spPr>
        <p:txBody>
          <a:bodyPr>
            <a:noAutofit/>
          </a:bodyPr>
          <a:lstStyle/>
          <a:p>
            <a:r>
              <a:rPr lang="en-NZ" sz="4400" b="1" dirty="0">
                <a:solidFill>
                  <a:schemeClr val="bg1"/>
                </a:solidFill>
                <a:effectLst>
                  <a:outerShdw blurRad="50800" dist="38100" dir="2700000" algn="tl" rotWithShape="0">
                    <a:prstClr val="black">
                      <a:alpha val="40000"/>
                    </a:prstClr>
                  </a:outerShdw>
                </a:effectLst>
                <a:latin typeface="Bahnschrift" panose="020B0502040204020203" pitchFamily="34" charset="0"/>
              </a:rPr>
              <a:t>Data Understanding</a:t>
            </a:r>
          </a:p>
        </p:txBody>
      </p:sp>
      <p:pic>
        <p:nvPicPr>
          <p:cNvPr id="1026" name="Picture 2" descr="Airbnb Logo History">
            <a:extLst>
              <a:ext uri="{FF2B5EF4-FFF2-40B4-BE49-F238E27FC236}">
                <a16:creationId xmlns:a16="http://schemas.microsoft.com/office/drawing/2014/main" id="{5108C76A-7F9D-6C3F-E7B6-A22608EA2CA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054" b="95969" l="9932" r="89932">
                        <a14:foregroundMark x1="52232" y1="9622" x2="53787" y2="9469"/>
                        <a14:foregroundMark x1="43356" y1="10493" x2="44704" y2="10360"/>
                        <a14:foregroundMark x1="46893" y1="5246" x2="49615" y2="5246"/>
                        <a14:foregroundMark x1="27664" y1="82790" x2="24036" y2="83237"/>
                        <a14:foregroundMark x1="24898" y1="94562" x2="26984" y2="93922"/>
                        <a14:foregroundMark x1="34331" y1="83749" x2="33696" y2="90403"/>
                        <a14:foregroundMark x1="34558" y1="76903" x2="34558" y2="76903"/>
                        <a14:foregroundMark x1="41789" y1="81375" x2="41587" y2="82470"/>
                        <a14:foregroundMark x1="39184" y1="95521" x2="39941" y2="91411"/>
                        <a14:foregroundMark x1="46893" y1="77223" x2="46531" y2="95969"/>
                        <a14:foregroundMark x1="58957" y1="83877" x2="58095" y2="93346"/>
                        <a14:foregroundMark x1="69433" y1="76711" x2="69297" y2="80486"/>
                        <a14:foregroundMark x1="40544" y1="83429" x2="40952" y2="84005"/>
                        <a14:foregroundMark x1="41859" y1="83301" x2="38957" y2="83749"/>
                        <a14:foregroundMark x1="39758" y1="89083" x2="39138" y2="91875"/>
                        <a14:backgroundMark x1="46395" y1="13180" x2="47392" y2="10940"/>
                        <a14:backgroundMark x1="46304" y1="10365" x2="48209" y2="9789"/>
                        <a14:backgroundMark x1="48617" y1="9469" x2="50522" y2="10237"/>
                        <a14:backgroundMark x1="48027" y1="9917" x2="48707" y2="10621"/>
                        <a14:backgroundMark x1="48798" y1="9789" x2="49932" y2="10237"/>
                        <a14:backgroundMark x1="48798" y1="10237" x2="45986" y2="10813"/>
                        <a14:backgroundMark x1="46803" y1="10365" x2="45306" y2="11388"/>
                        <a14:backgroundMark x1="49342" y1="9469" x2="50839" y2="10109"/>
                        <a14:backgroundMark x1="48798" y1="9789" x2="50023" y2="10237"/>
                        <a14:backgroundMark x1="48299" y1="10045" x2="50340" y2="10365"/>
                        <a14:backgroundMark x1="50431" y1="10045" x2="51066" y2="10365"/>
                        <a14:backgroundMark x1="50249" y1="9341" x2="51474" y2="10621"/>
                        <a14:backgroundMark x1="45306" y1="10365" x2="44807" y2="11068"/>
                        <a14:backgroundMark x1="44490" y1="11196" x2="44807" y2="11196"/>
                        <a14:backgroundMark x1="44717" y1="10813" x2="44717" y2="10813"/>
                        <a14:backgroundMark x1="45079" y1="11388" x2="44490" y2="11068"/>
                        <a14:backgroundMark x1="41678" y1="90275" x2="41179" y2="85988"/>
                        <a14:backgroundMark x1="41542" y1="90595" x2="41361" y2="86308"/>
                        <a14:backgroundMark x1="41088" y1="90595" x2="41270" y2="86180"/>
                        <a14:backgroundMark x1="40952" y1="91299" x2="41047" y2="86921"/>
                        <a14:backgroundMark x1="40544" y1="91427" x2="40590" y2="88978"/>
                        <a14:backgroundMark x1="40862" y1="91555" x2="41292" y2="85817"/>
                        <a14:backgroundMark x1="40454" y1="90979" x2="40796" y2="88050"/>
                        <a14:backgroundMark x1="40136" y1="90595" x2="42494" y2="84581"/>
                        <a14:backgroundMark x1="41270" y1="90979" x2="41995" y2="84709"/>
                        <a14:backgroundMark x1="41769" y1="85733" x2="41475" y2="84995"/>
                        <a14:backgroundMark x1="41361" y1="92386" x2="41361" y2="85733"/>
                        <a14:backgroundMark x1="41043" y1="85733" x2="40635" y2="86564"/>
                        <a14:backgroundMark x1="41451" y1="85477" x2="40272" y2="86436"/>
                        <a14:backgroundMark x1="41179" y1="85413" x2="40680" y2="89315"/>
                        <a14:backgroundMark x1="40544" y1="87716" x2="40544" y2="90275"/>
                        <a14:backgroundMark x1="41270" y1="85988" x2="41179" y2="85413"/>
                      </a14:backgroundRemoval>
                    </a14:imgEffect>
                  </a14:imgLayer>
                </a14:imgProps>
              </a:ext>
              <a:ext uri="{28A0092B-C50C-407E-A947-70E740481C1C}">
                <a14:useLocalDpi xmlns:a14="http://schemas.microsoft.com/office/drawing/2010/main" val="0"/>
              </a:ext>
            </a:extLst>
          </a:blip>
          <a:srcRect/>
          <a:stretch>
            <a:fillRect/>
          </a:stretch>
        </p:blipFill>
        <p:spPr bwMode="auto">
          <a:xfrm>
            <a:off x="0" y="287547"/>
            <a:ext cx="2126843" cy="1507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2740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AF16E0-9DB7-A571-A96C-757B7C3C4B65}"/>
              </a:ext>
            </a:extLst>
          </p:cNvPr>
          <p:cNvSpPr/>
          <p:nvPr/>
        </p:nvSpPr>
        <p:spPr>
          <a:xfrm>
            <a:off x="850747" y="353964"/>
            <a:ext cx="10490506" cy="617775"/>
          </a:xfrm>
          <a:prstGeom prst="rect">
            <a:avLst/>
          </a:prstGeom>
          <a:solidFill>
            <a:srgbClr val="DB255D">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latin typeface="Bahnschrift" panose="020B0502040204020203" pitchFamily="34" charset="0"/>
              </a:rPr>
              <a:t>Data understanding from available dataset</a:t>
            </a:r>
          </a:p>
        </p:txBody>
      </p:sp>
      <p:sp>
        <p:nvSpPr>
          <p:cNvPr id="3" name="Rectangle 2">
            <a:extLst>
              <a:ext uri="{FF2B5EF4-FFF2-40B4-BE49-F238E27FC236}">
                <a16:creationId xmlns:a16="http://schemas.microsoft.com/office/drawing/2014/main" id="{259AE7FC-865D-7D73-7BB7-8147B52CDFEA}"/>
              </a:ext>
            </a:extLst>
          </p:cNvPr>
          <p:cNvSpPr/>
          <p:nvPr/>
        </p:nvSpPr>
        <p:spPr>
          <a:xfrm>
            <a:off x="850746" y="1088424"/>
            <a:ext cx="4883303" cy="2990090"/>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NZ" b="1" dirty="0">
                <a:solidFill>
                  <a:schemeClr val="tx1"/>
                </a:solidFill>
                <a:latin typeface="Bahnschrift" panose="020B0502040204020203" pitchFamily="34" charset="0"/>
              </a:rPr>
              <a:t>Property details</a:t>
            </a:r>
          </a:p>
          <a:p>
            <a:pPr algn="just"/>
            <a:r>
              <a:rPr lang="en-NZ" i="1" dirty="0">
                <a:solidFill>
                  <a:schemeClr val="tx1"/>
                </a:solidFill>
                <a:latin typeface="Bahnschrift" panose="020B0502040204020203" pitchFamily="34" charset="0"/>
              </a:rPr>
              <a:t>ID:</a:t>
            </a:r>
            <a:r>
              <a:rPr lang="en-NZ" dirty="0">
                <a:solidFill>
                  <a:schemeClr val="tx1"/>
                </a:solidFill>
                <a:latin typeface="Bahnschrift" panose="020B0502040204020203" pitchFamily="34" charset="0"/>
              </a:rPr>
              <a:t> Unique Identifier [int]</a:t>
            </a:r>
          </a:p>
          <a:p>
            <a:pPr algn="just"/>
            <a:r>
              <a:rPr lang="en-NZ" i="1" dirty="0">
                <a:solidFill>
                  <a:schemeClr val="tx1"/>
                </a:solidFill>
                <a:latin typeface="Bahnschrift" panose="020B0502040204020203" pitchFamily="34" charset="0"/>
              </a:rPr>
              <a:t>Name: </a:t>
            </a:r>
            <a:r>
              <a:rPr lang="en-NZ" dirty="0">
                <a:solidFill>
                  <a:schemeClr val="tx1"/>
                </a:solidFill>
                <a:latin typeface="Bahnschrift" panose="020B0502040204020203" pitchFamily="34" charset="0"/>
              </a:rPr>
              <a:t>name of listings [str]</a:t>
            </a:r>
          </a:p>
          <a:p>
            <a:pPr algn="just"/>
            <a:r>
              <a:rPr lang="en-NZ" i="1" dirty="0" err="1">
                <a:solidFill>
                  <a:schemeClr val="tx1"/>
                </a:solidFill>
                <a:latin typeface="Bahnschrift" panose="020B0502040204020203" pitchFamily="34" charset="0"/>
              </a:rPr>
              <a:t>host_id</a:t>
            </a:r>
            <a:r>
              <a:rPr lang="en-NZ" i="1" dirty="0">
                <a:solidFill>
                  <a:schemeClr val="tx1"/>
                </a:solidFill>
                <a:latin typeface="Bahnschrift" panose="020B0502040204020203" pitchFamily="34" charset="0"/>
              </a:rPr>
              <a:t>: </a:t>
            </a:r>
            <a:r>
              <a:rPr lang="en-NZ" dirty="0">
                <a:solidFill>
                  <a:schemeClr val="tx1"/>
                </a:solidFill>
                <a:latin typeface="Bahnschrift" panose="020B0502040204020203" pitchFamily="34" charset="0"/>
              </a:rPr>
              <a:t>unique id for hosts / user [int]</a:t>
            </a:r>
          </a:p>
          <a:p>
            <a:pPr algn="just"/>
            <a:r>
              <a:rPr lang="en-NZ" i="1" dirty="0" err="1">
                <a:solidFill>
                  <a:schemeClr val="tx1"/>
                </a:solidFill>
                <a:latin typeface="Bahnschrift" panose="020B0502040204020203" pitchFamily="34" charset="0"/>
              </a:rPr>
              <a:t>host_name</a:t>
            </a:r>
            <a:r>
              <a:rPr lang="en-NZ" i="1" dirty="0">
                <a:solidFill>
                  <a:schemeClr val="tx1"/>
                </a:solidFill>
                <a:latin typeface="Bahnschrift" panose="020B0502040204020203" pitchFamily="34" charset="0"/>
              </a:rPr>
              <a:t>: </a:t>
            </a:r>
            <a:r>
              <a:rPr lang="en-NZ" dirty="0">
                <a:solidFill>
                  <a:schemeClr val="tx1"/>
                </a:solidFill>
                <a:latin typeface="Bahnschrift" panose="020B0502040204020203" pitchFamily="34" charset="0"/>
              </a:rPr>
              <a:t>first name of hosts [str]</a:t>
            </a:r>
          </a:p>
          <a:p>
            <a:pPr algn="just"/>
            <a:r>
              <a:rPr lang="en-NZ" i="1" dirty="0" err="1">
                <a:solidFill>
                  <a:schemeClr val="tx1"/>
                </a:solidFill>
                <a:latin typeface="Bahnschrift" panose="020B0502040204020203" pitchFamily="34" charset="0"/>
              </a:rPr>
              <a:t>room_type</a:t>
            </a:r>
            <a:r>
              <a:rPr lang="en-NZ" i="1" dirty="0">
                <a:solidFill>
                  <a:schemeClr val="tx1"/>
                </a:solidFill>
                <a:latin typeface="Bahnschrift" panose="020B0502040204020203" pitchFamily="34" charset="0"/>
              </a:rPr>
              <a:t>: </a:t>
            </a:r>
            <a:r>
              <a:rPr lang="en-NZ" dirty="0">
                <a:solidFill>
                  <a:schemeClr val="tx1"/>
                </a:solidFill>
                <a:latin typeface="Bahnschrift" panose="020B0502040204020203" pitchFamily="34" charset="0"/>
              </a:rPr>
              <a:t>room type grouped by entire home, private rooms, hotel, and shared rooms [str]</a:t>
            </a:r>
          </a:p>
          <a:p>
            <a:pPr algn="just"/>
            <a:r>
              <a:rPr lang="en-NZ" i="1" dirty="0" err="1">
                <a:solidFill>
                  <a:schemeClr val="tx1"/>
                </a:solidFill>
                <a:latin typeface="Bahnschrift" panose="020B0502040204020203" pitchFamily="34" charset="0"/>
              </a:rPr>
              <a:t>calculated_host_listings_count</a:t>
            </a:r>
            <a:r>
              <a:rPr lang="en-NZ" i="1" dirty="0">
                <a:solidFill>
                  <a:schemeClr val="tx1"/>
                </a:solidFill>
                <a:latin typeface="Bahnschrift" panose="020B0502040204020203" pitchFamily="34" charset="0"/>
              </a:rPr>
              <a:t>: </a:t>
            </a:r>
            <a:r>
              <a:rPr lang="en-NZ" dirty="0">
                <a:solidFill>
                  <a:schemeClr val="tx1"/>
                </a:solidFill>
                <a:latin typeface="Bahnschrift" panose="020B0502040204020203" pitchFamily="34" charset="0"/>
              </a:rPr>
              <a:t>number of listings per host [int]</a:t>
            </a:r>
          </a:p>
        </p:txBody>
      </p:sp>
      <p:sp>
        <p:nvSpPr>
          <p:cNvPr id="4" name="Rectangle 3">
            <a:extLst>
              <a:ext uri="{FF2B5EF4-FFF2-40B4-BE49-F238E27FC236}">
                <a16:creationId xmlns:a16="http://schemas.microsoft.com/office/drawing/2014/main" id="{3F82E089-F15B-05C4-B747-EB5FC2E06412}"/>
              </a:ext>
            </a:extLst>
          </p:cNvPr>
          <p:cNvSpPr/>
          <p:nvPr/>
        </p:nvSpPr>
        <p:spPr>
          <a:xfrm>
            <a:off x="6029324" y="1088424"/>
            <a:ext cx="5311929" cy="1625747"/>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NZ" b="1" dirty="0">
                <a:solidFill>
                  <a:schemeClr val="tx1"/>
                </a:solidFill>
                <a:latin typeface="Bahnschrift" panose="020B0502040204020203" pitchFamily="34" charset="0"/>
              </a:rPr>
              <a:t>Geographic details</a:t>
            </a:r>
          </a:p>
          <a:p>
            <a:r>
              <a:rPr lang="en-NZ" i="1" dirty="0">
                <a:solidFill>
                  <a:schemeClr val="tx1"/>
                </a:solidFill>
                <a:latin typeface="Bahnschrift" panose="020B0502040204020203" pitchFamily="34" charset="0"/>
              </a:rPr>
              <a:t>Neighbourhood: </a:t>
            </a:r>
            <a:r>
              <a:rPr lang="en-NZ" dirty="0">
                <a:solidFill>
                  <a:schemeClr val="tx1"/>
                </a:solidFill>
                <a:latin typeface="Bahnschrift" panose="020B0502040204020203" pitchFamily="34" charset="0"/>
              </a:rPr>
              <a:t>name of the neighbourhoods [str]</a:t>
            </a:r>
          </a:p>
          <a:p>
            <a:r>
              <a:rPr lang="en-NZ" i="1" dirty="0">
                <a:solidFill>
                  <a:schemeClr val="tx1"/>
                </a:solidFill>
                <a:latin typeface="Bahnschrift" panose="020B0502040204020203" pitchFamily="34" charset="0"/>
              </a:rPr>
              <a:t>Latitude &amp; longitude: </a:t>
            </a:r>
            <a:r>
              <a:rPr lang="en-NZ" dirty="0">
                <a:solidFill>
                  <a:schemeClr val="tx1"/>
                </a:solidFill>
                <a:latin typeface="Bahnschrift" panose="020B0502040204020203" pitchFamily="34" charset="0"/>
              </a:rPr>
              <a:t>geocoded </a:t>
            </a:r>
            <a:r>
              <a:rPr lang="en-NZ" dirty="0" err="1">
                <a:solidFill>
                  <a:schemeClr val="tx1"/>
                </a:solidFill>
                <a:latin typeface="Bahnschrift" panose="020B0502040204020203" pitchFamily="34" charset="0"/>
              </a:rPr>
              <a:t>lat</a:t>
            </a:r>
            <a:r>
              <a:rPr lang="en-NZ" dirty="0">
                <a:solidFill>
                  <a:schemeClr val="tx1"/>
                </a:solidFill>
                <a:latin typeface="Bahnschrift" panose="020B0502040204020203" pitchFamily="34" charset="0"/>
              </a:rPr>
              <a:t> and long for each properties.[float]</a:t>
            </a:r>
          </a:p>
          <a:p>
            <a:r>
              <a:rPr lang="en-NZ" i="1" dirty="0">
                <a:solidFill>
                  <a:schemeClr val="tx1"/>
                </a:solidFill>
                <a:latin typeface="Bahnschrift" panose="020B0502040204020203" pitchFamily="34" charset="0"/>
              </a:rPr>
              <a:t>Geometry: </a:t>
            </a:r>
            <a:r>
              <a:rPr lang="en-NZ" dirty="0">
                <a:solidFill>
                  <a:schemeClr val="tx1"/>
                </a:solidFill>
                <a:latin typeface="Bahnschrift" panose="020B0502040204020203" pitchFamily="34" charset="0"/>
              </a:rPr>
              <a:t>geocoded neighbourhood area [geo]</a:t>
            </a:r>
          </a:p>
        </p:txBody>
      </p:sp>
      <p:sp>
        <p:nvSpPr>
          <p:cNvPr id="5" name="Rectangle 4">
            <a:extLst>
              <a:ext uri="{FF2B5EF4-FFF2-40B4-BE49-F238E27FC236}">
                <a16:creationId xmlns:a16="http://schemas.microsoft.com/office/drawing/2014/main" id="{B4E69BB3-14B0-8917-5CB3-C1F00F1FF2E3}"/>
              </a:ext>
            </a:extLst>
          </p:cNvPr>
          <p:cNvSpPr/>
          <p:nvPr/>
        </p:nvSpPr>
        <p:spPr>
          <a:xfrm>
            <a:off x="850745" y="4268245"/>
            <a:ext cx="4883303" cy="1617445"/>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NZ" i="1" dirty="0">
                <a:solidFill>
                  <a:schemeClr val="tx1"/>
                </a:solidFill>
                <a:latin typeface="Bahnschrift" panose="020B0502040204020203" pitchFamily="34" charset="0"/>
              </a:rPr>
              <a:t>Price: </a:t>
            </a:r>
            <a:r>
              <a:rPr lang="en-NZ" dirty="0">
                <a:solidFill>
                  <a:schemeClr val="tx1"/>
                </a:solidFill>
                <a:latin typeface="Bahnschrift" panose="020B0502040204020203" pitchFamily="34" charset="0"/>
              </a:rPr>
              <a:t>price per night in THB [int]</a:t>
            </a:r>
          </a:p>
          <a:p>
            <a:r>
              <a:rPr lang="en-NZ" i="1" dirty="0" err="1">
                <a:solidFill>
                  <a:schemeClr val="tx1"/>
                </a:solidFill>
                <a:latin typeface="Bahnschrift" panose="020B0502040204020203" pitchFamily="34" charset="0"/>
              </a:rPr>
              <a:t>Minimum_nights</a:t>
            </a:r>
            <a:r>
              <a:rPr lang="en-NZ" i="1" dirty="0">
                <a:solidFill>
                  <a:schemeClr val="tx1"/>
                </a:solidFill>
                <a:latin typeface="Bahnschrift" panose="020B0502040204020203" pitchFamily="34" charset="0"/>
              </a:rPr>
              <a:t>: </a:t>
            </a:r>
            <a:r>
              <a:rPr lang="en-NZ" dirty="0">
                <a:solidFill>
                  <a:schemeClr val="tx1"/>
                </a:solidFill>
                <a:latin typeface="Bahnschrift" panose="020B0502040204020203" pitchFamily="34" charset="0"/>
              </a:rPr>
              <a:t>minimum nights requirement for each property [int]</a:t>
            </a:r>
          </a:p>
          <a:p>
            <a:r>
              <a:rPr lang="en-NZ" i="1" dirty="0">
                <a:solidFill>
                  <a:schemeClr val="tx1"/>
                </a:solidFill>
                <a:latin typeface="Bahnschrift" panose="020B0502040204020203" pitchFamily="34" charset="0"/>
              </a:rPr>
              <a:t>Availability_365: </a:t>
            </a:r>
            <a:r>
              <a:rPr lang="en-NZ" dirty="0">
                <a:solidFill>
                  <a:schemeClr val="tx1"/>
                </a:solidFill>
                <a:latin typeface="Bahnschrift" panose="020B0502040204020203" pitchFamily="34" charset="0"/>
              </a:rPr>
              <a:t>yearly availability (might be lower due to occupied, maintenance etc) [int]</a:t>
            </a:r>
          </a:p>
        </p:txBody>
      </p:sp>
      <p:sp>
        <p:nvSpPr>
          <p:cNvPr id="6" name="Rectangle 5">
            <a:extLst>
              <a:ext uri="{FF2B5EF4-FFF2-40B4-BE49-F238E27FC236}">
                <a16:creationId xmlns:a16="http://schemas.microsoft.com/office/drawing/2014/main" id="{DEA0CD47-1DB8-C05A-F9E5-91F2385CEAA6}"/>
              </a:ext>
            </a:extLst>
          </p:cNvPr>
          <p:cNvSpPr/>
          <p:nvPr/>
        </p:nvSpPr>
        <p:spPr>
          <a:xfrm>
            <a:off x="6029323" y="2793927"/>
            <a:ext cx="5311929" cy="1778073"/>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NZ" sz="1600" b="1" dirty="0">
                <a:solidFill>
                  <a:schemeClr val="tx1"/>
                </a:solidFill>
                <a:latin typeface="Bahnschrift" panose="020B0502040204020203" pitchFamily="34" charset="0"/>
              </a:rPr>
              <a:t>Review metrics</a:t>
            </a:r>
          </a:p>
          <a:p>
            <a:r>
              <a:rPr lang="en-NZ" sz="1600" i="1" dirty="0">
                <a:solidFill>
                  <a:schemeClr val="tx1"/>
                </a:solidFill>
                <a:latin typeface="Bahnschrift" panose="020B0502040204020203" pitchFamily="34" charset="0"/>
              </a:rPr>
              <a:t>Number of </a:t>
            </a:r>
            <a:r>
              <a:rPr lang="en-NZ" sz="1600" i="1" dirty="0" err="1">
                <a:solidFill>
                  <a:schemeClr val="tx1"/>
                </a:solidFill>
                <a:latin typeface="Bahnschrift" panose="020B0502040204020203" pitchFamily="34" charset="0"/>
              </a:rPr>
              <a:t>Review_ltm</a:t>
            </a:r>
            <a:r>
              <a:rPr lang="en-NZ" sz="1600" i="1" dirty="0">
                <a:solidFill>
                  <a:schemeClr val="tx1"/>
                </a:solidFill>
                <a:latin typeface="Bahnschrift" panose="020B0502040204020203" pitchFamily="34" charset="0"/>
              </a:rPr>
              <a:t>: </a:t>
            </a:r>
            <a:r>
              <a:rPr lang="en-NZ" sz="1600" dirty="0">
                <a:solidFill>
                  <a:schemeClr val="tx1"/>
                </a:solidFill>
                <a:latin typeface="Bahnschrift" panose="020B0502040204020203" pitchFamily="34" charset="0"/>
              </a:rPr>
              <a:t>Number of review last 12 months [int]</a:t>
            </a:r>
          </a:p>
          <a:p>
            <a:r>
              <a:rPr lang="en-NZ" sz="1600" i="1" dirty="0" err="1">
                <a:solidFill>
                  <a:schemeClr val="tx1"/>
                </a:solidFill>
                <a:latin typeface="Bahnschrift" panose="020B0502040204020203" pitchFamily="34" charset="0"/>
              </a:rPr>
              <a:t>Reviews_per_month</a:t>
            </a:r>
            <a:r>
              <a:rPr lang="en-NZ" sz="1600" i="1" dirty="0">
                <a:solidFill>
                  <a:schemeClr val="tx1"/>
                </a:solidFill>
                <a:latin typeface="Bahnschrift" panose="020B0502040204020203" pitchFamily="34" charset="0"/>
              </a:rPr>
              <a:t>: </a:t>
            </a:r>
            <a:r>
              <a:rPr lang="en-NZ" sz="1600" dirty="0">
                <a:solidFill>
                  <a:schemeClr val="tx1"/>
                </a:solidFill>
                <a:latin typeface="Bahnschrift" panose="020B0502040204020203" pitchFamily="34" charset="0"/>
              </a:rPr>
              <a:t>Number of reviews per month [float]</a:t>
            </a:r>
          </a:p>
          <a:p>
            <a:r>
              <a:rPr lang="en-NZ" sz="1600" i="1" dirty="0">
                <a:solidFill>
                  <a:schemeClr val="tx1"/>
                </a:solidFill>
                <a:latin typeface="Bahnschrift" panose="020B0502040204020203" pitchFamily="34" charset="0"/>
              </a:rPr>
              <a:t>Number of Review: </a:t>
            </a:r>
            <a:r>
              <a:rPr lang="en-NZ" sz="1600" dirty="0">
                <a:solidFill>
                  <a:schemeClr val="tx1"/>
                </a:solidFill>
                <a:latin typeface="Bahnschrift" panose="020B0502040204020203" pitchFamily="34" charset="0"/>
              </a:rPr>
              <a:t> Total Reviews [int]</a:t>
            </a:r>
          </a:p>
          <a:p>
            <a:r>
              <a:rPr lang="en-NZ" sz="1600" i="1" dirty="0">
                <a:solidFill>
                  <a:schemeClr val="tx1"/>
                </a:solidFill>
                <a:latin typeface="Bahnschrift" panose="020B0502040204020203" pitchFamily="34" charset="0"/>
              </a:rPr>
              <a:t>Last Review: </a:t>
            </a:r>
            <a:r>
              <a:rPr lang="en-NZ" sz="1600" dirty="0">
                <a:solidFill>
                  <a:schemeClr val="tx1"/>
                </a:solidFill>
                <a:latin typeface="Bahnschrift" panose="020B0502040204020203" pitchFamily="34" charset="0"/>
              </a:rPr>
              <a:t>Last time listing got reviewed [datetime]</a:t>
            </a:r>
            <a:endParaRPr lang="en-NZ" sz="1600" i="1" dirty="0">
              <a:solidFill>
                <a:schemeClr val="tx1"/>
              </a:solidFill>
              <a:latin typeface="Bahnschrift" panose="020B0502040204020203" pitchFamily="34" charset="0"/>
            </a:endParaRPr>
          </a:p>
        </p:txBody>
      </p:sp>
      <p:sp>
        <p:nvSpPr>
          <p:cNvPr id="7" name="Rectangle 6">
            <a:extLst>
              <a:ext uri="{FF2B5EF4-FFF2-40B4-BE49-F238E27FC236}">
                <a16:creationId xmlns:a16="http://schemas.microsoft.com/office/drawing/2014/main" id="{3EB2108D-A1DD-8191-98A4-F86D3D774701}"/>
              </a:ext>
            </a:extLst>
          </p:cNvPr>
          <p:cNvSpPr/>
          <p:nvPr/>
        </p:nvSpPr>
        <p:spPr>
          <a:xfrm>
            <a:off x="6029322" y="4712467"/>
            <a:ext cx="5311929" cy="1173224"/>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NZ" b="1" dirty="0">
                <a:solidFill>
                  <a:schemeClr val="tx1"/>
                </a:solidFill>
                <a:latin typeface="Bahnschrift" panose="020B0502040204020203" pitchFamily="34" charset="0"/>
              </a:rPr>
              <a:t>Added metrics</a:t>
            </a:r>
          </a:p>
          <a:p>
            <a:r>
              <a:rPr lang="en-NZ" i="1" dirty="0" err="1">
                <a:solidFill>
                  <a:schemeClr val="tx1"/>
                </a:solidFill>
                <a:latin typeface="Bahnschrift" panose="020B0502040204020203" pitchFamily="34" charset="0"/>
              </a:rPr>
              <a:t>Host_type</a:t>
            </a:r>
            <a:r>
              <a:rPr lang="en-NZ" i="1" dirty="0">
                <a:solidFill>
                  <a:schemeClr val="tx1"/>
                </a:solidFill>
                <a:latin typeface="Bahnschrift" panose="020B0502040204020203" pitchFamily="34" charset="0"/>
              </a:rPr>
              <a:t>: </a:t>
            </a:r>
            <a:r>
              <a:rPr lang="en-NZ" dirty="0">
                <a:solidFill>
                  <a:schemeClr val="tx1"/>
                </a:solidFill>
                <a:latin typeface="Bahnschrift" panose="020B0502040204020203" pitchFamily="34" charset="0"/>
              </a:rPr>
              <a:t>Single or Multiple [str]</a:t>
            </a:r>
          </a:p>
          <a:p>
            <a:r>
              <a:rPr lang="en-NZ" i="1" dirty="0">
                <a:solidFill>
                  <a:schemeClr val="tx1"/>
                </a:solidFill>
                <a:latin typeface="Bahnschrift" panose="020B0502040204020203" pitchFamily="34" charset="0"/>
              </a:rPr>
              <a:t>Price Segment: </a:t>
            </a:r>
            <a:r>
              <a:rPr lang="en-NZ" dirty="0">
                <a:solidFill>
                  <a:schemeClr val="tx1"/>
                </a:solidFill>
                <a:latin typeface="Bahnschrift" panose="020B0502040204020203" pitchFamily="34" charset="0"/>
              </a:rPr>
              <a:t>High or Low (in THB) [str]</a:t>
            </a:r>
          </a:p>
          <a:p>
            <a:r>
              <a:rPr lang="en-NZ" i="1" dirty="0">
                <a:solidFill>
                  <a:schemeClr val="tx1"/>
                </a:solidFill>
                <a:latin typeface="Bahnschrift" panose="020B0502040204020203" pitchFamily="34" charset="0"/>
              </a:rPr>
              <a:t>Review Segment: </a:t>
            </a:r>
            <a:r>
              <a:rPr lang="en-NZ" dirty="0">
                <a:solidFill>
                  <a:schemeClr val="tx1"/>
                </a:solidFill>
                <a:latin typeface="Bahnschrift" panose="020B0502040204020203" pitchFamily="34" charset="0"/>
              </a:rPr>
              <a:t>High or low frequency [str]</a:t>
            </a:r>
            <a:endParaRPr lang="en-NZ" i="1"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396794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AF16E0-9DB7-A571-A96C-757B7C3C4B65}"/>
              </a:ext>
            </a:extLst>
          </p:cNvPr>
          <p:cNvSpPr/>
          <p:nvPr/>
        </p:nvSpPr>
        <p:spPr>
          <a:xfrm>
            <a:off x="850747" y="353964"/>
            <a:ext cx="10490506" cy="617775"/>
          </a:xfrm>
          <a:prstGeom prst="rect">
            <a:avLst/>
          </a:prstGeom>
          <a:solidFill>
            <a:srgbClr val="DB255D">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latin typeface="Bahnschrift" panose="020B0502040204020203" pitchFamily="34" charset="0"/>
              </a:rPr>
              <a:t>Distribution of the data - Categorical</a:t>
            </a:r>
          </a:p>
        </p:txBody>
      </p:sp>
      <p:pic>
        <p:nvPicPr>
          <p:cNvPr id="9" name="Picture 8">
            <a:extLst>
              <a:ext uri="{FF2B5EF4-FFF2-40B4-BE49-F238E27FC236}">
                <a16:creationId xmlns:a16="http://schemas.microsoft.com/office/drawing/2014/main" id="{20DF7853-992B-0CE4-F326-DEB2E36F4619}"/>
              </a:ext>
            </a:extLst>
          </p:cNvPr>
          <p:cNvPicPr>
            <a:picLocks noChangeAspect="1"/>
          </p:cNvPicPr>
          <p:nvPr/>
        </p:nvPicPr>
        <p:blipFill>
          <a:blip r:embed="rId3"/>
          <a:stretch>
            <a:fillRect/>
          </a:stretch>
        </p:blipFill>
        <p:spPr>
          <a:xfrm>
            <a:off x="850747" y="1109052"/>
            <a:ext cx="2634326" cy="2326794"/>
          </a:xfrm>
          <a:prstGeom prst="rect">
            <a:avLst/>
          </a:prstGeom>
        </p:spPr>
      </p:pic>
      <p:pic>
        <p:nvPicPr>
          <p:cNvPr id="11" name="Picture 10">
            <a:extLst>
              <a:ext uri="{FF2B5EF4-FFF2-40B4-BE49-F238E27FC236}">
                <a16:creationId xmlns:a16="http://schemas.microsoft.com/office/drawing/2014/main" id="{E2D247EC-E061-84A4-18A4-D6DFEA88BA68}"/>
              </a:ext>
            </a:extLst>
          </p:cNvPr>
          <p:cNvPicPr>
            <a:picLocks noChangeAspect="1"/>
          </p:cNvPicPr>
          <p:nvPr/>
        </p:nvPicPr>
        <p:blipFill>
          <a:blip r:embed="rId4"/>
          <a:stretch>
            <a:fillRect/>
          </a:stretch>
        </p:blipFill>
        <p:spPr>
          <a:xfrm>
            <a:off x="8478835" y="1142132"/>
            <a:ext cx="2862418" cy="2326794"/>
          </a:xfrm>
          <a:prstGeom prst="rect">
            <a:avLst/>
          </a:prstGeom>
        </p:spPr>
      </p:pic>
      <p:pic>
        <p:nvPicPr>
          <p:cNvPr id="13" name="Picture 12">
            <a:extLst>
              <a:ext uri="{FF2B5EF4-FFF2-40B4-BE49-F238E27FC236}">
                <a16:creationId xmlns:a16="http://schemas.microsoft.com/office/drawing/2014/main" id="{3759F588-01A6-06C1-D42C-CB54389FCCA8}"/>
              </a:ext>
            </a:extLst>
          </p:cNvPr>
          <p:cNvPicPr>
            <a:picLocks noChangeAspect="1"/>
          </p:cNvPicPr>
          <p:nvPr/>
        </p:nvPicPr>
        <p:blipFill>
          <a:blip r:embed="rId5"/>
          <a:srcRect l="1137" t="1600"/>
          <a:stretch/>
        </p:blipFill>
        <p:spPr>
          <a:xfrm>
            <a:off x="4471299" y="1103082"/>
            <a:ext cx="3249401" cy="2404894"/>
          </a:xfrm>
          <a:prstGeom prst="rect">
            <a:avLst/>
          </a:prstGeom>
        </p:spPr>
      </p:pic>
      <p:sp>
        <p:nvSpPr>
          <p:cNvPr id="14" name="TextBox 13">
            <a:extLst>
              <a:ext uri="{FF2B5EF4-FFF2-40B4-BE49-F238E27FC236}">
                <a16:creationId xmlns:a16="http://schemas.microsoft.com/office/drawing/2014/main" id="{398CE511-4F53-76C2-8F47-FA64D46E1B72}"/>
              </a:ext>
            </a:extLst>
          </p:cNvPr>
          <p:cNvSpPr txBox="1"/>
          <p:nvPr/>
        </p:nvSpPr>
        <p:spPr>
          <a:xfrm>
            <a:off x="8270419" y="4099142"/>
            <a:ext cx="1563248" cy="261610"/>
          </a:xfrm>
          <a:prstGeom prst="rect">
            <a:avLst/>
          </a:prstGeom>
          <a:noFill/>
        </p:spPr>
        <p:txBody>
          <a:bodyPr wrap="none" rtlCol="0">
            <a:spAutoFit/>
          </a:bodyPr>
          <a:lstStyle/>
          <a:p>
            <a:r>
              <a:rPr lang="en-NZ" sz="1100" dirty="0"/>
              <a:t>Host type distributions</a:t>
            </a:r>
          </a:p>
        </p:txBody>
      </p:sp>
      <p:sp>
        <p:nvSpPr>
          <p:cNvPr id="3" name="Rectangle 2">
            <a:extLst>
              <a:ext uri="{FF2B5EF4-FFF2-40B4-BE49-F238E27FC236}">
                <a16:creationId xmlns:a16="http://schemas.microsoft.com/office/drawing/2014/main" id="{E1305F45-910C-A805-1F6B-E3E5CCB33A84}"/>
              </a:ext>
            </a:extLst>
          </p:cNvPr>
          <p:cNvSpPr/>
          <p:nvPr/>
        </p:nvSpPr>
        <p:spPr>
          <a:xfrm>
            <a:off x="850747" y="3964424"/>
            <a:ext cx="10490506" cy="1867032"/>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NZ" b="1" dirty="0">
                <a:solidFill>
                  <a:schemeClr val="tx1"/>
                </a:solidFill>
                <a:latin typeface="Bahnschrift" panose="020B0502040204020203" pitchFamily="34" charset="0"/>
              </a:rPr>
              <a:t>Details</a:t>
            </a:r>
          </a:p>
          <a:p>
            <a:pPr marL="285750" indent="-285750" algn="just">
              <a:buFontTx/>
              <a:buChar char="-"/>
            </a:pPr>
            <a:r>
              <a:rPr lang="en-NZ" dirty="0">
                <a:solidFill>
                  <a:schemeClr val="tx1"/>
                </a:solidFill>
                <a:latin typeface="Bahnschrift" panose="020B0502040204020203" pitchFamily="34" charset="0"/>
              </a:rPr>
              <a:t>Entire apartments dominates the Airbnb listings</a:t>
            </a:r>
          </a:p>
          <a:p>
            <a:pPr marL="285750" indent="-285750" algn="just">
              <a:buFontTx/>
              <a:buChar char="-"/>
            </a:pPr>
            <a:r>
              <a:rPr lang="en-NZ" dirty="0">
                <a:solidFill>
                  <a:schemeClr val="tx1"/>
                </a:solidFill>
                <a:latin typeface="Bahnschrift" panose="020B0502040204020203" pitchFamily="34" charset="0"/>
              </a:rPr>
              <a:t>Host with multiple listings has more listings compared to individuals</a:t>
            </a:r>
          </a:p>
          <a:p>
            <a:pPr marL="285750" indent="-285750" algn="just">
              <a:buFontTx/>
              <a:buChar char="-"/>
            </a:pPr>
            <a:r>
              <a:rPr lang="en-NZ" dirty="0">
                <a:solidFill>
                  <a:schemeClr val="tx1"/>
                </a:solidFill>
                <a:latin typeface="Bahnschrift" panose="020B0502040204020203" pitchFamily="34" charset="0"/>
              </a:rPr>
              <a:t>Top 5 neighbourhood with most of listings including </a:t>
            </a:r>
            <a:r>
              <a:rPr lang="en-NZ" dirty="0" err="1">
                <a:solidFill>
                  <a:schemeClr val="tx1"/>
                </a:solidFill>
                <a:latin typeface="Bahnschrift" panose="020B0502040204020203" pitchFamily="34" charset="0"/>
              </a:rPr>
              <a:t>Vadhana</a:t>
            </a:r>
            <a:r>
              <a:rPr lang="en-NZ" dirty="0">
                <a:solidFill>
                  <a:schemeClr val="tx1"/>
                </a:solidFill>
                <a:latin typeface="Bahnschrift" panose="020B0502040204020203" pitchFamily="34" charset="0"/>
              </a:rPr>
              <a:t>, </a:t>
            </a:r>
            <a:r>
              <a:rPr lang="en-NZ" dirty="0" err="1">
                <a:solidFill>
                  <a:schemeClr val="tx1"/>
                </a:solidFill>
                <a:latin typeface="Bahnschrift" panose="020B0502040204020203" pitchFamily="34" charset="0"/>
              </a:rPr>
              <a:t>Ratchathewi</a:t>
            </a:r>
            <a:r>
              <a:rPr lang="en-NZ" dirty="0">
                <a:solidFill>
                  <a:schemeClr val="tx1"/>
                </a:solidFill>
                <a:latin typeface="Bahnschrift" panose="020B0502040204020203" pitchFamily="34" charset="0"/>
              </a:rPr>
              <a:t>, </a:t>
            </a:r>
            <a:r>
              <a:rPr lang="en-NZ" dirty="0" err="1">
                <a:solidFill>
                  <a:schemeClr val="tx1"/>
                </a:solidFill>
                <a:latin typeface="Bahnschrift" panose="020B0502040204020203" pitchFamily="34" charset="0"/>
              </a:rPr>
              <a:t>Huai</a:t>
            </a:r>
            <a:r>
              <a:rPr lang="en-NZ" dirty="0">
                <a:solidFill>
                  <a:schemeClr val="tx1"/>
                </a:solidFill>
                <a:latin typeface="Bahnschrift" panose="020B0502040204020203" pitchFamily="34" charset="0"/>
              </a:rPr>
              <a:t> </a:t>
            </a:r>
            <a:r>
              <a:rPr lang="en-NZ" dirty="0" err="1">
                <a:solidFill>
                  <a:schemeClr val="tx1"/>
                </a:solidFill>
                <a:latin typeface="Bahnschrift" panose="020B0502040204020203" pitchFamily="34" charset="0"/>
              </a:rPr>
              <a:t>Khwang</a:t>
            </a:r>
            <a:r>
              <a:rPr lang="en-NZ" dirty="0">
                <a:solidFill>
                  <a:schemeClr val="tx1"/>
                </a:solidFill>
                <a:latin typeface="Bahnschrift" panose="020B0502040204020203" pitchFamily="34" charset="0"/>
              </a:rPr>
              <a:t>, Sathon, and Bang Rak</a:t>
            </a:r>
          </a:p>
        </p:txBody>
      </p:sp>
    </p:spTree>
    <p:extLst>
      <p:ext uri="{BB962C8B-B14F-4D97-AF65-F5344CB8AC3E}">
        <p14:creationId xmlns:p14="http://schemas.microsoft.com/office/powerpoint/2010/main" val="1274512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AF16E0-9DB7-A571-A96C-757B7C3C4B65}"/>
              </a:ext>
            </a:extLst>
          </p:cNvPr>
          <p:cNvSpPr/>
          <p:nvPr/>
        </p:nvSpPr>
        <p:spPr>
          <a:xfrm>
            <a:off x="850747" y="353964"/>
            <a:ext cx="10490506" cy="617775"/>
          </a:xfrm>
          <a:prstGeom prst="rect">
            <a:avLst/>
          </a:prstGeom>
          <a:solidFill>
            <a:srgbClr val="DB255D">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latin typeface="Bahnschrift" panose="020B0502040204020203" pitchFamily="34" charset="0"/>
              </a:rPr>
              <a:t>Distribution of the data – Numerical</a:t>
            </a:r>
          </a:p>
        </p:txBody>
      </p:sp>
      <p:pic>
        <p:nvPicPr>
          <p:cNvPr id="16" name="Picture 15">
            <a:extLst>
              <a:ext uri="{FF2B5EF4-FFF2-40B4-BE49-F238E27FC236}">
                <a16:creationId xmlns:a16="http://schemas.microsoft.com/office/drawing/2014/main" id="{D9CB5D0D-812D-6A4B-661F-E0C3D6ABFD7B}"/>
              </a:ext>
            </a:extLst>
          </p:cNvPr>
          <p:cNvPicPr>
            <a:picLocks noChangeAspect="1"/>
          </p:cNvPicPr>
          <p:nvPr/>
        </p:nvPicPr>
        <p:blipFill>
          <a:blip r:embed="rId3"/>
          <a:srcRect l="2403" t="2592" r="2313" b="2592"/>
          <a:stretch/>
        </p:blipFill>
        <p:spPr>
          <a:xfrm>
            <a:off x="850747" y="1370174"/>
            <a:ext cx="2634326" cy="1948580"/>
          </a:xfrm>
          <a:prstGeom prst="rect">
            <a:avLst/>
          </a:prstGeom>
        </p:spPr>
      </p:pic>
      <p:sp>
        <p:nvSpPr>
          <p:cNvPr id="17" name="TextBox 16">
            <a:extLst>
              <a:ext uri="{FF2B5EF4-FFF2-40B4-BE49-F238E27FC236}">
                <a16:creationId xmlns:a16="http://schemas.microsoft.com/office/drawing/2014/main" id="{ECFC5335-E769-A21E-8591-F0ECDEAB2996}"/>
              </a:ext>
            </a:extLst>
          </p:cNvPr>
          <p:cNvSpPr txBox="1"/>
          <p:nvPr/>
        </p:nvSpPr>
        <p:spPr>
          <a:xfrm>
            <a:off x="850747" y="1108564"/>
            <a:ext cx="2634326" cy="26161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NZ" sz="1100" dirty="0"/>
              <a:t>Price distributions</a:t>
            </a:r>
          </a:p>
        </p:txBody>
      </p:sp>
      <p:pic>
        <p:nvPicPr>
          <p:cNvPr id="19" name="Picture 18">
            <a:extLst>
              <a:ext uri="{FF2B5EF4-FFF2-40B4-BE49-F238E27FC236}">
                <a16:creationId xmlns:a16="http://schemas.microsoft.com/office/drawing/2014/main" id="{6A735A2E-741D-9A2B-E0FF-3FEC6CAC5B3D}"/>
              </a:ext>
            </a:extLst>
          </p:cNvPr>
          <p:cNvPicPr>
            <a:picLocks noChangeAspect="1"/>
          </p:cNvPicPr>
          <p:nvPr/>
        </p:nvPicPr>
        <p:blipFill>
          <a:blip r:embed="rId4"/>
          <a:srcRect r="857"/>
          <a:stretch/>
        </p:blipFill>
        <p:spPr>
          <a:xfrm>
            <a:off x="3689704" y="1377829"/>
            <a:ext cx="2583208" cy="1948580"/>
          </a:xfrm>
          <a:prstGeom prst="rect">
            <a:avLst/>
          </a:prstGeom>
        </p:spPr>
      </p:pic>
      <p:sp>
        <p:nvSpPr>
          <p:cNvPr id="20" name="TextBox 19">
            <a:extLst>
              <a:ext uri="{FF2B5EF4-FFF2-40B4-BE49-F238E27FC236}">
                <a16:creationId xmlns:a16="http://schemas.microsoft.com/office/drawing/2014/main" id="{5A43BECA-95FD-B288-26AF-28C32D4A4E74}"/>
              </a:ext>
            </a:extLst>
          </p:cNvPr>
          <p:cNvSpPr txBox="1"/>
          <p:nvPr/>
        </p:nvSpPr>
        <p:spPr>
          <a:xfrm>
            <a:off x="3689703" y="1117190"/>
            <a:ext cx="2583209" cy="26161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NZ" sz="1100" dirty="0"/>
              <a:t>Minimum nights</a:t>
            </a:r>
          </a:p>
        </p:txBody>
      </p:sp>
      <p:pic>
        <p:nvPicPr>
          <p:cNvPr id="25" name="Picture 24">
            <a:extLst>
              <a:ext uri="{FF2B5EF4-FFF2-40B4-BE49-F238E27FC236}">
                <a16:creationId xmlns:a16="http://schemas.microsoft.com/office/drawing/2014/main" id="{BA4F1EAB-5B0D-9948-CB81-B5C1DF5AF1D4}"/>
              </a:ext>
            </a:extLst>
          </p:cNvPr>
          <p:cNvPicPr>
            <a:picLocks noChangeAspect="1"/>
          </p:cNvPicPr>
          <p:nvPr/>
        </p:nvPicPr>
        <p:blipFill>
          <a:blip r:embed="rId5"/>
          <a:stretch>
            <a:fillRect/>
          </a:stretch>
        </p:blipFill>
        <p:spPr>
          <a:xfrm>
            <a:off x="2318103" y="3800856"/>
            <a:ext cx="2593596" cy="1948580"/>
          </a:xfrm>
          <a:prstGeom prst="rect">
            <a:avLst/>
          </a:prstGeom>
        </p:spPr>
      </p:pic>
      <p:sp>
        <p:nvSpPr>
          <p:cNvPr id="26" name="TextBox 25">
            <a:extLst>
              <a:ext uri="{FF2B5EF4-FFF2-40B4-BE49-F238E27FC236}">
                <a16:creationId xmlns:a16="http://schemas.microsoft.com/office/drawing/2014/main" id="{2CF2FD5B-B7BC-25A5-4DD7-64B27226CD2A}"/>
              </a:ext>
            </a:extLst>
          </p:cNvPr>
          <p:cNvSpPr txBox="1"/>
          <p:nvPr/>
        </p:nvSpPr>
        <p:spPr>
          <a:xfrm>
            <a:off x="2319864" y="3561801"/>
            <a:ext cx="2583209" cy="26161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NZ" sz="1100" dirty="0"/>
              <a:t>Yearly Availability</a:t>
            </a:r>
          </a:p>
        </p:txBody>
      </p:sp>
      <p:sp>
        <p:nvSpPr>
          <p:cNvPr id="27" name="Rectangle 26">
            <a:extLst>
              <a:ext uri="{FF2B5EF4-FFF2-40B4-BE49-F238E27FC236}">
                <a16:creationId xmlns:a16="http://schemas.microsoft.com/office/drawing/2014/main" id="{9FBFCB34-6D33-2F95-F95B-F6CFBE2AC00E}"/>
              </a:ext>
            </a:extLst>
          </p:cNvPr>
          <p:cNvSpPr/>
          <p:nvPr/>
        </p:nvSpPr>
        <p:spPr>
          <a:xfrm>
            <a:off x="6648775" y="2344464"/>
            <a:ext cx="4692478" cy="2498778"/>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NZ" b="1" dirty="0">
                <a:solidFill>
                  <a:schemeClr val="tx1"/>
                </a:solidFill>
                <a:latin typeface="Bahnschrift" panose="020B0502040204020203" pitchFamily="34" charset="0"/>
              </a:rPr>
              <a:t>Details</a:t>
            </a:r>
          </a:p>
          <a:p>
            <a:pPr marL="285750" indent="-285750" algn="just">
              <a:buFontTx/>
              <a:buChar char="-"/>
            </a:pPr>
            <a:r>
              <a:rPr lang="en-NZ" b="1" dirty="0">
                <a:solidFill>
                  <a:schemeClr val="tx1"/>
                </a:solidFill>
                <a:latin typeface="Bahnschrift" panose="020B0502040204020203" pitchFamily="34" charset="0"/>
              </a:rPr>
              <a:t>The price distributions looks like uniform distributions</a:t>
            </a:r>
          </a:p>
          <a:p>
            <a:pPr marL="285750" indent="-285750" algn="just">
              <a:buFontTx/>
              <a:buChar char="-"/>
            </a:pPr>
            <a:r>
              <a:rPr lang="en-NZ" b="1" dirty="0">
                <a:solidFill>
                  <a:schemeClr val="tx1"/>
                </a:solidFill>
                <a:latin typeface="Bahnschrift" panose="020B0502040204020203" pitchFamily="34" charset="0"/>
              </a:rPr>
              <a:t>Minimum nights suggesting that most of the data ~50% lies between lower bins</a:t>
            </a:r>
          </a:p>
          <a:p>
            <a:pPr marL="285750" indent="-285750" algn="just">
              <a:buFontTx/>
              <a:buChar char="-"/>
            </a:pPr>
            <a:r>
              <a:rPr lang="en-NZ" b="1" dirty="0">
                <a:solidFill>
                  <a:schemeClr val="tx1"/>
                </a:solidFill>
                <a:latin typeface="Bahnschrift" panose="020B0502040204020203" pitchFamily="34" charset="0"/>
              </a:rPr>
              <a:t>Yearly availability skewed left suggesting lots of properties available.</a:t>
            </a:r>
            <a:endParaRPr lang="en-NZ"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438137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AF16E0-9DB7-A571-A96C-757B7C3C4B65}"/>
              </a:ext>
            </a:extLst>
          </p:cNvPr>
          <p:cNvSpPr/>
          <p:nvPr/>
        </p:nvSpPr>
        <p:spPr>
          <a:xfrm>
            <a:off x="850747" y="353964"/>
            <a:ext cx="10490506" cy="617775"/>
          </a:xfrm>
          <a:prstGeom prst="rect">
            <a:avLst/>
          </a:prstGeom>
          <a:solidFill>
            <a:srgbClr val="DB255D">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latin typeface="Bahnschrift" panose="020B0502040204020203" pitchFamily="34" charset="0"/>
              </a:rPr>
              <a:t>Distribution of the data – Numerical (Reviews)</a:t>
            </a:r>
          </a:p>
        </p:txBody>
      </p:sp>
      <p:sp>
        <p:nvSpPr>
          <p:cNvPr id="23" name="TextBox 22">
            <a:extLst>
              <a:ext uri="{FF2B5EF4-FFF2-40B4-BE49-F238E27FC236}">
                <a16:creationId xmlns:a16="http://schemas.microsoft.com/office/drawing/2014/main" id="{22A3F5C8-0A31-DE87-3617-F50E3A665031}"/>
              </a:ext>
            </a:extLst>
          </p:cNvPr>
          <p:cNvSpPr txBox="1"/>
          <p:nvPr/>
        </p:nvSpPr>
        <p:spPr>
          <a:xfrm>
            <a:off x="850747" y="1251777"/>
            <a:ext cx="2587704" cy="26161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NZ" sz="1100" dirty="0"/>
              <a:t>Number of reviews</a:t>
            </a:r>
          </a:p>
        </p:txBody>
      </p:sp>
      <p:sp>
        <p:nvSpPr>
          <p:cNvPr id="27" name="Rectangle 26">
            <a:extLst>
              <a:ext uri="{FF2B5EF4-FFF2-40B4-BE49-F238E27FC236}">
                <a16:creationId xmlns:a16="http://schemas.microsoft.com/office/drawing/2014/main" id="{9FBFCB34-6D33-2F95-F95B-F6CFBE2AC00E}"/>
              </a:ext>
            </a:extLst>
          </p:cNvPr>
          <p:cNvSpPr/>
          <p:nvPr/>
        </p:nvSpPr>
        <p:spPr>
          <a:xfrm>
            <a:off x="6648774" y="1984815"/>
            <a:ext cx="4692478" cy="2888370"/>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NZ" b="1" dirty="0">
                <a:solidFill>
                  <a:schemeClr val="tx1"/>
                </a:solidFill>
                <a:latin typeface="Bahnschrift" panose="020B0502040204020203" pitchFamily="34" charset="0"/>
              </a:rPr>
              <a:t>Details</a:t>
            </a:r>
          </a:p>
          <a:p>
            <a:pPr marL="285750" indent="-285750" algn="just">
              <a:buFontTx/>
              <a:buChar char="-"/>
            </a:pPr>
            <a:r>
              <a:rPr lang="en-NZ" dirty="0">
                <a:solidFill>
                  <a:schemeClr val="tx1"/>
                </a:solidFill>
                <a:latin typeface="Bahnschrift" panose="020B0502040204020203" pitchFamily="34" charset="0"/>
              </a:rPr>
              <a:t>Number of reviews skewed right suggesting most of the listings does not have reviews</a:t>
            </a:r>
          </a:p>
          <a:p>
            <a:pPr marL="285750" indent="-285750" algn="just">
              <a:buFontTx/>
              <a:buChar char="-"/>
            </a:pPr>
            <a:r>
              <a:rPr lang="en-NZ" dirty="0">
                <a:solidFill>
                  <a:schemeClr val="tx1"/>
                </a:solidFill>
                <a:latin typeface="Bahnschrift" panose="020B0502040204020203" pitchFamily="34" charset="0"/>
              </a:rPr>
              <a:t>Reviews per month used for data analysis as it has strongest corelation with price</a:t>
            </a:r>
          </a:p>
        </p:txBody>
      </p:sp>
      <p:pic>
        <p:nvPicPr>
          <p:cNvPr id="5" name="Picture 4">
            <a:extLst>
              <a:ext uri="{FF2B5EF4-FFF2-40B4-BE49-F238E27FC236}">
                <a16:creationId xmlns:a16="http://schemas.microsoft.com/office/drawing/2014/main" id="{4C7380EC-FDAC-73FD-DA79-B793C94203C4}"/>
              </a:ext>
            </a:extLst>
          </p:cNvPr>
          <p:cNvPicPr>
            <a:picLocks noChangeAspect="1"/>
          </p:cNvPicPr>
          <p:nvPr/>
        </p:nvPicPr>
        <p:blipFill>
          <a:blip r:embed="rId3"/>
          <a:stretch>
            <a:fillRect/>
          </a:stretch>
        </p:blipFill>
        <p:spPr>
          <a:xfrm>
            <a:off x="850748" y="1513387"/>
            <a:ext cx="2587704" cy="1753688"/>
          </a:xfrm>
          <a:prstGeom prst="rect">
            <a:avLst/>
          </a:prstGeom>
        </p:spPr>
      </p:pic>
      <p:pic>
        <p:nvPicPr>
          <p:cNvPr id="7" name="Picture 6">
            <a:extLst>
              <a:ext uri="{FF2B5EF4-FFF2-40B4-BE49-F238E27FC236}">
                <a16:creationId xmlns:a16="http://schemas.microsoft.com/office/drawing/2014/main" id="{BB8453E6-BEAC-D697-D0C2-9AEC3418BC9C}"/>
              </a:ext>
            </a:extLst>
          </p:cNvPr>
          <p:cNvPicPr>
            <a:picLocks noChangeAspect="1"/>
          </p:cNvPicPr>
          <p:nvPr/>
        </p:nvPicPr>
        <p:blipFill>
          <a:blip r:embed="rId4"/>
          <a:stretch>
            <a:fillRect/>
          </a:stretch>
        </p:blipFill>
        <p:spPr>
          <a:xfrm>
            <a:off x="3522683" y="1513387"/>
            <a:ext cx="2611094" cy="1753688"/>
          </a:xfrm>
          <a:prstGeom prst="rect">
            <a:avLst/>
          </a:prstGeom>
        </p:spPr>
      </p:pic>
      <p:sp>
        <p:nvSpPr>
          <p:cNvPr id="8" name="TextBox 7">
            <a:extLst>
              <a:ext uri="{FF2B5EF4-FFF2-40B4-BE49-F238E27FC236}">
                <a16:creationId xmlns:a16="http://schemas.microsoft.com/office/drawing/2014/main" id="{057E53F6-DA98-1274-7F69-79E8D51AD79C}"/>
              </a:ext>
            </a:extLst>
          </p:cNvPr>
          <p:cNvSpPr txBox="1"/>
          <p:nvPr/>
        </p:nvSpPr>
        <p:spPr>
          <a:xfrm>
            <a:off x="3522682" y="1251777"/>
            <a:ext cx="2611094" cy="26161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NZ" sz="1100" dirty="0"/>
              <a:t>Number of reviews last 12 month</a:t>
            </a:r>
          </a:p>
        </p:txBody>
      </p:sp>
      <p:pic>
        <p:nvPicPr>
          <p:cNvPr id="10" name="Picture 9">
            <a:extLst>
              <a:ext uri="{FF2B5EF4-FFF2-40B4-BE49-F238E27FC236}">
                <a16:creationId xmlns:a16="http://schemas.microsoft.com/office/drawing/2014/main" id="{CD3640A0-5FDB-4096-B73D-9AF7D6D6EF40}"/>
              </a:ext>
            </a:extLst>
          </p:cNvPr>
          <p:cNvPicPr>
            <a:picLocks noChangeAspect="1"/>
          </p:cNvPicPr>
          <p:nvPr/>
        </p:nvPicPr>
        <p:blipFill>
          <a:blip r:embed="rId5"/>
          <a:stretch>
            <a:fillRect/>
          </a:stretch>
        </p:blipFill>
        <p:spPr>
          <a:xfrm>
            <a:off x="785999" y="3928110"/>
            <a:ext cx="2652452" cy="1958975"/>
          </a:xfrm>
          <a:prstGeom prst="rect">
            <a:avLst/>
          </a:prstGeom>
        </p:spPr>
      </p:pic>
      <p:sp>
        <p:nvSpPr>
          <p:cNvPr id="11" name="TextBox 10">
            <a:extLst>
              <a:ext uri="{FF2B5EF4-FFF2-40B4-BE49-F238E27FC236}">
                <a16:creationId xmlns:a16="http://schemas.microsoft.com/office/drawing/2014/main" id="{12A73F82-0B1A-9F6F-82B8-06C1080F85E2}"/>
              </a:ext>
            </a:extLst>
          </p:cNvPr>
          <p:cNvSpPr txBox="1"/>
          <p:nvPr/>
        </p:nvSpPr>
        <p:spPr>
          <a:xfrm>
            <a:off x="786000" y="3675830"/>
            <a:ext cx="2651452" cy="26161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NZ" sz="1100" dirty="0"/>
              <a:t>Reviews per month</a:t>
            </a:r>
          </a:p>
        </p:txBody>
      </p:sp>
      <p:pic>
        <p:nvPicPr>
          <p:cNvPr id="6" name="Picture 5">
            <a:extLst>
              <a:ext uri="{FF2B5EF4-FFF2-40B4-BE49-F238E27FC236}">
                <a16:creationId xmlns:a16="http://schemas.microsoft.com/office/drawing/2014/main" id="{F51B2090-4DEA-3BAA-0DE4-38B6C7CF081C}"/>
              </a:ext>
            </a:extLst>
          </p:cNvPr>
          <p:cNvPicPr>
            <a:picLocks noChangeAspect="1"/>
          </p:cNvPicPr>
          <p:nvPr/>
        </p:nvPicPr>
        <p:blipFill>
          <a:blip r:embed="rId6"/>
          <a:stretch>
            <a:fillRect/>
          </a:stretch>
        </p:blipFill>
        <p:spPr>
          <a:xfrm>
            <a:off x="3553978" y="3675830"/>
            <a:ext cx="2579798" cy="2211255"/>
          </a:xfrm>
          <a:prstGeom prst="rect">
            <a:avLst/>
          </a:prstGeom>
        </p:spPr>
      </p:pic>
    </p:spTree>
    <p:extLst>
      <p:ext uri="{BB962C8B-B14F-4D97-AF65-F5344CB8AC3E}">
        <p14:creationId xmlns:p14="http://schemas.microsoft.com/office/powerpoint/2010/main" val="544874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AF16E0-9DB7-A571-A96C-757B7C3C4B65}"/>
              </a:ext>
            </a:extLst>
          </p:cNvPr>
          <p:cNvSpPr/>
          <p:nvPr/>
        </p:nvSpPr>
        <p:spPr>
          <a:xfrm>
            <a:off x="850747" y="353964"/>
            <a:ext cx="10490506" cy="617775"/>
          </a:xfrm>
          <a:prstGeom prst="rect">
            <a:avLst/>
          </a:prstGeom>
          <a:solidFill>
            <a:srgbClr val="DB255D">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latin typeface="Bahnschrift" panose="020B0502040204020203" pitchFamily="34" charset="0"/>
              </a:rPr>
              <a:t>Inferential Statistics Summary</a:t>
            </a:r>
          </a:p>
        </p:txBody>
      </p:sp>
      <p:sp>
        <p:nvSpPr>
          <p:cNvPr id="7" name="Rectangle 6">
            <a:extLst>
              <a:ext uri="{FF2B5EF4-FFF2-40B4-BE49-F238E27FC236}">
                <a16:creationId xmlns:a16="http://schemas.microsoft.com/office/drawing/2014/main" id="{6E27247A-79EC-9C06-0CCF-FC317F8EEA61}"/>
              </a:ext>
            </a:extLst>
          </p:cNvPr>
          <p:cNvSpPr/>
          <p:nvPr/>
        </p:nvSpPr>
        <p:spPr>
          <a:xfrm>
            <a:off x="850747" y="1259881"/>
            <a:ext cx="10490506" cy="4510298"/>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b="0" i="0" dirty="0">
                <a:solidFill>
                  <a:schemeClr val="tx1"/>
                </a:solidFill>
                <a:effectLst/>
                <a:latin typeface="Bahnschrift" panose="020B0502040204020203" pitchFamily="34" charset="0"/>
              </a:rPr>
              <a:t>From spearman test conducted for review metrics and price, p-value less than 0.05 and positive correlation.</a:t>
            </a:r>
          </a:p>
          <a:p>
            <a:pPr marL="285750" indent="-285750" algn="just">
              <a:buFont typeface="Arial" panose="020B0604020202020204" pitchFamily="34" charset="0"/>
              <a:buChar char="•"/>
            </a:pPr>
            <a:r>
              <a:rPr lang="en-US" b="0" i="0" dirty="0">
                <a:solidFill>
                  <a:schemeClr val="tx1"/>
                </a:solidFill>
                <a:effectLst/>
                <a:latin typeface="Bahnschrift" panose="020B0502040204020203" pitchFamily="34" charset="0"/>
              </a:rPr>
              <a:t>Using ANOVA for reviews per month across price segment, we got p value less than 0.05 meaning there is significant of price segment on review metrics</a:t>
            </a:r>
          </a:p>
          <a:p>
            <a:pPr marL="285750" indent="-285750" algn="just">
              <a:buFont typeface="Arial" panose="020B0604020202020204" pitchFamily="34" charset="0"/>
              <a:buChar char="•"/>
            </a:pPr>
            <a:r>
              <a:rPr lang="en-US" dirty="0">
                <a:solidFill>
                  <a:schemeClr val="tx1"/>
                </a:solidFill>
                <a:latin typeface="Bahnschrift" panose="020B0502040204020203" pitchFamily="34" charset="0"/>
              </a:rPr>
              <a:t>From spearman test conducted on correlation between count of listings and average price. p value is less than 0.05 with  positive correlation meaning that there is correlation between those two.</a:t>
            </a:r>
          </a:p>
          <a:p>
            <a:pPr marL="285750" indent="-285750" algn="just">
              <a:buFont typeface="Arial" panose="020B0604020202020204" pitchFamily="34" charset="0"/>
              <a:buChar char="•"/>
            </a:pPr>
            <a:r>
              <a:rPr lang="en-US" dirty="0">
                <a:solidFill>
                  <a:schemeClr val="tx1"/>
                </a:solidFill>
                <a:latin typeface="Bahnschrift" panose="020B0502040204020203" pitchFamily="34" charset="0"/>
              </a:rPr>
              <a:t>Using ANOVA to assess the relationship between average reviews across neighborhoods. P-value less than 0.05 indicating neighborhoods statistically differ in average reviews.</a:t>
            </a:r>
          </a:p>
          <a:p>
            <a:pPr marL="285750" indent="-285750" algn="just">
              <a:buFont typeface="Arial" panose="020B0604020202020204" pitchFamily="34" charset="0"/>
              <a:buChar char="•"/>
            </a:pPr>
            <a:r>
              <a:rPr lang="en-US" dirty="0">
                <a:solidFill>
                  <a:schemeClr val="tx1"/>
                </a:solidFill>
                <a:latin typeface="Bahnschrift" panose="020B0502040204020203" pitchFamily="34" charset="0"/>
              </a:rPr>
              <a:t>Using Chi Test for low and high reviews by host shown that p-value less than 0.05 meaning that there is association with host types and listing reviews group.</a:t>
            </a:r>
          </a:p>
          <a:p>
            <a:pPr marL="285750" indent="-285750" algn="just">
              <a:buFont typeface="Arial" panose="020B0604020202020204" pitchFamily="34" charset="0"/>
              <a:buChar char="•"/>
            </a:pPr>
            <a:r>
              <a:rPr lang="en-US" dirty="0">
                <a:solidFill>
                  <a:schemeClr val="tx1"/>
                </a:solidFill>
                <a:latin typeface="Bahnschrift" panose="020B0502040204020203" pitchFamily="34" charset="0"/>
              </a:rPr>
              <a:t>Using spearman conducted on correlation for minimum nights policy and availability, both of them shows that it constantly has p-value less than 0.05 with negative value indicating negative correlation</a:t>
            </a:r>
          </a:p>
          <a:p>
            <a:pPr marL="285750" indent="-285750" algn="just">
              <a:buFont typeface="Arial" panose="020B0604020202020204" pitchFamily="34" charset="0"/>
              <a:buChar char="•"/>
            </a:pPr>
            <a:endParaRPr lang="en-NZ" sz="1400"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2406012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7EB08D2-CF76-B0BA-5BCB-5574F0DA756F}"/>
              </a:ext>
            </a:extLst>
          </p:cNvPr>
          <p:cNvSpPr/>
          <p:nvPr/>
        </p:nvSpPr>
        <p:spPr>
          <a:xfrm>
            <a:off x="1986684" y="2495550"/>
            <a:ext cx="8218632" cy="1434141"/>
          </a:xfrm>
          <a:prstGeom prst="rect">
            <a:avLst/>
          </a:prstGeom>
          <a:solidFill>
            <a:srgbClr val="DB255D">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effectLst>
                <a:reflection stA="38000" endPos="65000" dist="50800" dir="5400000" sy="-100000" algn="bl" rotWithShape="0"/>
              </a:effectLst>
            </a:endParaRPr>
          </a:p>
        </p:txBody>
      </p:sp>
      <p:sp>
        <p:nvSpPr>
          <p:cNvPr id="2" name="Title 1">
            <a:extLst>
              <a:ext uri="{FF2B5EF4-FFF2-40B4-BE49-F238E27FC236}">
                <a16:creationId xmlns:a16="http://schemas.microsoft.com/office/drawing/2014/main" id="{33DF00AC-0D80-4511-A3B9-F4DCD88BF724}"/>
              </a:ext>
            </a:extLst>
          </p:cNvPr>
          <p:cNvSpPr>
            <a:spLocks noGrp="1"/>
          </p:cNvSpPr>
          <p:nvPr>
            <p:ph type="ctrTitle"/>
          </p:nvPr>
        </p:nvSpPr>
        <p:spPr>
          <a:xfrm>
            <a:off x="1986684" y="1671188"/>
            <a:ext cx="8218632" cy="1953883"/>
          </a:xfrm>
        </p:spPr>
        <p:txBody>
          <a:bodyPr>
            <a:noAutofit/>
          </a:bodyPr>
          <a:lstStyle/>
          <a:p>
            <a:r>
              <a:rPr lang="en-NZ" sz="4400" b="1" dirty="0">
                <a:solidFill>
                  <a:schemeClr val="bg1"/>
                </a:solidFill>
                <a:effectLst>
                  <a:outerShdw blurRad="50800" dist="38100" dir="2700000" algn="tl" rotWithShape="0">
                    <a:prstClr val="black">
                      <a:alpha val="40000"/>
                    </a:prstClr>
                  </a:outerShdw>
                </a:effectLst>
                <a:latin typeface="Bahnschrift" panose="020B0502040204020203" pitchFamily="34" charset="0"/>
              </a:rPr>
              <a:t>Pricing Analysis</a:t>
            </a:r>
          </a:p>
        </p:txBody>
      </p:sp>
      <p:pic>
        <p:nvPicPr>
          <p:cNvPr id="1026" name="Picture 2" descr="Airbnb Logo History">
            <a:extLst>
              <a:ext uri="{FF2B5EF4-FFF2-40B4-BE49-F238E27FC236}">
                <a16:creationId xmlns:a16="http://schemas.microsoft.com/office/drawing/2014/main" id="{5108C76A-7F9D-6C3F-E7B6-A22608EA2CA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054" b="95969" l="9932" r="89932">
                        <a14:foregroundMark x1="52232" y1="9622" x2="53787" y2="9469"/>
                        <a14:foregroundMark x1="43356" y1="10493" x2="44704" y2="10360"/>
                        <a14:foregroundMark x1="46893" y1="5246" x2="49615" y2="5246"/>
                        <a14:foregroundMark x1="27664" y1="82790" x2="24036" y2="83237"/>
                        <a14:foregroundMark x1="24898" y1="94562" x2="26984" y2="93922"/>
                        <a14:foregroundMark x1="34331" y1="83749" x2="33696" y2="90403"/>
                        <a14:foregroundMark x1="34558" y1="76903" x2="34558" y2="76903"/>
                        <a14:foregroundMark x1="41789" y1="81375" x2="41587" y2="82470"/>
                        <a14:foregroundMark x1="39184" y1="95521" x2="39941" y2="91411"/>
                        <a14:foregroundMark x1="46893" y1="77223" x2="46531" y2="95969"/>
                        <a14:foregroundMark x1="58957" y1="83877" x2="58095" y2="93346"/>
                        <a14:foregroundMark x1="69433" y1="76711" x2="69297" y2="80486"/>
                        <a14:foregroundMark x1="40544" y1="83429" x2="40952" y2="84005"/>
                        <a14:foregroundMark x1="41859" y1="83301" x2="38957" y2="83749"/>
                        <a14:foregroundMark x1="39758" y1="89083" x2="39138" y2="91875"/>
                        <a14:backgroundMark x1="46395" y1="13180" x2="47392" y2="10940"/>
                        <a14:backgroundMark x1="46304" y1="10365" x2="48209" y2="9789"/>
                        <a14:backgroundMark x1="48617" y1="9469" x2="50522" y2="10237"/>
                        <a14:backgroundMark x1="48027" y1="9917" x2="48707" y2="10621"/>
                        <a14:backgroundMark x1="48798" y1="9789" x2="49932" y2="10237"/>
                        <a14:backgroundMark x1="48798" y1="10237" x2="45986" y2="10813"/>
                        <a14:backgroundMark x1="46803" y1="10365" x2="45306" y2="11388"/>
                        <a14:backgroundMark x1="49342" y1="9469" x2="50839" y2="10109"/>
                        <a14:backgroundMark x1="48798" y1="9789" x2="50023" y2="10237"/>
                        <a14:backgroundMark x1="48299" y1="10045" x2="50340" y2="10365"/>
                        <a14:backgroundMark x1="50431" y1="10045" x2="51066" y2="10365"/>
                        <a14:backgroundMark x1="50249" y1="9341" x2="51474" y2="10621"/>
                        <a14:backgroundMark x1="45306" y1="10365" x2="44807" y2="11068"/>
                        <a14:backgroundMark x1="44490" y1="11196" x2="44807" y2="11196"/>
                        <a14:backgroundMark x1="44717" y1="10813" x2="44717" y2="10813"/>
                        <a14:backgroundMark x1="45079" y1="11388" x2="44490" y2="11068"/>
                        <a14:backgroundMark x1="41678" y1="90275" x2="41179" y2="85988"/>
                        <a14:backgroundMark x1="41542" y1="90595" x2="41361" y2="86308"/>
                        <a14:backgroundMark x1="41088" y1="90595" x2="41270" y2="86180"/>
                        <a14:backgroundMark x1="40952" y1="91299" x2="41047" y2="86921"/>
                        <a14:backgroundMark x1="40544" y1="91427" x2="40590" y2="88978"/>
                        <a14:backgroundMark x1="40862" y1="91555" x2="41292" y2="85817"/>
                        <a14:backgroundMark x1="40454" y1="90979" x2="40796" y2="88050"/>
                        <a14:backgroundMark x1="40136" y1="90595" x2="42494" y2="84581"/>
                        <a14:backgroundMark x1="41270" y1="90979" x2="41995" y2="84709"/>
                        <a14:backgroundMark x1="41769" y1="85733" x2="41475" y2="84995"/>
                        <a14:backgroundMark x1="41361" y1="92386" x2="41361" y2="85733"/>
                        <a14:backgroundMark x1="41043" y1="85733" x2="40635" y2="86564"/>
                        <a14:backgroundMark x1="41451" y1="85477" x2="40272" y2="86436"/>
                        <a14:backgroundMark x1="41179" y1="85413" x2="40680" y2="89315"/>
                        <a14:backgroundMark x1="40544" y1="87716" x2="40544" y2="90275"/>
                        <a14:backgroundMark x1="41270" y1="85988" x2="41179" y2="85413"/>
                      </a14:backgroundRemoval>
                    </a14:imgEffect>
                  </a14:imgLayer>
                </a14:imgProps>
              </a:ext>
              <a:ext uri="{28A0092B-C50C-407E-A947-70E740481C1C}">
                <a14:useLocalDpi xmlns:a14="http://schemas.microsoft.com/office/drawing/2010/main" val="0"/>
              </a:ext>
            </a:extLst>
          </a:blip>
          <a:srcRect/>
          <a:stretch>
            <a:fillRect/>
          </a:stretch>
        </p:blipFill>
        <p:spPr bwMode="auto">
          <a:xfrm>
            <a:off x="0" y="287547"/>
            <a:ext cx="2126843" cy="1507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6350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AF16E0-9DB7-A571-A96C-757B7C3C4B65}"/>
              </a:ext>
            </a:extLst>
          </p:cNvPr>
          <p:cNvSpPr/>
          <p:nvPr/>
        </p:nvSpPr>
        <p:spPr>
          <a:xfrm>
            <a:off x="850747" y="353964"/>
            <a:ext cx="10490506" cy="617775"/>
          </a:xfrm>
          <a:prstGeom prst="rect">
            <a:avLst/>
          </a:prstGeom>
          <a:solidFill>
            <a:srgbClr val="DB255D">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How Price Impacts Booking Success?</a:t>
            </a:r>
            <a:endParaRPr lang="en-NZ" sz="2400" dirty="0">
              <a:solidFill>
                <a:schemeClr val="tx1"/>
              </a:solidFill>
              <a:latin typeface="Bahnschrift" panose="020B0502040204020203" pitchFamily="34" charset="0"/>
            </a:endParaRPr>
          </a:p>
        </p:txBody>
      </p:sp>
      <p:sp>
        <p:nvSpPr>
          <p:cNvPr id="5" name="Rectangle 4">
            <a:extLst>
              <a:ext uri="{FF2B5EF4-FFF2-40B4-BE49-F238E27FC236}">
                <a16:creationId xmlns:a16="http://schemas.microsoft.com/office/drawing/2014/main" id="{24E0D589-10C1-7728-1C71-CDB930AC49EE}"/>
              </a:ext>
            </a:extLst>
          </p:cNvPr>
          <p:cNvSpPr/>
          <p:nvPr/>
        </p:nvSpPr>
        <p:spPr>
          <a:xfrm>
            <a:off x="5608911" y="1180384"/>
            <a:ext cx="2578253" cy="2368685"/>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Bahnschrift" panose="020B0502040204020203" pitchFamily="34" charset="0"/>
              </a:rPr>
              <a:t>Counter-intuitively, higher-priced listings attract more reviews overall, suggesting that quality and perceived value drive bookings in Bangkok's Airbnb market.</a:t>
            </a:r>
            <a:endParaRPr lang="en-NZ" dirty="0">
              <a:solidFill>
                <a:schemeClr val="tx1"/>
              </a:solidFill>
              <a:latin typeface="Bahnschrift" panose="020B0502040204020203" pitchFamily="34" charset="0"/>
            </a:endParaRPr>
          </a:p>
        </p:txBody>
      </p:sp>
      <p:pic>
        <p:nvPicPr>
          <p:cNvPr id="7" name="Picture 6">
            <a:extLst>
              <a:ext uri="{FF2B5EF4-FFF2-40B4-BE49-F238E27FC236}">
                <a16:creationId xmlns:a16="http://schemas.microsoft.com/office/drawing/2014/main" id="{C2EF3B1F-57ED-DAB0-D2C2-1BB4B8A5970D}"/>
              </a:ext>
            </a:extLst>
          </p:cNvPr>
          <p:cNvPicPr>
            <a:picLocks noChangeAspect="1"/>
          </p:cNvPicPr>
          <p:nvPr/>
        </p:nvPicPr>
        <p:blipFill>
          <a:blip r:embed="rId3"/>
          <a:stretch>
            <a:fillRect/>
          </a:stretch>
        </p:blipFill>
        <p:spPr>
          <a:xfrm>
            <a:off x="860632" y="1388202"/>
            <a:ext cx="2374106" cy="1726257"/>
          </a:xfrm>
          <a:prstGeom prst="rect">
            <a:avLst/>
          </a:prstGeom>
        </p:spPr>
      </p:pic>
      <p:pic>
        <p:nvPicPr>
          <p:cNvPr id="10" name="Picture 9">
            <a:extLst>
              <a:ext uri="{FF2B5EF4-FFF2-40B4-BE49-F238E27FC236}">
                <a16:creationId xmlns:a16="http://schemas.microsoft.com/office/drawing/2014/main" id="{594300FA-5002-6D3B-A895-2628CB49F5C2}"/>
              </a:ext>
            </a:extLst>
          </p:cNvPr>
          <p:cNvPicPr>
            <a:picLocks noChangeAspect="1"/>
          </p:cNvPicPr>
          <p:nvPr/>
        </p:nvPicPr>
        <p:blipFill>
          <a:blip r:embed="rId4"/>
          <a:stretch>
            <a:fillRect/>
          </a:stretch>
        </p:blipFill>
        <p:spPr>
          <a:xfrm>
            <a:off x="860632" y="3985914"/>
            <a:ext cx="3528893" cy="2110740"/>
          </a:xfrm>
          <a:prstGeom prst="rect">
            <a:avLst/>
          </a:prstGeom>
        </p:spPr>
      </p:pic>
      <p:pic>
        <p:nvPicPr>
          <p:cNvPr id="12" name="Picture 11">
            <a:extLst>
              <a:ext uri="{FF2B5EF4-FFF2-40B4-BE49-F238E27FC236}">
                <a16:creationId xmlns:a16="http://schemas.microsoft.com/office/drawing/2014/main" id="{43192857-D01C-645A-4EF2-45C172824DE7}"/>
              </a:ext>
            </a:extLst>
          </p:cNvPr>
          <p:cNvPicPr>
            <a:picLocks noChangeAspect="1"/>
          </p:cNvPicPr>
          <p:nvPr/>
        </p:nvPicPr>
        <p:blipFill>
          <a:blip r:embed="rId5"/>
          <a:srcRect l="2372"/>
          <a:stretch/>
        </p:blipFill>
        <p:spPr>
          <a:xfrm>
            <a:off x="4212476" y="3985915"/>
            <a:ext cx="1156090" cy="830580"/>
          </a:xfrm>
          <a:prstGeom prst="rect">
            <a:avLst/>
          </a:prstGeom>
        </p:spPr>
      </p:pic>
      <p:sp>
        <p:nvSpPr>
          <p:cNvPr id="13" name="Rectangle 12">
            <a:extLst>
              <a:ext uri="{FF2B5EF4-FFF2-40B4-BE49-F238E27FC236}">
                <a16:creationId xmlns:a16="http://schemas.microsoft.com/office/drawing/2014/main" id="{4CA783C8-5A19-F8CA-7CBC-4B6AF41FFD71}"/>
              </a:ext>
            </a:extLst>
          </p:cNvPr>
          <p:cNvSpPr/>
          <p:nvPr/>
        </p:nvSpPr>
        <p:spPr>
          <a:xfrm>
            <a:off x="5608911" y="3934432"/>
            <a:ext cx="2516275" cy="2223182"/>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Bahnschrift" panose="020B0502040204020203" pitchFamily="34" charset="0"/>
              </a:rPr>
              <a:t>However, this trend diverges by room type: shared rooms and private rooms perform better at lower price points, reflecting backpacker budget preferences</a:t>
            </a:r>
            <a:endParaRPr lang="en-NZ" dirty="0">
              <a:solidFill>
                <a:schemeClr val="tx1"/>
              </a:solidFill>
              <a:latin typeface="Bahnschrift" panose="020B0502040204020203" pitchFamily="34" charset="0"/>
            </a:endParaRPr>
          </a:p>
        </p:txBody>
      </p:sp>
      <p:sp>
        <p:nvSpPr>
          <p:cNvPr id="14" name="Rectangle 13">
            <a:extLst>
              <a:ext uri="{FF2B5EF4-FFF2-40B4-BE49-F238E27FC236}">
                <a16:creationId xmlns:a16="http://schemas.microsoft.com/office/drawing/2014/main" id="{05787CC5-61C6-DD93-FE4F-5BEDE9DD26AD}"/>
              </a:ext>
            </a:extLst>
          </p:cNvPr>
          <p:cNvSpPr/>
          <p:nvPr/>
        </p:nvSpPr>
        <p:spPr>
          <a:xfrm>
            <a:off x="4224669" y="4816495"/>
            <a:ext cx="1143897" cy="128015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5" name="Arrow: Right 14">
            <a:extLst>
              <a:ext uri="{FF2B5EF4-FFF2-40B4-BE49-F238E27FC236}">
                <a16:creationId xmlns:a16="http://schemas.microsoft.com/office/drawing/2014/main" id="{FB427DF2-9AD7-D179-F396-4603FD7AF7F3}"/>
              </a:ext>
            </a:extLst>
          </p:cNvPr>
          <p:cNvSpPr/>
          <p:nvPr/>
        </p:nvSpPr>
        <p:spPr>
          <a:xfrm>
            <a:off x="8437397" y="2066155"/>
            <a:ext cx="236220" cy="2725690"/>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6" name="Rectangle 15">
            <a:extLst>
              <a:ext uri="{FF2B5EF4-FFF2-40B4-BE49-F238E27FC236}">
                <a16:creationId xmlns:a16="http://schemas.microsoft.com/office/drawing/2014/main" id="{53D8EA44-77C4-17B1-E422-EBFBB774A933}"/>
              </a:ext>
            </a:extLst>
          </p:cNvPr>
          <p:cNvSpPr/>
          <p:nvPr/>
        </p:nvSpPr>
        <p:spPr>
          <a:xfrm>
            <a:off x="8790556" y="1180384"/>
            <a:ext cx="2550697" cy="2368685"/>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NZ" b="1" dirty="0">
                <a:solidFill>
                  <a:schemeClr val="tx1"/>
                </a:solidFill>
                <a:latin typeface="Bahnschrift" panose="020B0502040204020203" pitchFamily="34" charset="0"/>
              </a:rPr>
              <a:t>Why? </a:t>
            </a:r>
            <a:r>
              <a:rPr lang="en-US" dirty="0">
                <a:solidFill>
                  <a:schemeClr val="tx1"/>
                </a:solidFill>
                <a:latin typeface="Bahnschrift" panose="020B0502040204020203" pitchFamily="34" charset="0"/>
              </a:rPr>
              <a:t>Backpackers prioritize cost-effectiveness and community experiences (shared/private rooms)</a:t>
            </a:r>
            <a:endParaRPr lang="en-NZ" dirty="0">
              <a:solidFill>
                <a:schemeClr val="tx1"/>
              </a:solidFill>
              <a:latin typeface="Bahnschrift" panose="020B0502040204020203" pitchFamily="34" charset="0"/>
            </a:endParaRPr>
          </a:p>
        </p:txBody>
      </p:sp>
      <p:pic>
        <p:nvPicPr>
          <p:cNvPr id="18" name="Picture 17">
            <a:extLst>
              <a:ext uri="{FF2B5EF4-FFF2-40B4-BE49-F238E27FC236}">
                <a16:creationId xmlns:a16="http://schemas.microsoft.com/office/drawing/2014/main" id="{530DEC27-E0A3-79E3-38AF-F0FA2C88BE8F}"/>
              </a:ext>
            </a:extLst>
          </p:cNvPr>
          <p:cNvPicPr>
            <a:picLocks noChangeAspect="1"/>
          </p:cNvPicPr>
          <p:nvPr/>
        </p:nvPicPr>
        <p:blipFill>
          <a:blip r:embed="rId6"/>
          <a:stretch>
            <a:fillRect/>
          </a:stretch>
        </p:blipFill>
        <p:spPr>
          <a:xfrm>
            <a:off x="3322134" y="1388202"/>
            <a:ext cx="2199380" cy="1737029"/>
          </a:xfrm>
          <a:prstGeom prst="rect">
            <a:avLst/>
          </a:prstGeom>
        </p:spPr>
      </p:pic>
      <p:sp>
        <p:nvSpPr>
          <p:cNvPr id="3" name="Rectangle 2">
            <a:extLst>
              <a:ext uri="{FF2B5EF4-FFF2-40B4-BE49-F238E27FC236}">
                <a16:creationId xmlns:a16="http://schemas.microsoft.com/office/drawing/2014/main" id="{2A7D2E5B-CBDF-0111-0E4D-5EA7280E2F35}"/>
              </a:ext>
            </a:extLst>
          </p:cNvPr>
          <p:cNvSpPr/>
          <p:nvPr/>
        </p:nvSpPr>
        <p:spPr>
          <a:xfrm>
            <a:off x="8790555" y="3744803"/>
            <a:ext cx="2550697" cy="2368685"/>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Bahnschrift" panose="020B0502040204020203" pitchFamily="34" charset="0"/>
              </a:rPr>
              <a:t>pricing below 1,200 THB for these room types increases competitiveness and attracts more bookings</a:t>
            </a:r>
            <a:endParaRPr lang="en-NZ"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3799496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AF16E0-9DB7-A571-A96C-757B7C3C4B65}"/>
              </a:ext>
            </a:extLst>
          </p:cNvPr>
          <p:cNvSpPr/>
          <p:nvPr/>
        </p:nvSpPr>
        <p:spPr>
          <a:xfrm>
            <a:off x="850747" y="353964"/>
            <a:ext cx="10490506" cy="617775"/>
          </a:xfrm>
          <a:prstGeom prst="rect">
            <a:avLst/>
          </a:prstGeom>
          <a:solidFill>
            <a:srgbClr val="DB255D">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latin typeface="Bahnschrift" panose="020B0502040204020203" pitchFamily="34" charset="0"/>
              </a:rPr>
              <a:t>Pricing Analysis – Neighbourhoods and room type</a:t>
            </a:r>
          </a:p>
        </p:txBody>
      </p:sp>
      <p:sp>
        <p:nvSpPr>
          <p:cNvPr id="16" name="Rectangle 15">
            <a:extLst>
              <a:ext uri="{FF2B5EF4-FFF2-40B4-BE49-F238E27FC236}">
                <a16:creationId xmlns:a16="http://schemas.microsoft.com/office/drawing/2014/main" id="{53D8EA44-77C4-17B1-E422-EBFBB774A933}"/>
              </a:ext>
            </a:extLst>
          </p:cNvPr>
          <p:cNvSpPr/>
          <p:nvPr/>
        </p:nvSpPr>
        <p:spPr>
          <a:xfrm>
            <a:off x="850747" y="3965171"/>
            <a:ext cx="10490506" cy="1886989"/>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Bahnschrift" panose="020B0502040204020203" pitchFamily="34" charset="0"/>
              </a:rPr>
              <a:t>Key Findings:</a:t>
            </a:r>
          </a:p>
          <a:p>
            <a:r>
              <a:rPr lang="en-US" dirty="0">
                <a:solidFill>
                  <a:schemeClr val="tx1"/>
                </a:solidFill>
                <a:latin typeface="Bahnschrift" panose="020B0502040204020203" pitchFamily="34" charset="0"/>
              </a:rPr>
              <a:t>1. Geographic Premium: Central neighborhoods (</a:t>
            </a:r>
            <a:r>
              <a:rPr lang="en-US" dirty="0" err="1">
                <a:solidFill>
                  <a:schemeClr val="tx1"/>
                </a:solidFill>
                <a:latin typeface="Bahnschrift" panose="020B0502040204020203" pitchFamily="34" charset="0"/>
              </a:rPr>
              <a:t>Vadhana</a:t>
            </a:r>
            <a:r>
              <a:rPr lang="en-US" dirty="0">
                <a:solidFill>
                  <a:schemeClr val="tx1"/>
                </a:solidFill>
                <a:latin typeface="Bahnschrift" panose="020B0502040204020203" pitchFamily="34" charset="0"/>
              </a:rPr>
              <a:t>, </a:t>
            </a:r>
            <a:r>
              <a:rPr lang="en-US" dirty="0" err="1">
                <a:solidFill>
                  <a:schemeClr val="tx1"/>
                </a:solidFill>
                <a:latin typeface="Bahnschrift" panose="020B0502040204020203" pitchFamily="34" charset="0"/>
              </a:rPr>
              <a:t>Ratchathewi</a:t>
            </a:r>
            <a:r>
              <a:rPr lang="en-US" dirty="0">
                <a:solidFill>
                  <a:schemeClr val="tx1"/>
                </a:solidFill>
                <a:latin typeface="Bahnschrift" panose="020B0502040204020203" pitchFamily="34" charset="0"/>
              </a:rPr>
              <a:t>) charge 200-300 THB more than peripheral areas</a:t>
            </a:r>
          </a:p>
          <a:p>
            <a:r>
              <a:rPr lang="en-US" dirty="0">
                <a:solidFill>
                  <a:schemeClr val="tx1"/>
                </a:solidFill>
                <a:latin typeface="Bahnschrift" panose="020B0502040204020203" pitchFamily="34" charset="0"/>
              </a:rPr>
              <a:t>2. Room Type Hierarchy: Entire homes and hotel rooms are 2-3x more expensive than shared rooms</a:t>
            </a:r>
          </a:p>
          <a:p>
            <a:pPr algn="just"/>
            <a:r>
              <a:rPr lang="en-US" dirty="0">
                <a:solidFill>
                  <a:schemeClr val="tx1"/>
                </a:solidFill>
                <a:latin typeface="Bahnschrift" panose="020B0502040204020203" pitchFamily="34" charset="0"/>
              </a:rPr>
              <a:t>3. Backpacker Sweet Spot: Private rooms in mid-tier neighborhoods balance price and accessibility</a:t>
            </a:r>
            <a:endParaRPr lang="en-NZ" dirty="0">
              <a:solidFill>
                <a:schemeClr val="tx1"/>
              </a:solidFill>
              <a:latin typeface="Bahnschrift" panose="020B0502040204020203" pitchFamily="34" charset="0"/>
            </a:endParaRPr>
          </a:p>
        </p:txBody>
      </p:sp>
      <p:pic>
        <p:nvPicPr>
          <p:cNvPr id="20" name="Picture 19">
            <a:extLst>
              <a:ext uri="{FF2B5EF4-FFF2-40B4-BE49-F238E27FC236}">
                <a16:creationId xmlns:a16="http://schemas.microsoft.com/office/drawing/2014/main" id="{40737B19-F8B4-DFA9-9120-4E62E5ACB038}"/>
              </a:ext>
            </a:extLst>
          </p:cNvPr>
          <p:cNvPicPr>
            <a:picLocks noChangeAspect="1"/>
          </p:cNvPicPr>
          <p:nvPr/>
        </p:nvPicPr>
        <p:blipFill>
          <a:blip r:embed="rId3"/>
          <a:stretch>
            <a:fillRect/>
          </a:stretch>
        </p:blipFill>
        <p:spPr>
          <a:xfrm>
            <a:off x="3918373" y="1124331"/>
            <a:ext cx="3115119" cy="2418903"/>
          </a:xfrm>
          <a:prstGeom prst="rect">
            <a:avLst/>
          </a:prstGeom>
        </p:spPr>
      </p:pic>
      <p:pic>
        <p:nvPicPr>
          <p:cNvPr id="22" name="Picture 21">
            <a:extLst>
              <a:ext uri="{FF2B5EF4-FFF2-40B4-BE49-F238E27FC236}">
                <a16:creationId xmlns:a16="http://schemas.microsoft.com/office/drawing/2014/main" id="{88A865C2-CEF1-FD28-0756-FD6188149459}"/>
              </a:ext>
            </a:extLst>
          </p:cNvPr>
          <p:cNvPicPr>
            <a:picLocks noChangeAspect="1"/>
          </p:cNvPicPr>
          <p:nvPr/>
        </p:nvPicPr>
        <p:blipFill>
          <a:blip r:embed="rId4"/>
          <a:stretch>
            <a:fillRect/>
          </a:stretch>
        </p:blipFill>
        <p:spPr>
          <a:xfrm>
            <a:off x="850747" y="1124331"/>
            <a:ext cx="2756696" cy="2418903"/>
          </a:xfrm>
          <a:prstGeom prst="rect">
            <a:avLst/>
          </a:prstGeom>
        </p:spPr>
      </p:pic>
      <p:pic>
        <p:nvPicPr>
          <p:cNvPr id="4" name="Picture 3">
            <a:extLst>
              <a:ext uri="{FF2B5EF4-FFF2-40B4-BE49-F238E27FC236}">
                <a16:creationId xmlns:a16="http://schemas.microsoft.com/office/drawing/2014/main" id="{6414B735-4F00-D824-D31B-9329B760526F}"/>
              </a:ext>
            </a:extLst>
          </p:cNvPr>
          <p:cNvPicPr>
            <a:picLocks noChangeAspect="1"/>
          </p:cNvPicPr>
          <p:nvPr/>
        </p:nvPicPr>
        <p:blipFill>
          <a:blip r:embed="rId5"/>
          <a:srcRect l="9200" r="3329"/>
          <a:stretch/>
        </p:blipFill>
        <p:spPr>
          <a:xfrm>
            <a:off x="7381702" y="1124331"/>
            <a:ext cx="3959551" cy="2411998"/>
          </a:xfrm>
          <a:prstGeom prst="rect">
            <a:avLst/>
          </a:prstGeom>
        </p:spPr>
      </p:pic>
      <p:sp>
        <p:nvSpPr>
          <p:cNvPr id="5" name="TextBox 4">
            <a:extLst>
              <a:ext uri="{FF2B5EF4-FFF2-40B4-BE49-F238E27FC236}">
                <a16:creationId xmlns:a16="http://schemas.microsoft.com/office/drawing/2014/main" id="{78B2C509-5008-55FC-3F26-F5F8E2CADDC6}"/>
              </a:ext>
            </a:extLst>
          </p:cNvPr>
          <p:cNvSpPr txBox="1"/>
          <p:nvPr/>
        </p:nvSpPr>
        <p:spPr>
          <a:xfrm>
            <a:off x="7381702" y="1124331"/>
            <a:ext cx="1629294" cy="43088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NZ" sz="1100" dirty="0"/>
              <a:t>Neighbour hood map with average price hue</a:t>
            </a:r>
          </a:p>
        </p:txBody>
      </p:sp>
    </p:spTree>
    <p:extLst>
      <p:ext uri="{BB962C8B-B14F-4D97-AF65-F5344CB8AC3E}">
        <p14:creationId xmlns:p14="http://schemas.microsoft.com/office/powerpoint/2010/main" val="3489113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3875999-1729-49E5-5E73-057763A9D997}"/>
              </a:ext>
            </a:extLst>
          </p:cNvPr>
          <p:cNvSpPr/>
          <p:nvPr/>
        </p:nvSpPr>
        <p:spPr>
          <a:xfrm>
            <a:off x="1986684" y="2835935"/>
            <a:ext cx="8218632" cy="1434141"/>
          </a:xfrm>
          <a:prstGeom prst="rect">
            <a:avLst/>
          </a:prstGeom>
          <a:solidFill>
            <a:srgbClr val="DB255D">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effectLst>
                <a:reflection stA="38000" endPos="65000" dist="50800" dir="5400000" sy="-100000" algn="bl" rotWithShape="0"/>
              </a:effectLst>
            </a:endParaRPr>
          </a:p>
        </p:txBody>
      </p:sp>
      <p:sp>
        <p:nvSpPr>
          <p:cNvPr id="2" name="Title 1">
            <a:extLst>
              <a:ext uri="{FF2B5EF4-FFF2-40B4-BE49-F238E27FC236}">
                <a16:creationId xmlns:a16="http://schemas.microsoft.com/office/drawing/2014/main" id="{33DF00AC-0D80-4511-A3B9-F4DCD88BF724}"/>
              </a:ext>
            </a:extLst>
          </p:cNvPr>
          <p:cNvSpPr>
            <a:spLocks noGrp="1"/>
          </p:cNvSpPr>
          <p:nvPr>
            <p:ph type="ctrTitle"/>
          </p:nvPr>
        </p:nvSpPr>
        <p:spPr>
          <a:xfrm>
            <a:off x="3024996" y="1984076"/>
            <a:ext cx="6142008" cy="1953883"/>
          </a:xfrm>
        </p:spPr>
        <p:txBody>
          <a:bodyPr>
            <a:noAutofit/>
          </a:bodyPr>
          <a:lstStyle/>
          <a:p>
            <a:r>
              <a:rPr lang="en-NZ" sz="4400" b="1" dirty="0">
                <a:solidFill>
                  <a:schemeClr val="bg1"/>
                </a:solidFill>
                <a:effectLst>
                  <a:outerShdw blurRad="50800" dist="38100" dir="2700000" algn="tl" rotWithShape="0">
                    <a:prstClr val="black">
                      <a:alpha val="40000"/>
                    </a:prstClr>
                  </a:outerShdw>
                </a:effectLst>
                <a:latin typeface="Bahnschrift" panose="020B0502040204020203" pitchFamily="34" charset="0"/>
              </a:rPr>
              <a:t>Geographic Analysis</a:t>
            </a:r>
          </a:p>
        </p:txBody>
      </p:sp>
      <p:pic>
        <p:nvPicPr>
          <p:cNvPr id="1026" name="Picture 2" descr="Airbnb Logo History">
            <a:extLst>
              <a:ext uri="{FF2B5EF4-FFF2-40B4-BE49-F238E27FC236}">
                <a16:creationId xmlns:a16="http://schemas.microsoft.com/office/drawing/2014/main" id="{5108C76A-7F9D-6C3F-E7B6-A22608EA2CA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054" b="95969" l="9932" r="89932">
                        <a14:foregroundMark x1="52232" y1="9622" x2="53787" y2="9469"/>
                        <a14:foregroundMark x1="43356" y1="10493" x2="44704" y2="10360"/>
                        <a14:foregroundMark x1="46893" y1="5246" x2="49615" y2="5246"/>
                        <a14:foregroundMark x1="27664" y1="82790" x2="24036" y2="83237"/>
                        <a14:foregroundMark x1="24898" y1="94562" x2="26984" y2="93922"/>
                        <a14:foregroundMark x1="34331" y1="83749" x2="33696" y2="90403"/>
                        <a14:foregroundMark x1="34558" y1="76903" x2="34558" y2="76903"/>
                        <a14:foregroundMark x1="41789" y1="81375" x2="41587" y2="82470"/>
                        <a14:foregroundMark x1="39184" y1="95521" x2="39941" y2="91411"/>
                        <a14:foregroundMark x1="46893" y1="77223" x2="46531" y2="95969"/>
                        <a14:foregroundMark x1="58957" y1="83877" x2="58095" y2="93346"/>
                        <a14:foregroundMark x1="69433" y1="76711" x2="69297" y2="80486"/>
                        <a14:foregroundMark x1="40544" y1="83429" x2="40952" y2="84005"/>
                        <a14:foregroundMark x1="41859" y1="83301" x2="38957" y2="83749"/>
                        <a14:foregroundMark x1="39758" y1="89083" x2="39138" y2="91875"/>
                        <a14:backgroundMark x1="46395" y1="13180" x2="47392" y2="10940"/>
                        <a14:backgroundMark x1="46304" y1="10365" x2="48209" y2="9789"/>
                        <a14:backgroundMark x1="48617" y1="9469" x2="50522" y2="10237"/>
                        <a14:backgroundMark x1="48027" y1="9917" x2="48707" y2="10621"/>
                        <a14:backgroundMark x1="48798" y1="9789" x2="49932" y2="10237"/>
                        <a14:backgroundMark x1="48798" y1="10237" x2="45986" y2="10813"/>
                        <a14:backgroundMark x1="46803" y1="10365" x2="45306" y2="11388"/>
                        <a14:backgroundMark x1="49342" y1="9469" x2="50839" y2="10109"/>
                        <a14:backgroundMark x1="48798" y1="9789" x2="50023" y2="10237"/>
                        <a14:backgroundMark x1="48299" y1="10045" x2="50340" y2="10365"/>
                        <a14:backgroundMark x1="50431" y1="10045" x2="51066" y2="10365"/>
                        <a14:backgroundMark x1="50249" y1="9341" x2="51474" y2="10621"/>
                        <a14:backgroundMark x1="45306" y1="10365" x2="44807" y2="11068"/>
                        <a14:backgroundMark x1="44490" y1="11196" x2="44807" y2="11196"/>
                        <a14:backgroundMark x1="44717" y1="10813" x2="44717" y2="10813"/>
                        <a14:backgroundMark x1="45079" y1="11388" x2="44490" y2="11068"/>
                        <a14:backgroundMark x1="41678" y1="90275" x2="41179" y2="85988"/>
                        <a14:backgroundMark x1="41542" y1="90595" x2="41361" y2="86308"/>
                        <a14:backgroundMark x1="41088" y1="90595" x2="41270" y2="86180"/>
                        <a14:backgroundMark x1="40952" y1="91299" x2="41047" y2="86921"/>
                        <a14:backgroundMark x1="40544" y1="91427" x2="40590" y2="88978"/>
                        <a14:backgroundMark x1="40862" y1="91555" x2="41292" y2="85817"/>
                        <a14:backgroundMark x1="40454" y1="90979" x2="40796" y2="88050"/>
                        <a14:backgroundMark x1="40136" y1="90595" x2="42494" y2="84581"/>
                        <a14:backgroundMark x1="41270" y1="90979" x2="41995" y2="84709"/>
                        <a14:backgroundMark x1="41769" y1="85733" x2="41475" y2="84995"/>
                        <a14:backgroundMark x1="41361" y1="92386" x2="41361" y2="85733"/>
                        <a14:backgroundMark x1="41043" y1="85733" x2="40635" y2="86564"/>
                        <a14:backgroundMark x1="41451" y1="85477" x2="40272" y2="86436"/>
                        <a14:backgroundMark x1="41179" y1="85413" x2="40680" y2="89315"/>
                        <a14:backgroundMark x1="40544" y1="87716" x2="40544" y2="90275"/>
                        <a14:backgroundMark x1="41270" y1="85988" x2="41179" y2="85413"/>
                      </a14:backgroundRemoval>
                    </a14:imgEffect>
                  </a14:imgLayer>
                </a14:imgProps>
              </a:ext>
              <a:ext uri="{28A0092B-C50C-407E-A947-70E740481C1C}">
                <a14:useLocalDpi xmlns:a14="http://schemas.microsoft.com/office/drawing/2010/main" val="0"/>
              </a:ext>
            </a:extLst>
          </a:blip>
          <a:srcRect/>
          <a:stretch>
            <a:fillRect/>
          </a:stretch>
        </p:blipFill>
        <p:spPr bwMode="auto">
          <a:xfrm>
            <a:off x="0" y="287547"/>
            <a:ext cx="2126843" cy="1507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3995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AF16E0-9DB7-A571-A96C-757B7C3C4B65}"/>
              </a:ext>
            </a:extLst>
          </p:cNvPr>
          <p:cNvSpPr/>
          <p:nvPr/>
        </p:nvSpPr>
        <p:spPr>
          <a:xfrm>
            <a:off x="850747" y="353964"/>
            <a:ext cx="10490506" cy="617775"/>
          </a:xfrm>
          <a:prstGeom prst="rect">
            <a:avLst/>
          </a:prstGeom>
          <a:solidFill>
            <a:srgbClr val="DB255D">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latin typeface="Bahnschrift" panose="020B0502040204020203" pitchFamily="34" charset="0"/>
              </a:rPr>
              <a:t>How does neighbourhood relates with price?</a:t>
            </a:r>
          </a:p>
        </p:txBody>
      </p:sp>
      <p:pic>
        <p:nvPicPr>
          <p:cNvPr id="5" name="Picture 4">
            <a:extLst>
              <a:ext uri="{FF2B5EF4-FFF2-40B4-BE49-F238E27FC236}">
                <a16:creationId xmlns:a16="http://schemas.microsoft.com/office/drawing/2014/main" id="{6961F3BC-DED7-605D-DE6E-691ED5B147EF}"/>
              </a:ext>
            </a:extLst>
          </p:cNvPr>
          <p:cNvPicPr>
            <a:picLocks noChangeAspect="1"/>
          </p:cNvPicPr>
          <p:nvPr/>
        </p:nvPicPr>
        <p:blipFill>
          <a:blip r:embed="rId3"/>
          <a:stretch>
            <a:fillRect/>
          </a:stretch>
        </p:blipFill>
        <p:spPr>
          <a:xfrm>
            <a:off x="850747" y="1330348"/>
            <a:ext cx="6369851" cy="2693012"/>
          </a:xfrm>
          <a:prstGeom prst="rect">
            <a:avLst/>
          </a:prstGeom>
        </p:spPr>
      </p:pic>
      <p:pic>
        <p:nvPicPr>
          <p:cNvPr id="6" name="Picture 5">
            <a:extLst>
              <a:ext uri="{FF2B5EF4-FFF2-40B4-BE49-F238E27FC236}">
                <a16:creationId xmlns:a16="http://schemas.microsoft.com/office/drawing/2014/main" id="{E145CE7D-3496-1F19-7640-8973213C1A44}"/>
              </a:ext>
            </a:extLst>
          </p:cNvPr>
          <p:cNvPicPr>
            <a:picLocks noChangeAspect="1"/>
          </p:cNvPicPr>
          <p:nvPr/>
        </p:nvPicPr>
        <p:blipFill>
          <a:blip r:embed="rId4"/>
          <a:stretch>
            <a:fillRect/>
          </a:stretch>
        </p:blipFill>
        <p:spPr>
          <a:xfrm>
            <a:off x="7529812" y="1330348"/>
            <a:ext cx="3695064" cy="2693012"/>
          </a:xfrm>
          <a:prstGeom prst="rect">
            <a:avLst/>
          </a:prstGeom>
        </p:spPr>
      </p:pic>
      <p:sp>
        <p:nvSpPr>
          <p:cNvPr id="3" name="TextBox 2">
            <a:extLst>
              <a:ext uri="{FF2B5EF4-FFF2-40B4-BE49-F238E27FC236}">
                <a16:creationId xmlns:a16="http://schemas.microsoft.com/office/drawing/2014/main" id="{BD2B9DD4-7523-AB38-B8B6-FECFA6976140}"/>
              </a:ext>
            </a:extLst>
          </p:cNvPr>
          <p:cNvSpPr txBox="1"/>
          <p:nvPr/>
        </p:nvSpPr>
        <p:spPr>
          <a:xfrm>
            <a:off x="7538125" y="1338661"/>
            <a:ext cx="1629294" cy="600164"/>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NZ" sz="1100" dirty="0"/>
              <a:t>Neighbour hood map with number of listings hue</a:t>
            </a:r>
          </a:p>
        </p:txBody>
      </p:sp>
      <p:sp>
        <p:nvSpPr>
          <p:cNvPr id="4" name="Rectangle 3">
            <a:extLst>
              <a:ext uri="{FF2B5EF4-FFF2-40B4-BE49-F238E27FC236}">
                <a16:creationId xmlns:a16="http://schemas.microsoft.com/office/drawing/2014/main" id="{3DA9C30B-04D6-045C-C2A5-2BDFAF9424F0}"/>
              </a:ext>
            </a:extLst>
          </p:cNvPr>
          <p:cNvSpPr/>
          <p:nvPr/>
        </p:nvSpPr>
        <p:spPr>
          <a:xfrm>
            <a:off x="850747" y="4126289"/>
            <a:ext cx="10490506" cy="1886989"/>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Bahnschrift" panose="020B0502040204020203" pitchFamily="34" charset="0"/>
              </a:rPr>
              <a:t>Key Findings:</a:t>
            </a:r>
          </a:p>
          <a:p>
            <a:r>
              <a:rPr lang="en-US" dirty="0">
                <a:solidFill>
                  <a:schemeClr val="tx1"/>
                </a:solidFill>
                <a:latin typeface="Bahnschrift" panose="020B0502040204020203" pitchFamily="34" charset="0"/>
              </a:rPr>
              <a:t>1. Bangkok's Airbnb market shows clear geographic segmentation. </a:t>
            </a:r>
          </a:p>
          <a:p>
            <a:r>
              <a:rPr lang="en-US" dirty="0">
                <a:solidFill>
                  <a:schemeClr val="tx1"/>
                </a:solidFill>
                <a:latin typeface="Bahnschrift" panose="020B0502040204020203" pitchFamily="34" charset="0"/>
              </a:rPr>
              <a:t>2. Neighborhoods with higher listing volume likely has higher prices, indicating established tourist infrastructure and demand. </a:t>
            </a:r>
          </a:p>
          <a:p>
            <a:r>
              <a:rPr lang="en-US" dirty="0">
                <a:solidFill>
                  <a:schemeClr val="tx1"/>
                </a:solidFill>
                <a:latin typeface="Bahnschrift" panose="020B0502040204020203" pitchFamily="34" charset="0"/>
              </a:rPr>
              <a:t>3. This creates opportunity for new hosts in emerging neighborhoods (light purple areas) where supply is lower and competition is reduced.</a:t>
            </a:r>
            <a:endParaRPr lang="en-NZ" dirty="0">
              <a:solidFill>
                <a:schemeClr val="tx1"/>
              </a:solidFill>
              <a:latin typeface="Bahnschrift" panose="020B0502040204020203" pitchFamily="34" charset="0"/>
            </a:endParaRPr>
          </a:p>
        </p:txBody>
      </p:sp>
      <p:pic>
        <p:nvPicPr>
          <p:cNvPr id="9" name="Picture 8">
            <a:extLst>
              <a:ext uri="{FF2B5EF4-FFF2-40B4-BE49-F238E27FC236}">
                <a16:creationId xmlns:a16="http://schemas.microsoft.com/office/drawing/2014/main" id="{14FE2FB4-90B3-8A8D-AF50-F3E4108D8A42}"/>
              </a:ext>
            </a:extLst>
          </p:cNvPr>
          <p:cNvPicPr>
            <a:picLocks noChangeAspect="1"/>
          </p:cNvPicPr>
          <p:nvPr/>
        </p:nvPicPr>
        <p:blipFill>
          <a:blip r:embed="rId5"/>
          <a:stretch>
            <a:fillRect/>
          </a:stretch>
        </p:blipFill>
        <p:spPr>
          <a:xfrm>
            <a:off x="10091650" y="1382048"/>
            <a:ext cx="1133225" cy="225144"/>
          </a:xfrm>
          <a:prstGeom prst="rect">
            <a:avLst/>
          </a:prstGeom>
        </p:spPr>
      </p:pic>
    </p:spTree>
    <p:extLst>
      <p:ext uri="{BB962C8B-B14F-4D97-AF65-F5344CB8AC3E}">
        <p14:creationId xmlns:p14="http://schemas.microsoft.com/office/powerpoint/2010/main" val="4214676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AF16E0-9DB7-A571-A96C-757B7C3C4B65}"/>
              </a:ext>
            </a:extLst>
          </p:cNvPr>
          <p:cNvSpPr/>
          <p:nvPr/>
        </p:nvSpPr>
        <p:spPr>
          <a:xfrm>
            <a:off x="850747" y="353964"/>
            <a:ext cx="10490506" cy="617775"/>
          </a:xfrm>
          <a:prstGeom prst="rect">
            <a:avLst/>
          </a:prstGeom>
          <a:solidFill>
            <a:srgbClr val="DB255D">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latin typeface="Bahnschrift" panose="020B0502040204020203" pitchFamily="34" charset="0"/>
              </a:rPr>
              <a:t>Geography Analysis</a:t>
            </a:r>
          </a:p>
        </p:txBody>
      </p:sp>
      <p:pic>
        <p:nvPicPr>
          <p:cNvPr id="7" name="Picture 6">
            <a:extLst>
              <a:ext uri="{FF2B5EF4-FFF2-40B4-BE49-F238E27FC236}">
                <a16:creationId xmlns:a16="http://schemas.microsoft.com/office/drawing/2014/main" id="{C486F52E-136B-2AAF-8217-9543198A14F7}"/>
              </a:ext>
            </a:extLst>
          </p:cNvPr>
          <p:cNvPicPr>
            <a:picLocks noChangeAspect="1"/>
          </p:cNvPicPr>
          <p:nvPr/>
        </p:nvPicPr>
        <p:blipFill>
          <a:blip r:embed="rId3"/>
          <a:stretch>
            <a:fillRect/>
          </a:stretch>
        </p:blipFill>
        <p:spPr>
          <a:xfrm>
            <a:off x="850747" y="1217059"/>
            <a:ext cx="3640975" cy="2802899"/>
          </a:xfrm>
          <a:prstGeom prst="rect">
            <a:avLst/>
          </a:prstGeom>
        </p:spPr>
      </p:pic>
      <p:pic>
        <p:nvPicPr>
          <p:cNvPr id="9" name="Picture 8">
            <a:extLst>
              <a:ext uri="{FF2B5EF4-FFF2-40B4-BE49-F238E27FC236}">
                <a16:creationId xmlns:a16="http://schemas.microsoft.com/office/drawing/2014/main" id="{B731DA8C-CA26-2F15-2AE3-1207E21DF639}"/>
              </a:ext>
            </a:extLst>
          </p:cNvPr>
          <p:cNvPicPr>
            <a:picLocks noChangeAspect="1"/>
          </p:cNvPicPr>
          <p:nvPr/>
        </p:nvPicPr>
        <p:blipFill>
          <a:blip r:embed="rId4"/>
          <a:stretch>
            <a:fillRect/>
          </a:stretch>
        </p:blipFill>
        <p:spPr>
          <a:xfrm>
            <a:off x="5613059" y="1204165"/>
            <a:ext cx="5711568" cy="2802899"/>
          </a:xfrm>
          <a:prstGeom prst="rect">
            <a:avLst/>
          </a:prstGeom>
        </p:spPr>
      </p:pic>
      <p:sp>
        <p:nvSpPr>
          <p:cNvPr id="3" name="TextBox 2">
            <a:extLst>
              <a:ext uri="{FF2B5EF4-FFF2-40B4-BE49-F238E27FC236}">
                <a16:creationId xmlns:a16="http://schemas.microsoft.com/office/drawing/2014/main" id="{25367540-CB68-A67E-758E-4A9232D872FF}"/>
              </a:ext>
            </a:extLst>
          </p:cNvPr>
          <p:cNvSpPr txBox="1"/>
          <p:nvPr/>
        </p:nvSpPr>
        <p:spPr>
          <a:xfrm>
            <a:off x="867373" y="1233685"/>
            <a:ext cx="1629294" cy="43088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NZ" sz="1100" dirty="0"/>
              <a:t>Neighbour hood map with review metrics hue</a:t>
            </a:r>
          </a:p>
        </p:txBody>
      </p:sp>
      <p:sp>
        <p:nvSpPr>
          <p:cNvPr id="6" name="Rectangle 5">
            <a:extLst>
              <a:ext uri="{FF2B5EF4-FFF2-40B4-BE49-F238E27FC236}">
                <a16:creationId xmlns:a16="http://schemas.microsoft.com/office/drawing/2014/main" id="{D4627F2B-AB83-BC63-42DC-530139C801CE}"/>
              </a:ext>
            </a:extLst>
          </p:cNvPr>
          <p:cNvSpPr/>
          <p:nvPr/>
        </p:nvSpPr>
        <p:spPr>
          <a:xfrm>
            <a:off x="850747" y="4239491"/>
            <a:ext cx="10490506" cy="2177934"/>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Bahnschrift" panose="020B0502040204020203" pitchFamily="34" charset="0"/>
              </a:rPr>
              <a:t>Key Findings:</a:t>
            </a:r>
          </a:p>
          <a:p>
            <a:pPr marL="342900" indent="-342900">
              <a:buAutoNum type="arabicPeriod"/>
            </a:pPr>
            <a:r>
              <a:rPr lang="en-US" dirty="0">
                <a:solidFill>
                  <a:schemeClr val="tx1"/>
                </a:solidFill>
                <a:latin typeface="Bahnschrift" panose="020B0502040204020203" pitchFamily="34" charset="0"/>
              </a:rPr>
              <a:t>The heatmap reveals clustering in central Bangkok (darker red), with Sathorn and surrounding areas showing exceptional engagement metrics.</a:t>
            </a:r>
          </a:p>
          <a:p>
            <a:pPr marL="342900" indent="-342900">
              <a:buAutoNum type="arabicPeriod"/>
            </a:pPr>
            <a:r>
              <a:rPr lang="en-US" dirty="0">
                <a:solidFill>
                  <a:schemeClr val="tx1"/>
                </a:solidFill>
                <a:latin typeface="Bahnschrift" panose="020B0502040204020203" pitchFamily="34" charset="0"/>
              </a:rPr>
              <a:t>Neighborhoods transition from high performance (1.0 reviews/month) to moderate (0.5-0.6) moving outward, suggesting location accessibility is critical to booking success.</a:t>
            </a:r>
          </a:p>
          <a:p>
            <a:pPr marL="342900" indent="-342900">
              <a:buAutoNum type="arabicPeriod"/>
            </a:pPr>
            <a:r>
              <a:rPr lang="en-US" dirty="0">
                <a:solidFill>
                  <a:schemeClr val="tx1"/>
                </a:solidFill>
                <a:latin typeface="Bahnschrift" panose="020B0502040204020203" pitchFamily="34" charset="0"/>
              </a:rPr>
              <a:t>Sathorn, Phra Nakhon, and Khlong Toei lead with ~1.0 average reviews/month, indicating strong booking activity and customer satisfaction</a:t>
            </a:r>
          </a:p>
        </p:txBody>
      </p:sp>
      <p:pic>
        <p:nvPicPr>
          <p:cNvPr id="10" name="Picture 9">
            <a:extLst>
              <a:ext uri="{FF2B5EF4-FFF2-40B4-BE49-F238E27FC236}">
                <a16:creationId xmlns:a16="http://schemas.microsoft.com/office/drawing/2014/main" id="{6B58C2CF-8342-15AA-79B7-1B9F7435EB29}"/>
              </a:ext>
            </a:extLst>
          </p:cNvPr>
          <p:cNvPicPr>
            <a:picLocks noChangeAspect="1"/>
          </p:cNvPicPr>
          <p:nvPr/>
        </p:nvPicPr>
        <p:blipFill>
          <a:blip r:embed="rId5"/>
          <a:stretch>
            <a:fillRect/>
          </a:stretch>
        </p:blipFill>
        <p:spPr>
          <a:xfrm>
            <a:off x="3283527" y="1217059"/>
            <a:ext cx="1208195" cy="496620"/>
          </a:xfrm>
          <a:prstGeom prst="rect">
            <a:avLst/>
          </a:prstGeom>
        </p:spPr>
      </p:pic>
    </p:spTree>
    <p:extLst>
      <p:ext uri="{BB962C8B-B14F-4D97-AF65-F5344CB8AC3E}">
        <p14:creationId xmlns:p14="http://schemas.microsoft.com/office/powerpoint/2010/main" val="1810191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C0D25FC-1AF3-8DD5-F2B8-EAE30A4578CF}"/>
              </a:ext>
            </a:extLst>
          </p:cNvPr>
          <p:cNvSpPr/>
          <p:nvPr/>
        </p:nvSpPr>
        <p:spPr>
          <a:xfrm>
            <a:off x="1986684" y="2711929"/>
            <a:ext cx="8218632" cy="1434141"/>
          </a:xfrm>
          <a:prstGeom prst="rect">
            <a:avLst/>
          </a:prstGeom>
          <a:solidFill>
            <a:srgbClr val="DB255D">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effectLst>
                <a:reflection stA="38000" endPos="65000" dist="50800" dir="5400000" sy="-100000" algn="bl" rotWithShape="0"/>
              </a:effectLst>
            </a:endParaRPr>
          </a:p>
        </p:txBody>
      </p:sp>
      <p:sp>
        <p:nvSpPr>
          <p:cNvPr id="2" name="Title 1">
            <a:extLst>
              <a:ext uri="{FF2B5EF4-FFF2-40B4-BE49-F238E27FC236}">
                <a16:creationId xmlns:a16="http://schemas.microsoft.com/office/drawing/2014/main" id="{33DF00AC-0D80-4511-A3B9-F4DCD88BF724}"/>
              </a:ext>
            </a:extLst>
          </p:cNvPr>
          <p:cNvSpPr>
            <a:spLocks noGrp="1"/>
          </p:cNvSpPr>
          <p:nvPr>
            <p:ph type="ctrTitle"/>
          </p:nvPr>
        </p:nvSpPr>
        <p:spPr>
          <a:xfrm>
            <a:off x="3024996" y="1884152"/>
            <a:ext cx="6142008" cy="1953883"/>
          </a:xfrm>
        </p:spPr>
        <p:txBody>
          <a:bodyPr>
            <a:noAutofit/>
          </a:bodyPr>
          <a:lstStyle/>
          <a:p>
            <a:r>
              <a:rPr lang="en-NZ" sz="4400" b="1" dirty="0">
                <a:solidFill>
                  <a:schemeClr val="bg1"/>
                </a:solidFill>
                <a:effectLst>
                  <a:outerShdw blurRad="50800" dist="38100" dir="2700000" algn="tl" rotWithShape="0">
                    <a:prstClr val="black">
                      <a:alpha val="40000"/>
                    </a:prstClr>
                  </a:outerShdw>
                </a:effectLst>
                <a:latin typeface="Bahnschrift" panose="020B0502040204020203" pitchFamily="34" charset="0"/>
              </a:rPr>
              <a:t>Market Competition</a:t>
            </a:r>
          </a:p>
        </p:txBody>
      </p:sp>
      <p:pic>
        <p:nvPicPr>
          <p:cNvPr id="1026" name="Picture 2" descr="Airbnb Logo History">
            <a:extLst>
              <a:ext uri="{FF2B5EF4-FFF2-40B4-BE49-F238E27FC236}">
                <a16:creationId xmlns:a16="http://schemas.microsoft.com/office/drawing/2014/main" id="{5108C76A-7F9D-6C3F-E7B6-A22608EA2CA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054" b="95969" l="9932" r="89932">
                        <a14:foregroundMark x1="52232" y1="9622" x2="53787" y2="9469"/>
                        <a14:foregroundMark x1="43356" y1="10493" x2="44704" y2="10360"/>
                        <a14:foregroundMark x1="46893" y1="5246" x2="49615" y2="5246"/>
                        <a14:foregroundMark x1="27664" y1="82790" x2="24036" y2="83237"/>
                        <a14:foregroundMark x1="24898" y1="94562" x2="26984" y2="93922"/>
                        <a14:foregroundMark x1="34331" y1="83749" x2="33696" y2="90403"/>
                        <a14:foregroundMark x1="34558" y1="76903" x2="34558" y2="76903"/>
                        <a14:foregroundMark x1="41789" y1="81375" x2="41587" y2="82470"/>
                        <a14:foregroundMark x1="39184" y1="95521" x2="39941" y2="91411"/>
                        <a14:foregroundMark x1="46893" y1="77223" x2="46531" y2="95969"/>
                        <a14:foregroundMark x1="58957" y1="83877" x2="58095" y2="93346"/>
                        <a14:foregroundMark x1="69433" y1="76711" x2="69297" y2="80486"/>
                        <a14:foregroundMark x1="40544" y1="83429" x2="40952" y2="84005"/>
                        <a14:foregroundMark x1="41859" y1="83301" x2="38957" y2="83749"/>
                        <a14:foregroundMark x1="39758" y1="89083" x2="39138" y2="91875"/>
                        <a14:backgroundMark x1="46395" y1="13180" x2="47392" y2="10940"/>
                        <a14:backgroundMark x1="46304" y1="10365" x2="48209" y2="9789"/>
                        <a14:backgroundMark x1="48617" y1="9469" x2="50522" y2="10237"/>
                        <a14:backgroundMark x1="48027" y1="9917" x2="48707" y2="10621"/>
                        <a14:backgroundMark x1="48798" y1="9789" x2="49932" y2="10237"/>
                        <a14:backgroundMark x1="48798" y1="10237" x2="45986" y2="10813"/>
                        <a14:backgroundMark x1="46803" y1="10365" x2="45306" y2="11388"/>
                        <a14:backgroundMark x1="49342" y1="9469" x2="50839" y2="10109"/>
                        <a14:backgroundMark x1="48798" y1="9789" x2="50023" y2="10237"/>
                        <a14:backgroundMark x1="48299" y1="10045" x2="50340" y2="10365"/>
                        <a14:backgroundMark x1="50431" y1="10045" x2="51066" y2="10365"/>
                        <a14:backgroundMark x1="50249" y1="9341" x2="51474" y2="10621"/>
                        <a14:backgroundMark x1="45306" y1="10365" x2="44807" y2="11068"/>
                        <a14:backgroundMark x1="44490" y1="11196" x2="44807" y2="11196"/>
                        <a14:backgroundMark x1="44717" y1="10813" x2="44717" y2="10813"/>
                        <a14:backgroundMark x1="45079" y1="11388" x2="44490" y2="11068"/>
                        <a14:backgroundMark x1="41678" y1="90275" x2="41179" y2="85988"/>
                        <a14:backgroundMark x1="41542" y1="90595" x2="41361" y2="86308"/>
                        <a14:backgroundMark x1="41088" y1="90595" x2="41270" y2="86180"/>
                        <a14:backgroundMark x1="40952" y1="91299" x2="41047" y2="86921"/>
                        <a14:backgroundMark x1="40544" y1="91427" x2="40590" y2="88978"/>
                        <a14:backgroundMark x1="40862" y1="91555" x2="41292" y2="85817"/>
                        <a14:backgroundMark x1="40454" y1="90979" x2="40796" y2="88050"/>
                        <a14:backgroundMark x1="40136" y1="90595" x2="42494" y2="84581"/>
                        <a14:backgroundMark x1="41270" y1="90979" x2="41995" y2="84709"/>
                        <a14:backgroundMark x1="41769" y1="85733" x2="41475" y2="84995"/>
                        <a14:backgroundMark x1="41361" y1="92386" x2="41361" y2="85733"/>
                        <a14:backgroundMark x1="41043" y1="85733" x2="40635" y2="86564"/>
                        <a14:backgroundMark x1="41451" y1="85477" x2="40272" y2="86436"/>
                        <a14:backgroundMark x1="41179" y1="85413" x2="40680" y2="89315"/>
                        <a14:backgroundMark x1="40544" y1="87716" x2="40544" y2="90275"/>
                        <a14:backgroundMark x1="41270" y1="85988" x2="41179" y2="85413"/>
                      </a14:backgroundRemoval>
                    </a14:imgEffect>
                  </a14:imgLayer>
                </a14:imgProps>
              </a:ext>
              <a:ext uri="{28A0092B-C50C-407E-A947-70E740481C1C}">
                <a14:useLocalDpi xmlns:a14="http://schemas.microsoft.com/office/drawing/2010/main" val="0"/>
              </a:ext>
            </a:extLst>
          </a:blip>
          <a:srcRect/>
          <a:stretch>
            <a:fillRect/>
          </a:stretch>
        </p:blipFill>
        <p:spPr bwMode="auto">
          <a:xfrm>
            <a:off x="0" y="287547"/>
            <a:ext cx="2126843" cy="1507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2216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AF16E0-9DB7-A571-A96C-757B7C3C4B65}"/>
              </a:ext>
            </a:extLst>
          </p:cNvPr>
          <p:cNvSpPr/>
          <p:nvPr/>
        </p:nvSpPr>
        <p:spPr>
          <a:xfrm>
            <a:off x="850747" y="353964"/>
            <a:ext cx="10490506" cy="617775"/>
          </a:xfrm>
          <a:prstGeom prst="rect">
            <a:avLst/>
          </a:prstGeom>
          <a:solidFill>
            <a:srgbClr val="DB255D">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latin typeface="Bahnschrift" panose="020B0502040204020203" pitchFamily="34" charset="0"/>
              </a:rPr>
              <a:t>How is review segment by host type and room types?</a:t>
            </a:r>
          </a:p>
        </p:txBody>
      </p:sp>
      <p:pic>
        <p:nvPicPr>
          <p:cNvPr id="6" name="Picture 5">
            <a:extLst>
              <a:ext uri="{FF2B5EF4-FFF2-40B4-BE49-F238E27FC236}">
                <a16:creationId xmlns:a16="http://schemas.microsoft.com/office/drawing/2014/main" id="{BF5D9DFB-0898-BF12-B48A-5199F51D6F6E}"/>
              </a:ext>
            </a:extLst>
          </p:cNvPr>
          <p:cNvPicPr>
            <a:picLocks noChangeAspect="1"/>
          </p:cNvPicPr>
          <p:nvPr/>
        </p:nvPicPr>
        <p:blipFill>
          <a:blip r:embed="rId3"/>
          <a:stretch>
            <a:fillRect/>
          </a:stretch>
        </p:blipFill>
        <p:spPr>
          <a:xfrm>
            <a:off x="850747" y="1227436"/>
            <a:ext cx="4307849" cy="1987369"/>
          </a:xfrm>
          <a:prstGeom prst="rect">
            <a:avLst/>
          </a:prstGeom>
        </p:spPr>
      </p:pic>
      <p:sp>
        <p:nvSpPr>
          <p:cNvPr id="3" name="Rectangle 2">
            <a:extLst>
              <a:ext uri="{FF2B5EF4-FFF2-40B4-BE49-F238E27FC236}">
                <a16:creationId xmlns:a16="http://schemas.microsoft.com/office/drawing/2014/main" id="{CDB27C8E-377C-FE09-2064-CA5612576B52}"/>
              </a:ext>
            </a:extLst>
          </p:cNvPr>
          <p:cNvSpPr/>
          <p:nvPr/>
        </p:nvSpPr>
        <p:spPr>
          <a:xfrm>
            <a:off x="5443268" y="1227436"/>
            <a:ext cx="5897985" cy="1987369"/>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Bahnschrift" panose="020B0502040204020203" pitchFamily="34" charset="0"/>
              </a:rPr>
              <a:t>Key Findings</a:t>
            </a:r>
          </a:p>
          <a:p>
            <a:pPr algn="just"/>
            <a:r>
              <a:rPr lang="en-US" sz="1400" dirty="0">
                <a:solidFill>
                  <a:schemeClr val="tx1"/>
                </a:solidFill>
                <a:latin typeface="Bahnschrift" panose="020B0502040204020203" pitchFamily="34" charset="0"/>
              </a:rPr>
              <a:t>Multi-listing hosts generate 2.9x more reviews than single-listing hosts in high-review segment, demonstrating clear competitive advantage through professionalization and scale. However, single-listing hosts maintain viable presence in budget segment (65% of low-review bookings), where price-conscious backpackers prioritize cost over reputation</a:t>
            </a:r>
            <a:endParaRPr lang="en-NZ" sz="1400" dirty="0">
              <a:solidFill>
                <a:schemeClr val="tx1"/>
              </a:solidFill>
              <a:latin typeface="Bahnschrift" panose="020B0502040204020203" pitchFamily="34" charset="0"/>
            </a:endParaRPr>
          </a:p>
        </p:txBody>
      </p:sp>
      <p:pic>
        <p:nvPicPr>
          <p:cNvPr id="5" name="Picture 4">
            <a:extLst>
              <a:ext uri="{FF2B5EF4-FFF2-40B4-BE49-F238E27FC236}">
                <a16:creationId xmlns:a16="http://schemas.microsoft.com/office/drawing/2014/main" id="{9B5D40DA-96D1-D949-F235-E7114E5C4EDA}"/>
              </a:ext>
            </a:extLst>
          </p:cNvPr>
          <p:cNvPicPr>
            <a:picLocks noChangeAspect="1"/>
          </p:cNvPicPr>
          <p:nvPr/>
        </p:nvPicPr>
        <p:blipFill>
          <a:blip r:embed="rId4"/>
          <a:stretch>
            <a:fillRect/>
          </a:stretch>
        </p:blipFill>
        <p:spPr>
          <a:xfrm>
            <a:off x="879391" y="3643196"/>
            <a:ext cx="4279205" cy="2134508"/>
          </a:xfrm>
          <a:prstGeom prst="rect">
            <a:avLst/>
          </a:prstGeom>
        </p:spPr>
      </p:pic>
      <p:sp>
        <p:nvSpPr>
          <p:cNvPr id="7" name="Rectangle 6">
            <a:extLst>
              <a:ext uri="{FF2B5EF4-FFF2-40B4-BE49-F238E27FC236}">
                <a16:creationId xmlns:a16="http://schemas.microsoft.com/office/drawing/2014/main" id="{703DA46C-D681-3924-D8C3-A33A661FF4E0}"/>
              </a:ext>
            </a:extLst>
          </p:cNvPr>
          <p:cNvSpPr/>
          <p:nvPr/>
        </p:nvSpPr>
        <p:spPr>
          <a:xfrm>
            <a:off x="5443268" y="3643195"/>
            <a:ext cx="5897985" cy="1987369"/>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b="0" i="0" dirty="0">
                <a:solidFill>
                  <a:schemeClr val="tx1"/>
                </a:solidFill>
                <a:effectLst/>
                <a:latin typeface="Bahnschrift" panose="020B0502040204020203" pitchFamily="34" charset="0"/>
              </a:rPr>
              <a:t>Entire homes achieve 2.8x more high-review bookings than private rooms, indicating guest preference for premium experiences, while private rooms capture the budget-conscious segment. There is a lot of improvement needed on shared-roo</a:t>
            </a:r>
            <a:r>
              <a:rPr lang="en-US" sz="1400" dirty="0">
                <a:solidFill>
                  <a:schemeClr val="tx1"/>
                </a:solidFill>
                <a:latin typeface="Bahnschrift" panose="020B0502040204020203" pitchFamily="34" charset="0"/>
              </a:rPr>
              <a:t>m.</a:t>
            </a:r>
            <a:endParaRPr lang="en-NZ" sz="1400"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4179773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AF16E0-9DB7-A571-A96C-757B7C3C4B65}"/>
              </a:ext>
            </a:extLst>
          </p:cNvPr>
          <p:cNvSpPr/>
          <p:nvPr/>
        </p:nvSpPr>
        <p:spPr>
          <a:xfrm>
            <a:off x="850747" y="353964"/>
            <a:ext cx="10490506" cy="617775"/>
          </a:xfrm>
          <a:prstGeom prst="rect">
            <a:avLst/>
          </a:prstGeom>
          <a:solidFill>
            <a:srgbClr val="DB255D">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latin typeface="Bahnschrift" panose="020B0502040204020203" pitchFamily="34" charset="0"/>
              </a:rPr>
              <a:t>Market Competition</a:t>
            </a:r>
          </a:p>
        </p:txBody>
      </p:sp>
      <p:pic>
        <p:nvPicPr>
          <p:cNvPr id="4" name="Picture 3">
            <a:extLst>
              <a:ext uri="{FF2B5EF4-FFF2-40B4-BE49-F238E27FC236}">
                <a16:creationId xmlns:a16="http://schemas.microsoft.com/office/drawing/2014/main" id="{FC3B0AE7-7EBB-3B9F-DB96-712E146324A8}"/>
              </a:ext>
            </a:extLst>
          </p:cNvPr>
          <p:cNvPicPr>
            <a:picLocks noChangeAspect="1"/>
          </p:cNvPicPr>
          <p:nvPr/>
        </p:nvPicPr>
        <p:blipFill>
          <a:blip r:embed="rId3"/>
          <a:stretch>
            <a:fillRect/>
          </a:stretch>
        </p:blipFill>
        <p:spPr>
          <a:xfrm>
            <a:off x="850747" y="1328893"/>
            <a:ext cx="4782302" cy="2272530"/>
          </a:xfrm>
          <a:prstGeom prst="rect">
            <a:avLst/>
          </a:prstGeom>
        </p:spPr>
      </p:pic>
      <p:pic>
        <p:nvPicPr>
          <p:cNvPr id="3" name="Picture 2">
            <a:extLst>
              <a:ext uri="{FF2B5EF4-FFF2-40B4-BE49-F238E27FC236}">
                <a16:creationId xmlns:a16="http://schemas.microsoft.com/office/drawing/2014/main" id="{2215BD5F-CB2B-38C5-3AC5-F906C0079D4E}"/>
              </a:ext>
            </a:extLst>
          </p:cNvPr>
          <p:cNvPicPr>
            <a:picLocks noChangeAspect="1"/>
          </p:cNvPicPr>
          <p:nvPr/>
        </p:nvPicPr>
        <p:blipFill>
          <a:blip r:embed="rId4"/>
          <a:stretch>
            <a:fillRect/>
          </a:stretch>
        </p:blipFill>
        <p:spPr>
          <a:xfrm>
            <a:off x="850748" y="3707645"/>
            <a:ext cx="4774650" cy="1942658"/>
          </a:xfrm>
          <a:prstGeom prst="rect">
            <a:avLst/>
          </a:prstGeom>
        </p:spPr>
      </p:pic>
      <p:sp>
        <p:nvSpPr>
          <p:cNvPr id="5" name="Rectangle 4">
            <a:extLst>
              <a:ext uri="{FF2B5EF4-FFF2-40B4-BE49-F238E27FC236}">
                <a16:creationId xmlns:a16="http://schemas.microsoft.com/office/drawing/2014/main" id="{0DB10C29-CABD-57ED-C118-6701CABFC7F1}"/>
              </a:ext>
            </a:extLst>
          </p:cNvPr>
          <p:cNvSpPr/>
          <p:nvPr/>
        </p:nvSpPr>
        <p:spPr>
          <a:xfrm>
            <a:off x="5779699" y="3707645"/>
            <a:ext cx="5561554" cy="1942659"/>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b="0" i="0" dirty="0">
                <a:solidFill>
                  <a:schemeClr val="tx1"/>
                </a:solidFill>
                <a:effectLst/>
                <a:latin typeface="Bahnschrift" panose="020B0502040204020203" pitchFamily="34" charset="0"/>
              </a:rPr>
              <a:t>One minimum night requirement correlates with 2x higher review frequency compared to the average, while 30+ night minimums nearly eliminate bookings. For backpacker-focused hosts, flexibility in minimum night policies is crucial to capturing high booking velocity and market competitiveness</a:t>
            </a:r>
            <a:endParaRPr lang="en-NZ" sz="1400" dirty="0">
              <a:solidFill>
                <a:schemeClr val="tx1"/>
              </a:solidFill>
              <a:latin typeface="Bahnschrift" panose="020B0502040204020203" pitchFamily="34" charset="0"/>
            </a:endParaRPr>
          </a:p>
        </p:txBody>
      </p:sp>
      <p:sp>
        <p:nvSpPr>
          <p:cNvPr id="7" name="Rectangle 6">
            <a:extLst>
              <a:ext uri="{FF2B5EF4-FFF2-40B4-BE49-F238E27FC236}">
                <a16:creationId xmlns:a16="http://schemas.microsoft.com/office/drawing/2014/main" id="{6E27247A-79EC-9C06-0CCF-FC317F8EEA61}"/>
              </a:ext>
            </a:extLst>
          </p:cNvPr>
          <p:cNvSpPr/>
          <p:nvPr/>
        </p:nvSpPr>
        <p:spPr>
          <a:xfrm>
            <a:off x="5779699" y="1328893"/>
            <a:ext cx="5561554" cy="1942659"/>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b="0" i="0" dirty="0">
                <a:solidFill>
                  <a:schemeClr val="tx1"/>
                </a:solidFill>
                <a:effectLst/>
                <a:latin typeface="Bahnschrift" panose="020B0502040204020203" pitchFamily="34" charset="0"/>
              </a:rPr>
              <a:t>Yearly availability have an inconsisten</a:t>
            </a:r>
            <a:r>
              <a:rPr lang="en-US" sz="1400" dirty="0">
                <a:solidFill>
                  <a:schemeClr val="tx1"/>
                </a:solidFill>
                <a:latin typeface="Bahnschrift" panose="020B0502040204020203" pitchFamily="34" charset="0"/>
              </a:rPr>
              <a:t>t correlation with review received in a year. This is not a helpful measures because no patterns could be seen mainly because the causes of less availability might be because it is booked frequently or the host wanting to do maintenance or using it for another purposes!</a:t>
            </a:r>
            <a:endParaRPr lang="en-NZ" sz="1400"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630447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ED487B2-4523-1BA4-C64E-C49F53F13926}"/>
              </a:ext>
            </a:extLst>
          </p:cNvPr>
          <p:cNvSpPr/>
          <p:nvPr/>
        </p:nvSpPr>
        <p:spPr>
          <a:xfrm>
            <a:off x="1986685" y="2868283"/>
            <a:ext cx="8218632" cy="1434141"/>
          </a:xfrm>
          <a:prstGeom prst="rect">
            <a:avLst/>
          </a:prstGeom>
          <a:solidFill>
            <a:srgbClr val="DB255D">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effectLst>
                <a:reflection stA="38000" endPos="65000" dist="50800" dir="5400000" sy="-100000" algn="bl" rotWithShape="0"/>
              </a:effectLst>
            </a:endParaRPr>
          </a:p>
        </p:txBody>
      </p:sp>
      <p:sp>
        <p:nvSpPr>
          <p:cNvPr id="2" name="Title 1">
            <a:extLst>
              <a:ext uri="{FF2B5EF4-FFF2-40B4-BE49-F238E27FC236}">
                <a16:creationId xmlns:a16="http://schemas.microsoft.com/office/drawing/2014/main" id="{33DF00AC-0D80-4511-A3B9-F4DCD88BF724}"/>
              </a:ext>
            </a:extLst>
          </p:cNvPr>
          <p:cNvSpPr>
            <a:spLocks noGrp="1"/>
          </p:cNvSpPr>
          <p:nvPr>
            <p:ph type="ctrTitle"/>
          </p:nvPr>
        </p:nvSpPr>
        <p:spPr>
          <a:xfrm>
            <a:off x="1986684" y="2348542"/>
            <a:ext cx="8218632" cy="1624642"/>
          </a:xfrm>
        </p:spPr>
        <p:txBody>
          <a:bodyPr>
            <a:noAutofit/>
          </a:bodyPr>
          <a:lstStyle/>
          <a:p>
            <a:r>
              <a:rPr lang="en-NZ" sz="4400" b="1" dirty="0">
                <a:solidFill>
                  <a:schemeClr val="bg1"/>
                </a:solidFill>
                <a:effectLst>
                  <a:outerShdw blurRad="50800" dist="38100" dir="2700000" algn="tl" rotWithShape="0">
                    <a:prstClr val="black">
                      <a:alpha val="40000"/>
                    </a:prstClr>
                  </a:outerShdw>
                </a:effectLst>
                <a:latin typeface="Bahnschrift" panose="020B0502040204020203" pitchFamily="34" charset="0"/>
              </a:rPr>
              <a:t> Business Recommendation</a:t>
            </a:r>
          </a:p>
        </p:txBody>
      </p:sp>
      <p:pic>
        <p:nvPicPr>
          <p:cNvPr id="1026" name="Picture 2" descr="Airbnb Logo History">
            <a:extLst>
              <a:ext uri="{FF2B5EF4-FFF2-40B4-BE49-F238E27FC236}">
                <a16:creationId xmlns:a16="http://schemas.microsoft.com/office/drawing/2014/main" id="{5108C76A-7F9D-6C3F-E7B6-A22608EA2CA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054" b="95969" l="9932" r="89932">
                        <a14:foregroundMark x1="52232" y1="9622" x2="53787" y2="9469"/>
                        <a14:foregroundMark x1="43356" y1="10493" x2="44704" y2="10360"/>
                        <a14:foregroundMark x1="46893" y1="5246" x2="49615" y2="5246"/>
                        <a14:foregroundMark x1="27664" y1="82790" x2="24036" y2="83237"/>
                        <a14:foregroundMark x1="24898" y1="94562" x2="26984" y2="93922"/>
                        <a14:foregroundMark x1="34331" y1="83749" x2="33696" y2="90403"/>
                        <a14:foregroundMark x1="34558" y1="76903" x2="34558" y2="76903"/>
                        <a14:foregroundMark x1="41789" y1="81375" x2="41587" y2="82470"/>
                        <a14:foregroundMark x1="39184" y1="95521" x2="39941" y2="91411"/>
                        <a14:foregroundMark x1="46893" y1="77223" x2="46531" y2="95969"/>
                        <a14:foregroundMark x1="58957" y1="83877" x2="58095" y2="93346"/>
                        <a14:foregroundMark x1="69433" y1="76711" x2="69297" y2="80486"/>
                        <a14:foregroundMark x1="40544" y1="83429" x2="40952" y2="84005"/>
                        <a14:foregroundMark x1="41859" y1="83301" x2="38957" y2="83749"/>
                        <a14:foregroundMark x1="39758" y1="89083" x2="39138" y2="91875"/>
                        <a14:backgroundMark x1="46395" y1="13180" x2="47392" y2="10940"/>
                        <a14:backgroundMark x1="46304" y1="10365" x2="48209" y2="9789"/>
                        <a14:backgroundMark x1="48617" y1="9469" x2="50522" y2="10237"/>
                        <a14:backgroundMark x1="48027" y1="9917" x2="48707" y2="10621"/>
                        <a14:backgroundMark x1="48798" y1="9789" x2="49932" y2="10237"/>
                        <a14:backgroundMark x1="48798" y1="10237" x2="45986" y2="10813"/>
                        <a14:backgroundMark x1="46803" y1="10365" x2="45306" y2="11388"/>
                        <a14:backgroundMark x1="49342" y1="9469" x2="50839" y2="10109"/>
                        <a14:backgroundMark x1="48798" y1="9789" x2="50023" y2="10237"/>
                        <a14:backgroundMark x1="48299" y1="10045" x2="50340" y2="10365"/>
                        <a14:backgroundMark x1="50431" y1="10045" x2="51066" y2="10365"/>
                        <a14:backgroundMark x1="50249" y1="9341" x2="51474" y2="10621"/>
                        <a14:backgroundMark x1="45306" y1="10365" x2="44807" y2="11068"/>
                        <a14:backgroundMark x1="44490" y1="11196" x2="44807" y2="11196"/>
                        <a14:backgroundMark x1="44717" y1="10813" x2="44717" y2="10813"/>
                        <a14:backgroundMark x1="45079" y1="11388" x2="44490" y2="11068"/>
                        <a14:backgroundMark x1="41678" y1="90275" x2="41179" y2="85988"/>
                        <a14:backgroundMark x1="41542" y1="90595" x2="41361" y2="86308"/>
                        <a14:backgroundMark x1="41088" y1="90595" x2="41270" y2="86180"/>
                        <a14:backgroundMark x1="40952" y1="91299" x2="41047" y2="86921"/>
                        <a14:backgroundMark x1="40544" y1="91427" x2="40590" y2="88978"/>
                        <a14:backgroundMark x1="40862" y1="91555" x2="41292" y2="85817"/>
                        <a14:backgroundMark x1="40454" y1="90979" x2="40796" y2="88050"/>
                        <a14:backgroundMark x1="40136" y1="90595" x2="42494" y2="84581"/>
                        <a14:backgroundMark x1="41270" y1="90979" x2="41995" y2="84709"/>
                        <a14:backgroundMark x1="41769" y1="85733" x2="41475" y2="84995"/>
                        <a14:backgroundMark x1="41361" y1="92386" x2="41361" y2="85733"/>
                        <a14:backgroundMark x1="41043" y1="85733" x2="40635" y2="86564"/>
                        <a14:backgroundMark x1="41451" y1="85477" x2="40272" y2="86436"/>
                        <a14:backgroundMark x1="41179" y1="85413" x2="40680" y2="89315"/>
                        <a14:backgroundMark x1="40544" y1="87716" x2="40544" y2="90275"/>
                        <a14:backgroundMark x1="41270" y1="85988" x2="41179" y2="85413"/>
                      </a14:backgroundRemoval>
                    </a14:imgEffect>
                  </a14:imgLayer>
                </a14:imgProps>
              </a:ext>
              <a:ext uri="{28A0092B-C50C-407E-A947-70E740481C1C}">
                <a14:useLocalDpi xmlns:a14="http://schemas.microsoft.com/office/drawing/2010/main" val="0"/>
              </a:ext>
            </a:extLst>
          </a:blip>
          <a:srcRect/>
          <a:stretch>
            <a:fillRect/>
          </a:stretch>
        </p:blipFill>
        <p:spPr bwMode="auto">
          <a:xfrm>
            <a:off x="0" y="287547"/>
            <a:ext cx="2126843" cy="1507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13614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AF16E0-9DB7-A571-A96C-757B7C3C4B65}"/>
              </a:ext>
            </a:extLst>
          </p:cNvPr>
          <p:cNvSpPr/>
          <p:nvPr/>
        </p:nvSpPr>
        <p:spPr>
          <a:xfrm>
            <a:off x="850747" y="353964"/>
            <a:ext cx="10490506" cy="617775"/>
          </a:xfrm>
          <a:prstGeom prst="rect">
            <a:avLst/>
          </a:prstGeom>
          <a:solidFill>
            <a:srgbClr val="DB255D">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latin typeface="Bahnschrift" panose="020B0502040204020203" pitchFamily="34" charset="0"/>
              </a:rPr>
              <a:t>Business recommendation</a:t>
            </a:r>
          </a:p>
        </p:txBody>
      </p:sp>
      <p:sp>
        <p:nvSpPr>
          <p:cNvPr id="3" name="Rectangle 2">
            <a:extLst>
              <a:ext uri="{FF2B5EF4-FFF2-40B4-BE49-F238E27FC236}">
                <a16:creationId xmlns:a16="http://schemas.microsoft.com/office/drawing/2014/main" id="{96945EF9-0248-3E05-46CB-77706DBEA562}"/>
              </a:ext>
            </a:extLst>
          </p:cNvPr>
          <p:cNvSpPr/>
          <p:nvPr/>
        </p:nvSpPr>
        <p:spPr>
          <a:xfrm>
            <a:off x="850747" y="1296810"/>
            <a:ext cx="5897985" cy="1299741"/>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b="0" i="0" dirty="0">
                <a:solidFill>
                  <a:schemeClr val="tx1"/>
                </a:solidFill>
                <a:effectLst/>
                <a:latin typeface="Bahnschrift" panose="020B0502040204020203" pitchFamily="34" charset="0"/>
              </a:rPr>
              <a:t>The market saturated on entire house while ther</a:t>
            </a:r>
            <a:r>
              <a:rPr lang="en-US" sz="1400" dirty="0">
                <a:solidFill>
                  <a:schemeClr val="tx1"/>
                </a:solidFill>
                <a:latin typeface="Bahnschrift" panose="020B0502040204020203" pitchFamily="34" charset="0"/>
              </a:rPr>
              <a:t>e is a lot of improvement needed in </a:t>
            </a:r>
            <a:r>
              <a:rPr lang="en-US" sz="1400" b="1" dirty="0">
                <a:solidFill>
                  <a:schemeClr val="tx1"/>
                </a:solidFill>
                <a:latin typeface="Bahnschrift" panose="020B0502040204020203" pitchFamily="34" charset="0"/>
              </a:rPr>
              <a:t>shared rooms sector</a:t>
            </a:r>
            <a:r>
              <a:rPr lang="en-US" sz="1400" dirty="0">
                <a:solidFill>
                  <a:schemeClr val="tx1"/>
                </a:solidFill>
                <a:latin typeface="Bahnschrift" panose="020B0502040204020203" pitchFamily="34" charset="0"/>
              </a:rPr>
              <a:t>. There is lack number of listings and reviews number gathered in this segment. This is contradictory to what key characteristic of backpackers which usually likes to give out review to connect with other backpackers.</a:t>
            </a:r>
            <a:endParaRPr lang="en-NZ" sz="1400" dirty="0">
              <a:solidFill>
                <a:schemeClr val="tx1"/>
              </a:solidFill>
              <a:latin typeface="Bahnschrift" panose="020B0502040204020203" pitchFamily="34" charset="0"/>
            </a:endParaRPr>
          </a:p>
        </p:txBody>
      </p:sp>
      <p:pic>
        <p:nvPicPr>
          <p:cNvPr id="5" name="Picture 4">
            <a:extLst>
              <a:ext uri="{FF2B5EF4-FFF2-40B4-BE49-F238E27FC236}">
                <a16:creationId xmlns:a16="http://schemas.microsoft.com/office/drawing/2014/main" id="{ED18BDE9-68CB-4D71-C27D-E5E9F841E692}"/>
              </a:ext>
            </a:extLst>
          </p:cNvPr>
          <p:cNvPicPr>
            <a:picLocks noChangeAspect="1"/>
          </p:cNvPicPr>
          <p:nvPr/>
        </p:nvPicPr>
        <p:blipFill>
          <a:blip r:embed="rId3"/>
          <a:stretch>
            <a:fillRect/>
          </a:stretch>
        </p:blipFill>
        <p:spPr>
          <a:xfrm>
            <a:off x="6993147" y="1296810"/>
            <a:ext cx="4356178" cy="2973265"/>
          </a:xfrm>
          <a:prstGeom prst="rect">
            <a:avLst/>
          </a:prstGeom>
        </p:spPr>
      </p:pic>
      <p:sp>
        <p:nvSpPr>
          <p:cNvPr id="6" name="Rectangle 5">
            <a:extLst>
              <a:ext uri="{FF2B5EF4-FFF2-40B4-BE49-F238E27FC236}">
                <a16:creationId xmlns:a16="http://schemas.microsoft.com/office/drawing/2014/main" id="{0D6DE55F-D01E-77E5-B90E-1C359F622936}"/>
              </a:ext>
            </a:extLst>
          </p:cNvPr>
          <p:cNvSpPr/>
          <p:nvPr/>
        </p:nvSpPr>
        <p:spPr>
          <a:xfrm>
            <a:off x="835921" y="2757612"/>
            <a:ext cx="5897985" cy="816661"/>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b="0" i="0" dirty="0">
                <a:solidFill>
                  <a:schemeClr val="tx1"/>
                </a:solidFill>
                <a:effectLst/>
                <a:latin typeface="Bahnschrift" panose="020B0502040204020203" pitchFamily="34" charset="0"/>
              </a:rPr>
              <a:t>How to target this segment? </a:t>
            </a:r>
            <a:r>
              <a:rPr lang="en-US" sz="1400" dirty="0">
                <a:solidFill>
                  <a:schemeClr val="tx1"/>
                </a:solidFill>
                <a:latin typeface="Bahnschrift" panose="020B0502040204020203" pitchFamily="34" charset="0"/>
              </a:rPr>
              <a:t>I prepared the best practice of hosting a budget-oriented shared rooms learning from the best listings that existed in the market!</a:t>
            </a:r>
            <a:endParaRPr lang="en-NZ" sz="1400" dirty="0">
              <a:solidFill>
                <a:schemeClr val="tx1"/>
              </a:solidFill>
              <a:latin typeface="Bahnschrift" panose="020B0502040204020203" pitchFamily="34" charset="0"/>
            </a:endParaRPr>
          </a:p>
        </p:txBody>
      </p:sp>
      <p:pic>
        <p:nvPicPr>
          <p:cNvPr id="8" name="Picture 7">
            <a:extLst>
              <a:ext uri="{FF2B5EF4-FFF2-40B4-BE49-F238E27FC236}">
                <a16:creationId xmlns:a16="http://schemas.microsoft.com/office/drawing/2014/main" id="{18C7DA64-78DA-7817-AC6E-AA4A92A3AE2A}"/>
              </a:ext>
            </a:extLst>
          </p:cNvPr>
          <p:cNvPicPr>
            <a:picLocks noChangeAspect="1"/>
          </p:cNvPicPr>
          <p:nvPr/>
        </p:nvPicPr>
        <p:blipFill>
          <a:blip r:embed="rId4"/>
          <a:stretch>
            <a:fillRect/>
          </a:stretch>
        </p:blipFill>
        <p:spPr>
          <a:xfrm>
            <a:off x="10634150" y="2959188"/>
            <a:ext cx="1164979" cy="335947"/>
          </a:xfrm>
          <a:prstGeom prst="rect">
            <a:avLst/>
          </a:prstGeom>
        </p:spPr>
      </p:pic>
      <p:pic>
        <p:nvPicPr>
          <p:cNvPr id="10" name="Picture 9">
            <a:extLst>
              <a:ext uri="{FF2B5EF4-FFF2-40B4-BE49-F238E27FC236}">
                <a16:creationId xmlns:a16="http://schemas.microsoft.com/office/drawing/2014/main" id="{A479D1B8-5EB5-0ABD-A662-8911A7978DFD}"/>
              </a:ext>
            </a:extLst>
          </p:cNvPr>
          <p:cNvPicPr>
            <a:picLocks noChangeAspect="1"/>
          </p:cNvPicPr>
          <p:nvPr/>
        </p:nvPicPr>
        <p:blipFill>
          <a:blip r:embed="rId5"/>
          <a:stretch>
            <a:fillRect/>
          </a:stretch>
        </p:blipFill>
        <p:spPr>
          <a:xfrm>
            <a:off x="10051662" y="2403287"/>
            <a:ext cx="1164978" cy="354325"/>
          </a:xfrm>
          <a:prstGeom prst="rect">
            <a:avLst/>
          </a:prstGeom>
        </p:spPr>
      </p:pic>
      <p:pic>
        <p:nvPicPr>
          <p:cNvPr id="12" name="Picture 11">
            <a:extLst>
              <a:ext uri="{FF2B5EF4-FFF2-40B4-BE49-F238E27FC236}">
                <a16:creationId xmlns:a16="http://schemas.microsoft.com/office/drawing/2014/main" id="{182799BD-3304-87F9-79EE-09E73C1D0322}"/>
              </a:ext>
            </a:extLst>
          </p:cNvPr>
          <p:cNvPicPr>
            <a:picLocks noChangeAspect="1"/>
          </p:cNvPicPr>
          <p:nvPr/>
        </p:nvPicPr>
        <p:blipFill>
          <a:blip r:embed="rId6"/>
          <a:stretch>
            <a:fillRect/>
          </a:stretch>
        </p:blipFill>
        <p:spPr>
          <a:xfrm>
            <a:off x="9639251" y="3778370"/>
            <a:ext cx="1276955" cy="419103"/>
          </a:xfrm>
          <a:prstGeom prst="rect">
            <a:avLst/>
          </a:prstGeom>
        </p:spPr>
      </p:pic>
      <p:pic>
        <p:nvPicPr>
          <p:cNvPr id="14" name="Picture 13">
            <a:extLst>
              <a:ext uri="{FF2B5EF4-FFF2-40B4-BE49-F238E27FC236}">
                <a16:creationId xmlns:a16="http://schemas.microsoft.com/office/drawing/2014/main" id="{D1AE477E-5EE0-02E8-FCDC-8AF56EF6F86A}"/>
              </a:ext>
            </a:extLst>
          </p:cNvPr>
          <p:cNvPicPr>
            <a:picLocks noChangeAspect="1"/>
          </p:cNvPicPr>
          <p:nvPr/>
        </p:nvPicPr>
        <p:blipFill>
          <a:blip r:embed="rId7"/>
          <a:stretch>
            <a:fillRect/>
          </a:stretch>
        </p:blipFill>
        <p:spPr>
          <a:xfrm>
            <a:off x="9094156" y="2922065"/>
            <a:ext cx="1090190" cy="345926"/>
          </a:xfrm>
          <a:prstGeom prst="rect">
            <a:avLst/>
          </a:prstGeom>
        </p:spPr>
      </p:pic>
      <p:cxnSp>
        <p:nvCxnSpPr>
          <p:cNvPr id="16" name="Straight Connector 15">
            <a:extLst>
              <a:ext uri="{FF2B5EF4-FFF2-40B4-BE49-F238E27FC236}">
                <a16:creationId xmlns:a16="http://schemas.microsoft.com/office/drawing/2014/main" id="{EFC1B531-FB28-F85E-D4E8-548F296A66F3}"/>
              </a:ext>
            </a:extLst>
          </p:cNvPr>
          <p:cNvCxnSpPr>
            <a:cxnSpLocks/>
          </p:cNvCxnSpPr>
          <p:nvPr/>
        </p:nvCxnSpPr>
        <p:spPr>
          <a:xfrm flipH="1">
            <a:off x="11134089" y="3272572"/>
            <a:ext cx="22689" cy="169128"/>
          </a:xfrm>
          <a:prstGeom prst="line">
            <a:avLst/>
          </a:prstGeom>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249EBECD-6366-B7F0-3EE8-AEC281A95881}"/>
              </a:ext>
            </a:extLst>
          </p:cNvPr>
          <p:cNvCxnSpPr>
            <a:cxnSpLocks/>
          </p:cNvCxnSpPr>
          <p:nvPr/>
        </p:nvCxnSpPr>
        <p:spPr>
          <a:xfrm flipH="1">
            <a:off x="10245978" y="2744912"/>
            <a:ext cx="356423" cy="817438"/>
          </a:xfrm>
          <a:prstGeom prst="line">
            <a:avLst/>
          </a:prstGeom>
        </p:spPr>
        <p:style>
          <a:lnRef idx="3">
            <a:schemeClr val="dk1"/>
          </a:lnRef>
          <a:fillRef idx="0">
            <a:schemeClr val="dk1"/>
          </a:fillRef>
          <a:effectRef idx="2">
            <a:schemeClr val="dk1"/>
          </a:effectRef>
          <a:fontRef idx="minor">
            <a:schemeClr val="tx1"/>
          </a:fontRef>
        </p:style>
      </p:cxnSp>
      <p:cxnSp>
        <p:nvCxnSpPr>
          <p:cNvPr id="22" name="Straight Connector 21">
            <a:extLst>
              <a:ext uri="{FF2B5EF4-FFF2-40B4-BE49-F238E27FC236}">
                <a16:creationId xmlns:a16="http://schemas.microsoft.com/office/drawing/2014/main" id="{A8D63F15-485A-90F5-D71A-252756F1BEF3}"/>
              </a:ext>
            </a:extLst>
          </p:cNvPr>
          <p:cNvCxnSpPr>
            <a:cxnSpLocks/>
          </p:cNvCxnSpPr>
          <p:nvPr/>
        </p:nvCxnSpPr>
        <p:spPr>
          <a:xfrm>
            <a:off x="9624785" y="3245216"/>
            <a:ext cx="300320" cy="251495"/>
          </a:xfrm>
          <a:prstGeom prst="line">
            <a:avLst/>
          </a:prstGeom>
        </p:spPr>
        <p:style>
          <a:lnRef idx="3">
            <a:schemeClr val="dk1"/>
          </a:lnRef>
          <a:fillRef idx="0">
            <a:schemeClr val="dk1"/>
          </a:fillRef>
          <a:effectRef idx="2">
            <a:schemeClr val="dk1"/>
          </a:effectRef>
          <a:fontRef idx="minor">
            <a:schemeClr val="tx1"/>
          </a:fontRef>
        </p:style>
      </p:cxnSp>
      <p:cxnSp>
        <p:nvCxnSpPr>
          <p:cNvPr id="24" name="Straight Connector 23">
            <a:extLst>
              <a:ext uri="{FF2B5EF4-FFF2-40B4-BE49-F238E27FC236}">
                <a16:creationId xmlns:a16="http://schemas.microsoft.com/office/drawing/2014/main" id="{622C47AF-A3BE-02F1-1462-425BAB62696C}"/>
              </a:ext>
            </a:extLst>
          </p:cNvPr>
          <p:cNvCxnSpPr>
            <a:cxnSpLocks/>
            <a:stCxn id="12" idx="0"/>
          </p:cNvCxnSpPr>
          <p:nvPr/>
        </p:nvCxnSpPr>
        <p:spPr>
          <a:xfrm flipH="1" flipV="1">
            <a:off x="10095050" y="3649171"/>
            <a:ext cx="182679" cy="129199"/>
          </a:xfrm>
          <a:prstGeom prst="line">
            <a:avLst/>
          </a:prstGeom>
        </p:spPr>
        <p:style>
          <a:lnRef idx="3">
            <a:schemeClr val="dk1"/>
          </a:lnRef>
          <a:fillRef idx="0">
            <a:schemeClr val="dk1"/>
          </a:fillRef>
          <a:effectRef idx="2">
            <a:schemeClr val="dk1"/>
          </a:effectRef>
          <a:fontRef idx="minor">
            <a:schemeClr val="tx1"/>
          </a:fontRef>
        </p:style>
      </p:cxnSp>
      <p:pic>
        <p:nvPicPr>
          <p:cNvPr id="27" name="Picture 26">
            <a:extLst>
              <a:ext uri="{FF2B5EF4-FFF2-40B4-BE49-F238E27FC236}">
                <a16:creationId xmlns:a16="http://schemas.microsoft.com/office/drawing/2014/main" id="{BBDEB9C8-6E1E-DD2F-28DD-7F355D1FA242}"/>
              </a:ext>
            </a:extLst>
          </p:cNvPr>
          <p:cNvPicPr>
            <a:picLocks noChangeAspect="1"/>
          </p:cNvPicPr>
          <p:nvPr/>
        </p:nvPicPr>
        <p:blipFill>
          <a:blip r:embed="rId8"/>
          <a:stretch>
            <a:fillRect/>
          </a:stretch>
        </p:blipFill>
        <p:spPr>
          <a:xfrm>
            <a:off x="7120789" y="3776143"/>
            <a:ext cx="1276955" cy="421330"/>
          </a:xfrm>
          <a:prstGeom prst="rect">
            <a:avLst/>
          </a:prstGeom>
        </p:spPr>
      </p:pic>
      <p:cxnSp>
        <p:nvCxnSpPr>
          <p:cNvPr id="29" name="Straight Connector 28">
            <a:extLst>
              <a:ext uri="{FF2B5EF4-FFF2-40B4-BE49-F238E27FC236}">
                <a16:creationId xmlns:a16="http://schemas.microsoft.com/office/drawing/2014/main" id="{CE0170AC-1723-3BE8-E415-1226735749CA}"/>
              </a:ext>
            </a:extLst>
          </p:cNvPr>
          <p:cNvCxnSpPr>
            <a:stCxn id="27" idx="3"/>
          </p:cNvCxnSpPr>
          <p:nvPr/>
        </p:nvCxnSpPr>
        <p:spPr>
          <a:xfrm flipV="1">
            <a:off x="8397744" y="3708400"/>
            <a:ext cx="930406" cy="278408"/>
          </a:xfrm>
          <a:prstGeom prst="line">
            <a:avLst/>
          </a:prstGeom>
        </p:spPr>
        <p:style>
          <a:lnRef idx="3">
            <a:schemeClr val="dk1"/>
          </a:lnRef>
          <a:fillRef idx="0">
            <a:schemeClr val="dk1"/>
          </a:fillRef>
          <a:effectRef idx="2">
            <a:schemeClr val="dk1"/>
          </a:effectRef>
          <a:fontRef idx="minor">
            <a:schemeClr val="tx1"/>
          </a:fontRef>
        </p:style>
      </p:cxnSp>
      <p:sp>
        <p:nvSpPr>
          <p:cNvPr id="31" name="Arrow: Right 30">
            <a:extLst>
              <a:ext uri="{FF2B5EF4-FFF2-40B4-BE49-F238E27FC236}">
                <a16:creationId xmlns:a16="http://schemas.microsoft.com/office/drawing/2014/main" id="{E2B242A4-26EF-C11A-4B48-4B9DC3C10684}"/>
              </a:ext>
            </a:extLst>
          </p:cNvPr>
          <p:cNvSpPr/>
          <p:nvPr/>
        </p:nvSpPr>
        <p:spPr>
          <a:xfrm>
            <a:off x="6733907" y="2827020"/>
            <a:ext cx="259240" cy="735330"/>
          </a:xfrm>
          <a:prstGeom prst="rightArrow">
            <a:avLst/>
          </a:prstGeom>
          <a:solidFill>
            <a:srgbClr val="DB2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32" name="Rectangle 31">
            <a:extLst>
              <a:ext uri="{FF2B5EF4-FFF2-40B4-BE49-F238E27FC236}">
                <a16:creationId xmlns:a16="http://schemas.microsoft.com/office/drawing/2014/main" id="{608BC205-B94B-84D1-9476-24633ED1BFF8}"/>
              </a:ext>
            </a:extLst>
          </p:cNvPr>
          <p:cNvSpPr/>
          <p:nvPr/>
        </p:nvSpPr>
        <p:spPr>
          <a:xfrm>
            <a:off x="6993147" y="4624355"/>
            <a:ext cx="4356178" cy="1504393"/>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0" i="0" dirty="0">
                <a:solidFill>
                  <a:schemeClr val="tx1"/>
                </a:solidFill>
                <a:effectLst/>
                <a:latin typeface="Bahnschrift" panose="020B0502040204020203" pitchFamily="34" charset="0"/>
              </a:rPr>
              <a:t>Key Characteristic:</a:t>
            </a:r>
          </a:p>
          <a:p>
            <a:pPr marL="285750" indent="-285750">
              <a:buFontTx/>
              <a:buChar char="-"/>
            </a:pPr>
            <a:r>
              <a:rPr lang="en-US" sz="1400" dirty="0">
                <a:solidFill>
                  <a:schemeClr val="tx1"/>
                </a:solidFill>
                <a:latin typeface="Bahnschrift" panose="020B0502040204020203" pitchFamily="34" charset="0"/>
              </a:rPr>
              <a:t>Pricing around 320 to 500 THB (10 to 15USD) works the best for shared rooms segment</a:t>
            </a:r>
          </a:p>
          <a:p>
            <a:pPr marL="285750" indent="-285750">
              <a:buFontTx/>
              <a:buChar char="-"/>
            </a:pPr>
            <a:r>
              <a:rPr lang="en-US" sz="1400" dirty="0">
                <a:solidFill>
                  <a:schemeClr val="tx1"/>
                </a:solidFill>
                <a:latin typeface="Bahnschrift" panose="020B0502040204020203" pitchFamily="34" charset="0"/>
              </a:rPr>
              <a:t>The location near attractions (city center) like Phra </a:t>
            </a:r>
            <a:r>
              <a:rPr lang="en-US" sz="1400" dirty="0" err="1">
                <a:solidFill>
                  <a:schemeClr val="tx1"/>
                </a:solidFill>
                <a:latin typeface="Bahnschrift" panose="020B0502040204020203" pitchFamily="34" charset="0"/>
              </a:rPr>
              <a:t>Nakhron</a:t>
            </a:r>
            <a:r>
              <a:rPr lang="en-US" sz="1400" dirty="0">
                <a:solidFill>
                  <a:schemeClr val="tx1"/>
                </a:solidFill>
                <a:latin typeface="Bahnschrift" panose="020B0502040204020203" pitchFamily="34" charset="0"/>
              </a:rPr>
              <a:t>, </a:t>
            </a:r>
            <a:r>
              <a:rPr lang="en-US" sz="1400" dirty="0" err="1">
                <a:solidFill>
                  <a:schemeClr val="tx1"/>
                </a:solidFill>
                <a:latin typeface="Bahnschrift" panose="020B0502040204020203" pitchFamily="34" charset="0"/>
              </a:rPr>
              <a:t>Phaya</a:t>
            </a:r>
            <a:r>
              <a:rPr lang="en-US" sz="1400" dirty="0">
                <a:solidFill>
                  <a:schemeClr val="tx1"/>
                </a:solidFill>
                <a:latin typeface="Bahnschrift" panose="020B0502040204020203" pitchFamily="34" charset="0"/>
              </a:rPr>
              <a:t> Thai, </a:t>
            </a:r>
            <a:r>
              <a:rPr lang="en-US" sz="1400" dirty="0" err="1">
                <a:solidFill>
                  <a:schemeClr val="tx1"/>
                </a:solidFill>
                <a:latin typeface="Bahnschrift" panose="020B0502040204020203" pitchFamily="34" charset="0"/>
              </a:rPr>
              <a:t>Vadhana</a:t>
            </a:r>
            <a:r>
              <a:rPr lang="en-US" sz="1400" dirty="0">
                <a:solidFill>
                  <a:schemeClr val="tx1"/>
                </a:solidFill>
                <a:latin typeface="Bahnschrift" panose="020B0502040204020203" pitchFamily="34" charset="0"/>
              </a:rPr>
              <a:t>, Bang Rak</a:t>
            </a:r>
          </a:p>
        </p:txBody>
      </p:sp>
      <p:sp>
        <p:nvSpPr>
          <p:cNvPr id="33" name="Arrow: Right 32">
            <a:extLst>
              <a:ext uri="{FF2B5EF4-FFF2-40B4-BE49-F238E27FC236}">
                <a16:creationId xmlns:a16="http://schemas.microsoft.com/office/drawing/2014/main" id="{D3F12C3B-B4E1-77ED-5623-0168537DAC3E}"/>
              </a:ext>
            </a:extLst>
          </p:cNvPr>
          <p:cNvSpPr/>
          <p:nvPr/>
        </p:nvSpPr>
        <p:spPr>
          <a:xfrm rot="5400000">
            <a:off x="8944332" y="3063137"/>
            <a:ext cx="337201" cy="2742027"/>
          </a:xfrm>
          <a:prstGeom prst="rightArrow">
            <a:avLst/>
          </a:prstGeom>
          <a:solidFill>
            <a:srgbClr val="DB2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34" name="Rectangle 33">
            <a:extLst>
              <a:ext uri="{FF2B5EF4-FFF2-40B4-BE49-F238E27FC236}">
                <a16:creationId xmlns:a16="http://schemas.microsoft.com/office/drawing/2014/main" id="{49CAA86E-445B-766C-36F2-9456B806DB9E}"/>
              </a:ext>
            </a:extLst>
          </p:cNvPr>
          <p:cNvSpPr/>
          <p:nvPr/>
        </p:nvSpPr>
        <p:spPr>
          <a:xfrm>
            <a:off x="829352" y="3776143"/>
            <a:ext cx="5897985" cy="2352605"/>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NZ" sz="1400" dirty="0">
                <a:solidFill>
                  <a:schemeClr val="tx1"/>
                </a:solidFill>
                <a:latin typeface="Bahnschrift" panose="020B0502040204020203" pitchFamily="34" charset="0"/>
              </a:rPr>
              <a:t>Key Business Recommendation:</a:t>
            </a:r>
          </a:p>
          <a:p>
            <a:pPr marL="285750" indent="-285750" algn="just">
              <a:buFont typeface="Arial" panose="020B0604020202020204" pitchFamily="34" charset="0"/>
              <a:buChar char="•"/>
            </a:pPr>
            <a:r>
              <a:rPr lang="en-NZ" sz="1400" dirty="0">
                <a:solidFill>
                  <a:schemeClr val="tx1"/>
                </a:solidFill>
                <a:latin typeface="Bahnschrift" panose="020B0502040204020203" pitchFamily="34" charset="0"/>
              </a:rPr>
              <a:t>For new hosts, aiming to build a hostels or shared rooms business in city centre or proximity to transportation with price ranges from 320 to 500 THB per night works the best.</a:t>
            </a:r>
          </a:p>
          <a:p>
            <a:pPr marL="285750" indent="-285750" algn="just">
              <a:buFont typeface="Arial" panose="020B0604020202020204" pitchFamily="34" charset="0"/>
              <a:buChar char="•"/>
            </a:pPr>
            <a:r>
              <a:rPr lang="en-NZ" sz="1400" dirty="0">
                <a:solidFill>
                  <a:schemeClr val="tx1"/>
                </a:solidFill>
                <a:latin typeface="Bahnschrift" panose="020B0502040204020203" pitchFamily="34" charset="0"/>
              </a:rPr>
              <a:t>For existing host specific: there is possibility to expand the shared room business to outskirt of city centre with note that it must near a public transportation.</a:t>
            </a:r>
          </a:p>
          <a:p>
            <a:pPr marL="285750" indent="-285750" algn="just">
              <a:buFont typeface="Arial" panose="020B0604020202020204" pitchFamily="34" charset="0"/>
              <a:buChar char="•"/>
            </a:pPr>
            <a:r>
              <a:rPr lang="en-NZ" sz="1400" dirty="0">
                <a:solidFill>
                  <a:schemeClr val="tx1"/>
                </a:solidFill>
                <a:latin typeface="Bahnschrift" panose="020B0502040204020203" pitchFamily="34" charset="0"/>
              </a:rPr>
              <a:t>For existing underperforming business owner, there is a significant opportunity to increase reviews by fixing non-data driven parameter such as cleanliness, service, and room quality.</a:t>
            </a:r>
          </a:p>
        </p:txBody>
      </p:sp>
    </p:spTree>
    <p:extLst>
      <p:ext uri="{BB962C8B-B14F-4D97-AF65-F5344CB8AC3E}">
        <p14:creationId xmlns:p14="http://schemas.microsoft.com/office/powerpoint/2010/main" val="2712584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1026" name="Picture 2" descr="Airbnb Logo History">
            <a:extLst>
              <a:ext uri="{FF2B5EF4-FFF2-40B4-BE49-F238E27FC236}">
                <a16:creationId xmlns:a16="http://schemas.microsoft.com/office/drawing/2014/main" id="{5108C76A-7F9D-6C3F-E7B6-A22608EA2CA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054" b="95969" l="9932" r="89932">
                        <a14:foregroundMark x1="52232" y1="9622" x2="53787" y2="9469"/>
                        <a14:foregroundMark x1="43356" y1="10493" x2="44704" y2="10360"/>
                        <a14:foregroundMark x1="46893" y1="5246" x2="49615" y2="5246"/>
                        <a14:foregroundMark x1="27664" y1="82790" x2="24036" y2="83237"/>
                        <a14:foregroundMark x1="24898" y1="94562" x2="26984" y2="93922"/>
                        <a14:foregroundMark x1="34331" y1="83749" x2="33696" y2="90403"/>
                        <a14:foregroundMark x1="34558" y1="76903" x2="34558" y2="76903"/>
                        <a14:foregroundMark x1="41789" y1="81375" x2="41587" y2="82470"/>
                        <a14:foregroundMark x1="39184" y1="95521" x2="39941" y2="91411"/>
                        <a14:foregroundMark x1="46893" y1="77223" x2="46531" y2="95969"/>
                        <a14:foregroundMark x1="58957" y1="83877" x2="58095" y2="93346"/>
                        <a14:foregroundMark x1="69433" y1="76711" x2="69297" y2="80486"/>
                        <a14:foregroundMark x1="40544" y1="83429" x2="40952" y2="84005"/>
                        <a14:foregroundMark x1="41859" y1="83301" x2="38957" y2="83749"/>
                        <a14:foregroundMark x1="39758" y1="89083" x2="39138" y2="91875"/>
                        <a14:backgroundMark x1="46395" y1="13180" x2="47392" y2="10940"/>
                        <a14:backgroundMark x1="46304" y1="10365" x2="48209" y2="9789"/>
                        <a14:backgroundMark x1="48617" y1="9469" x2="50522" y2="10237"/>
                        <a14:backgroundMark x1="48027" y1="9917" x2="48707" y2="10621"/>
                        <a14:backgroundMark x1="48798" y1="9789" x2="49932" y2="10237"/>
                        <a14:backgroundMark x1="48798" y1="10237" x2="45986" y2="10813"/>
                        <a14:backgroundMark x1="46803" y1="10365" x2="45306" y2="11388"/>
                        <a14:backgroundMark x1="49342" y1="9469" x2="50839" y2="10109"/>
                        <a14:backgroundMark x1="48798" y1="9789" x2="50023" y2="10237"/>
                        <a14:backgroundMark x1="48299" y1="10045" x2="50340" y2="10365"/>
                        <a14:backgroundMark x1="50431" y1="10045" x2="51066" y2="10365"/>
                        <a14:backgroundMark x1="50249" y1="9341" x2="51474" y2="10621"/>
                        <a14:backgroundMark x1="45306" y1="10365" x2="44807" y2="11068"/>
                        <a14:backgroundMark x1="44490" y1="11196" x2="44807" y2="11196"/>
                        <a14:backgroundMark x1="44717" y1="10813" x2="44717" y2="10813"/>
                        <a14:backgroundMark x1="45079" y1="11388" x2="44490" y2="11068"/>
                        <a14:backgroundMark x1="41678" y1="90275" x2="41179" y2="85988"/>
                        <a14:backgroundMark x1="41542" y1="90595" x2="41361" y2="86308"/>
                        <a14:backgroundMark x1="41088" y1="90595" x2="41270" y2="86180"/>
                        <a14:backgroundMark x1="40952" y1="91299" x2="41047" y2="86921"/>
                        <a14:backgroundMark x1="40544" y1="91427" x2="40590" y2="88978"/>
                        <a14:backgroundMark x1="40862" y1="91555" x2="41292" y2="85817"/>
                        <a14:backgroundMark x1="40454" y1="90979" x2="40796" y2="88050"/>
                        <a14:backgroundMark x1="40136" y1="90595" x2="42494" y2="84581"/>
                        <a14:backgroundMark x1="41270" y1="90979" x2="41995" y2="84709"/>
                        <a14:backgroundMark x1="41769" y1="85733" x2="41475" y2="84995"/>
                        <a14:backgroundMark x1="41361" y1="92386" x2="41361" y2="85733"/>
                        <a14:backgroundMark x1="41043" y1="85733" x2="40635" y2="86564"/>
                        <a14:backgroundMark x1="41451" y1="85477" x2="40272" y2="86436"/>
                        <a14:backgroundMark x1="41179" y1="85413" x2="40680" y2="89315"/>
                        <a14:backgroundMark x1="40544" y1="87716" x2="40544" y2="90275"/>
                        <a14:backgroundMark x1="41270" y1="85988" x2="41179" y2="85413"/>
                      </a14:backgroundRemoval>
                    </a14:imgEffect>
                  </a14:imgLayer>
                </a14:imgProps>
              </a:ext>
              <a:ext uri="{28A0092B-C50C-407E-A947-70E740481C1C}">
                <a14:useLocalDpi xmlns:a14="http://schemas.microsoft.com/office/drawing/2010/main" val="0"/>
              </a:ext>
            </a:extLst>
          </a:blip>
          <a:srcRect/>
          <a:stretch>
            <a:fillRect/>
          </a:stretch>
        </p:blipFill>
        <p:spPr bwMode="auto">
          <a:xfrm>
            <a:off x="0" y="287547"/>
            <a:ext cx="2126843" cy="150770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6EA021BE-E3E6-E0DA-F3D7-C34CE48DC307}"/>
              </a:ext>
            </a:extLst>
          </p:cNvPr>
          <p:cNvSpPr/>
          <p:nvPr/>
        </p:nvSpPr>
        <p:spPr>
          <a:xfrm>
            <a:off x="885826" y="2257425"/>
            <a:ext cx="10077450" cy="3766548"/>
          </a:xfrm>
          <a:prstGeom prst="rect">
            <a:avLst/>
          </a:prstGeom>
          <a:solidFill>
            <a:schemeClr val="bg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just">
              <a:buFont typeface="+mj-lt"/>
              <a:buAutoNum type="arabicPeriod"/>
            </a:pPr>
            <a:r>
              <a:rPr lang="en-US" sz="2000" b="1" dirty="0">
                <a:solidFill>
                  <a:schemeClr val="tx1"/>
                </a:solidFill>
                <a:latin typeface="Bahnschrift" panose="020B0502040204020203" pitchFamily="34" charset="0"/>
              </a:rPr>
              <a:t>Market is segmented, not monolithic </a:t>
            </a:r>
            <a:r>
              <a:rPr lang="en-US" sz="2000" dirty="0">
                <a:solidFill>
                  <a:schemeClr val="tx1"/>
                </a:solidFill>
                <a:latin typeface="Bahnschrift" panose="020B0502040204020203" pitchFamily="34" charset="0"/>
              </a:rPr>
              <a:t>- Entire homes ≠ shared rooms in pricing/performance</a:t>
            </a:r>
          </a:p>
          <a:p>
            <a:pPr marL="342900" indent="-342900" algn="just">
              <a:buFont typeface="+mj-lt"/>
              <a:buAutoNum type="arabicPeriod"/>
            </a:pPr>
            <a:r>
              <a:rPr lang="en-US" sz="2000" b="1" dirty="0">
                <a:solidFill>
                  <a:schemeClr val="tx1"/>
                </a:solidFill>
                <a:latin typeface="Bahnschrift" panose="020B0502040204020203" pitchFamily="34" charset="0"/>
              </a:rPr>
              <a:t>Location matters more for budget options</a:t>
            </a:r>
            <a:r>
              <a:rPr lang="en-US" sz="2000" dirty="0">
                <a:solidFill>
                  <a:schemeClr val="tx1"/>
                </a:solidFill>
                <a:latin typeface="Bahnschrift" panose="020B0502040204020203" pitchFamily="34" charset="0"/>
              </a:rPr>
              <a:t> - Central Bangkok attracts overall sectors </a:t>
            </a:r>
            <a:r>
              <a:rPr lang="en-US" sz="2000">
                <a:solidFill>
                  <a:schemeClr val="tx1"/>
                </a:solidFill>
                <a:latin typeface="Bahnschrift" panose="020B0502040204020203" pitchFamily="34" charset="0"/>
              </a:rPr>
              <a:t>from budget to </a:t>
            </a:r>
            <a:r>
              <a:rPr lang="en-US" sz="2000" dirty="0">
                <a:solidFill>
                  <a:schemeClr val="tx1"/>
                </a:solidFill>
                <a:latin typeface="Bahnschrift" panose="020B0502040204020203" pitchFamily="34" charset="0"/>
              </a:rPr>
              <a:t>premium segments</a:t>
            </a:r>
          </a:p>
          <a:p>
            <a:pPr marL="342900" indent="-342900" algn="just">
              <a:buFont typeface="+mj-lt"/>
              <a:buAutoNum type="arabicPeriod"/>
            </a:pPr>
            <a:r>
              <a:rPr lang="en-US" sz="2000" b="1" dirty="0">
                <a:solidFill>
                  <a:schemeClr val="tx1"/>
                </a:solidFill>
                <a:latin typeface="Bahnschrift" panose="020B0502040204020203" pitchFamily="34" charset="0"/>
              </a:rPr>
              <a:t>Professional scale wins in high-performance </a:t>
            </a:r>
            <a:r>
              <a:rPr lang="en-US" sz="2000" dirty="0">
                <a:solidFill>
                  <a:schemeClr val="tx1"/>
                </a:solidFill>
                <a:latin typeface="Bahnschrift" panose="020B0502040204020203" pitchFamily="34" charset="0"/>
              </a:rPr>
              <a:t>- Multi-listing hosts dominate, but niches exist for single operators</a:t>
            </a:r>
          </a:p>
          <a:p>
            <a:pPr marL="342900" indent="-342900" algn="just">
              <a:buFont typeface="+mj-lt"/>
              <a:buAutoNum type="arabicPeriod"/>
            </a:pPr>
            <a:r>
              <a:rPr lang="en-US" sz="2000" b="1" dirty="0">
                <a:solidFill>
                  <a:schemeClr val="tx1"/>
                </a:solidFill>
                <a:latin typeface="Bahnschrift" panose="020B0502040204020203" pitchFamily="34" charset="0"/>
              </a:rPr>
              <a:t>Shared rooms = untapped opportunity </a:t>
            </a:r>
            <a:r>
              <a:rPr lang="en-US" sz="2000" dirty="0">
                <a:solidFill>
                  <a:schemeClr val="tx1"/>
                </a:solidFill>
                <a:latin typeface="Bahnschrift" panose="020B0502040204020203" pitchFamily="34" charset="0"/>
              </a:rPr>
              <a:t>- Underperforming segment with backpacker appeal mismatch</a:t>
            </a:r>
          </a:p>
          <a:p>
            <a:pPr marL="342900" indent="-342900" algn="just">
              <a:buFont typeface="+mj-lt"/>
              <a:buAutoNum type="arabicPeriod"/>
            </a:pPr>
            <a:r>
              <a:rPr lang="en-US" sz="2000" b="1" dirty="0">
                <a:solidFill>
                  <a:schemeClr val="tx1"/>
                </a:solidFill>
                <a:latin typeface="Bahnschrift" panose="020B0502040204020203" pitchFamily="34" charset="0"/>
              </a:rPr>
              <a:t>Flexibility drives velocity </a:t>
            </a:r>
            <a:r>
              <a:rPr lang="en-US" sz="2000" dirty="0">
                <a:solidFill>
                  <a:schemeClr val="tx1"/>
                </a:solidFill>
                <a:latin typeface="Bahnschrift" panose="020B0502040204020203" pitchFamily="34" charset="0"/>
              </a:rPr>
              <a:t>- 1-night minimums crucial for high-review, high-turnover success</a:t>
            </a:r>
            <a:endParaRPr lang="en-NZ" sz="2000" dirty="0">
              <a:solidFill>
                <a:schemeClr val="tx1"/>
              </a:solidFill>
              <a:latin typeface="Bahnschrift" panose="020B0502040204020203" pitchFamily="34" charset="0"/>
            </a:endParaRPr>
          </a:p>
        </p:txBody>
      </p:sp>
      <p:sp>
        <p:nvSpPr>
          <p:cNvPr id="7" name="Rectangle 6">
            <a:extLst>
              <a:ext uri="{FF2B5EF4-FFF2-40B4-BE49-F238E27FC236}">
                <a16:creationId xmlns:a16="http://schemas.microsoft.com/office/drawing/2014/main" id="{8A8840AC-4D35-25E8-1AFC-52EC552EBC48}"/>
              </a:ext>
            </a:extLst>
          </p:cNvPr>
          <p:cNvSpPr/>
          <p:nvPr/>
        </p:nvSpPr>
        <p:spPr>
          <a:xfrm>
            <a:off x="2126842" y="428625"/>
            <a:ext cx="8836433" cy="1434141"/>
          </a:xfrm>
          <a:prstGeom prst="rect">
            <a:avLst/>
          </a:prstGeom>
          <a:solidFill>
            <a:srgbClr val="DB255D">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effectLst>
                <a:reflection stA="38000" endPos="65000" dist="50800" dir="5400000" sy="-100000" algn="bl" rotWithShape="0"/>
              </a:effectLst>
            </a:endParaRPr>
          </a:p>
        </p:txBody>
      </p:sp>
      <p:sp>
        <p:nvSpPr>
          <p:cNvPr id="8" name="Title 1">
            <a:extLst>
              <a:ext uri="{FF2B5EF4-FFF2-40B4-BE49-F238E27FC236}">
                <a16:creationId xmlns:a16="http://schemas.microsoft.com/office/drawing/2014/main" id="{055F4937-56CD-3973-3D1A-105A5CF71A19}"/>
              </a:ext>
            </a:extLst>
          </p:cNvPr>
          <p:cNvSpPr>
            <a:spLocks noGrp="1"/>
          </p:cNvSpPr>
          <p:nvPr>
            <p:ph type="ctrTitle"/>
          </p:nvPr>
        </p:nvSpPr>
        <p:spPr>
          <a:xfrm>
            <a:off x="2126842" y="-91116"/>
            <a:ext cx="8218632" cy="1624642"/>
          </a:xfrm>
        </p:spPr>
        <p:txBody>
          <a:bodyPr>
            <a:noAutofit/>
          </a:bodyPr>
          <a:lstStyle/>
          <a:p>
            <a:r>
              <a:rPr lang="en-NZ" sz="4400" b="1" dirty="0">
                <a:solidFill>
                  <a:schemeClr val="bg1"/>
                </a:solidFill>
                <a:effectLst>
                  <a:outerShdw blurRad="50800" dist="38100" dir="2700000" algn="tl" rotWithShape="0">
                    <a:prstClr val="black">
                      <a:alpha val="40000"/>
                    </a:prstClr>
                  </a:outerShdw>
                </a:effectLst>
                <a:latin typeface="Bahnschrift" panose="020B0502040204020203" pitchFamily="34" charset="0"/>
              </a:rPr>
              <a:t> Conclusion</a:t>
            </a:r>
          </a:p>
        </p:txBody>
      </p:sp>
    </p:spTree>
    <p:extLst>
      <p:ext uri="{BB962C8B-B14F-4D97-AF65-F5344CB8AC3E}">
        <p14:creationId xmlns:p14="http://schemas.microsoft.com/office/powerpoint/2010/main" val="112416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ED487B2-4523-1BA4-C64E-C49F53F13926}"/>
              </a:ext>
            </a:extLst>
          </p:cNvPr>
          <p:cNvSpPr/>
          <p:nvPr/>
        </p:nvSpPr>
        <p:spPr>
          <a:xfrm>
            <a:off x="5745018" y="0"/>
            <a:ext cx="6446982" cy="6858000"/>
          </a:xfrm>
          <a:prstGeom prst="rect">
            <a:avLst/>
          </a:prstGeom>
          <a:solidFill>
            <a:srgbClr val="DB255D">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effectLst>
                <a:reflection stA="38000" endPos="65000" dist="50800" dir="5400000" sy="-100000" algn="bl" rotWithShape="0"/>
              </a:effectLst>
            </a:endParaRPr>
          </a:p>
        </p:txBody>
      </p:sp>
      <p:sp>
        <p:nvSpPr>
          <p:cNvPr id="2" name="Title 1">
            <a:extLst>
              <a:ext uri="{FF2B5EF4-FFF2-40B4-BE49-F238E27FC236}">
                <a16:creationId xmlns:a16="http://schemas.microsoft.com/office/drawing/2014/main" id="{33DF00AC-0D80-4511-A3B9-F4DCD88BF724}"/>
              </a:ext>
            </a:extLst>
          </p:cNvPr>
          <p:cNvSpPr>
            <a:spLocks noGrp="1"/>
          </p:cNvSpPr>
          <p:nvPr>
            <p:ph type="ctrTitle"/>
          </p:nvPr>
        </p:nvSpPr>
        <p:spPr>
          <a:xfrm>
            <a:off x="5805578" y="1475116"/>
            <a:ext cx="6142008" cy="1953883"/>
          </a:xfrm>
        </p:spPr>
        <p:txBody>
          <a:bodyPr>
            <a:noAutofit/>
          </a:bodyPr>
          <a:lstStyle/>
          <a:p>
            <a:r>
              <a:rPr lang="en-NZ" sz="4400" b="1" dirty="0">
                <a:solidFill>
                  <a:schemeClr val="bg1"/>
                </a:solidFill>
                <a:effectLst>
                  <a:outerShdw blurRad="50800" dist="38100" dir="2700000" algn="tl" rotWithShape="0">
                    <a:prstClr val="black">
                      <a:alpha val="40000"/>
                    </a:prstClr>
                  </a:outerShdw>
                </a:effectLst>
                <a:latin typeface="Bahnschrift" panose="020B0502040204020203" pitchFamily="34" charset="0"/>
              </a:rPr>
              <a:t>Thank you for listening to my presentation!</a:t>
            </a:r>
          </a:p>
        </p:txBody>
      </p:sp>
      <p:pic>
        <p:nvPicPr>
          <p:cNvPr id="1026" name="Picture 2" descr="Airbnb Logo History">
            <a:extLst>
              <a:ext uri="{FF2B5EF4-FFF2-40B4-BE49-F238E27FC236}">
                <a16:creationId xmlns:a16="http://schemas.microsoft.com/office/drawing/2014/main" id="{5108C76A-7F9D-6C3F-E7B6-A22608EA2CA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054" b="95969" l="9932" r="89932">
                        <a14:foregroundMark x1="52232" y1="9622" x2="53787" y2="9469"/>
                        <a14:foregroundMark x1="43356" y1="10493" x2="44704" y2="10360"/>
                        <a14:foregroundMark x1="46893" y1="5246" x2="49615" y2="5246"/>
                        <a14:foregroundMark x1="27664" y1="82790" x2="24036" y2="83237"/>
                        <a14:foregroundMark x1="24898" y1="94562" x2="26984" y2="93922"/>
                        <a14:foregroundMark x1="34331" y1="83749" x2="33696" y2="90403"/>
                        <a14:foregroundMark x1="34558" y1="76903" x2="34558" y2="76903"/>
                        <a14:foregroundMark x1="41789" y1="81375" x2="41587" y2="82470"/>
                        <a14:foregroundMark x1="39184" y1="95521" x2="39941" y2="91411"/>
                        <a14:foregroundMark x1="46893" y1="77223" x2="46531" y2="95969"/>
                        <a14:foregroundMark x1="58957" y1="83877" x2="58095" y2="93346"/>
                        <a14:foregroundMark x1="69433" y1="76711" x2="69297" y2="80486"/>
                        <a14:foregroundMark x1="40544" y1="83429" x2="40952" y2="84005"/>
                        <a14:foregroundMark x1="41859" y1="83301" x2="38957" y2="83749"/>
                        <a14:foregroundMark x1="39758" y1="89083" x2="39138" y2="91875"/>
                        <a14:backgroundMark x1="46395" y1="13180" x2="47392" y2="10940"/>
                        <a14:backgroundMark x1="46304" y1="10365" x2="48209" y2="9789"/>
                        <a14:backgroundMark x1="48617" y1="9469" x2="50522" y2="10237"/>
                        <a14:backgroundMark x1="48027" y1="9917" x2="48707" y2="10621"/>
                        <a14:backgroundMark x1="48798" y1="9789" x2="49932" y2="10237"/>
                        <a14:backgroundMark x1="48798" y1="10237" x2="45986" y2="10813"/>
                        <a14:backgroundMark x1="46803" y1="10365" x2="45306" y2="11388"/>
                        <a14:backgroundMark x1="49342" y1="9469" x2="50839" y2="10109"/>
                        <a14:backgroundMark x1="48798" y1="9789" x2="50023" y2="10237"/>
                        <a14:backgroundMark x1="48299" y1="10045" x2="50340" y2="10365"/>
                        <a14:backgroundMark x1="50431" y1="10045" x2="51066" y2="10365"/>
                        <a14:backgroundMark x1="50249" y1="9341" x2="51474" y2="10621"/>
                        <a14:backgroundMark x1="45306" y1="10365" x2="44807" y2="11068"/>
                        <a14:backgroundMark x1="44490" y1="11196" x2="44807" y2="11196"/>
                        <a14:backgroundMark x1="44717" y1="10813" x2="44717" y2="10813"/>
                        <a14:backgroundMark x1="45079" y1="11388" x2="44490" y2="11068"/>
                        <a14:backgroundMark x1="41678" y1="90275" x2="41179" y2="85988"/>
                        <a14:backgroundMark x1="41542" y1="90595" x2="41361" y2="86308"/>
                        <a14:backgroundMark x1="41088" y1="90595" x2="41270" y2="86180"/>
                        <a14:backgroundMark x1="40952" y1="91299" x2="41047" y2="86921"/>
                        <a14:backgroundMark x1="40544" y1="91427" x2="40590" y2="88978"/>
                        <a14:backgroundMark x1="40862" y1="91555" x2="41292" y2="85817"/>
                        <a14:backgroundMark x1="40454" y1="90979" x2="40796" y2="88050"/>
                        <a14:backgroundMark x1="40136" y1="90595" x2="42494" y2="84581"/>
                        <a14:backgroundMark x1="41270" y1="90979" x2="41995" y2="84709"/>
                        <a14:backgroundMark x1="41769" y1="85733" x2="41475" y2="84995"/>
                        <a14:backgroundMark x1="41361" y1="92386" x2="41361" y2="85733"/>
                        <a14:backgroundMark x1="41043" y1="85733" x2="40635" y2="86564"/>
                        <a14:backgroundMark x1="41451" y1="85477" x2="40272" y2="86436"/>
                        <a14:backgroundMark x1="41179" y1="85413" x2="40680" y2="89315"/>
                        <a14:backgroundMark x1="40544" y1="87716" x2="40544" y2="90275"/>
                        <a14:backgroundMark x1="41270" y1="85988" x2="41179" y2="85413"/>
                      </a14:backgroundRemoval>
                    </a14:imgEffect>
                  </a14:imgLayer>
                </a14:imgProps>
              </a:ext>
              <a:ext uri="{28A0092B-C50C-407E-A947-70E740481C1C}">
                <a14:useLocalDpi xmlns:a14="http://schemas.microsoft.com/office/drawing/2010/main" val="0"/>
              </a:ext>
            </a:extLst>
          </a:blip>
          <a:srcRect/>
          <a:stretch>
            <a:fillRect/>
          </a:stretch>
        </p:blipFill>
        <p:spPr bwMode="auto">
          <a:xfrm>
            <a:off x="0" y="287547"/>
            <a:ext cx="2126843" cy="1507706"/>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CB76107B-25EC-8F6B-41A6-83EB63C60816}"/>
              </a:ext>
            </a:extLst>
          </p:cNvPr>
          <p:cNvSpPr txBox="1">
            <a:spLocks/>
          </p:cNvSpPr>
          <p:nvPr/>
        </p:nvSpPr>
        <p:spPr>
          <a:xfrm>
            <a:off x="8324849" y="5488385"/>
            <a:ext cx="3248313" cy="4552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NZ" sz="2000" b="1" dirty="0">
                <a:solidFill>
                  <a:schemeClr val="bg1"/>
                </a:solidFill>
                <a:effectLst>
                  <a:outerShdw blurRad="50800" dist="38100" dir="2700000" algn="tl" rotWithShape="0">
                    <a:prstClr val="black">
                      <a:alpha val="40000"/>
                    </a:prstClr>
                  </a:outerShdw>
                </a:effectLst>
                <a:latin typeface="Bahnschrift" panose="020B0502040204020203" pitchFamily="34" charset="0"/>
              </a:rPr>
              <a:t>Yonathan Hary Hutagalung</a:t>
            </a:r>
          </a:p>
        </p:txBody>
      </p:sp>
      <p:sp>
        <p:nvSpPr>
          <p:cNvPr id="6" name="Subtitle 2">
            <a:extLst>
              <a:ext uri="{FF2B5EF4-FFF2-40B4-BE49-F238E27FC236}">
                <a16:creationId xmlns:a16="http://schemas.microsoft.com/office/drawing/2014/main" id="{412CE0C4-26CC-1928-5328-5CD7FACB2270}"/>
              </a:ext>
            </a:extLst>
          </p:cNvPr>
          <p:cNvSpPr txBox="1">
            <a:spLocks/>
          </p:cNvSpPr>
          <p:nvPr/>
        </p:nvSpPr>
        <p:spPr>
          <a:xfrm>
            <a:off x="8153401" y="5945585"/>
            <a:ext cx="3419762" cy="455215"/>
          </a:xfrm>
          <a:prstGeom prst="rect">
            <a:avLst/>
          </a:prstGeom>
        </p:spPr>
        <p:txBody>
          <a:bodyPr vert="horz" lIns="91440" tIns="45720" rIns="91440" bIns="45720" rtlCol="0">
            <a:normAutofit fontScale="7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NZ" sz="2000" dirty="0">
                <a:solidFill>
                  <a:schemeClr val="bg1"/>
                </a:solidFill>
                <a:effectLst>
                  <a:outerShdw blurRad="50800" dist="38100" dir="2700000" algn="tl" rotWithShape="0">
                    <a:prstClr val="black">
                      <a:alpha val="40000"/>
                    </a:prstClr>
                  </a:outerShdw>
                </a:effectLst>
                <a:latin typeface="Bahnschrift" panose="020B0502040204020203" pitchFamily="34" charset="0"/>
              </a:rPr>
              <a:t>Frequent travellers &amp; Junior consultant at Airbnb LLC Southeast Asia Division</a:t>
            </a:r>
          </a:p>
        </p:txBody>
      </p:sp>
    </p:spTree>
    <p:extLst>
      <p:ext uri="{BB962C8B-B14F-4D97-AF65-F5344CB8AC3E}">
        <p14:creationId xmlns:p14="http://schemas.microsoft.com/office/powerpoint/2010/main" val="7582990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689</TotalTime>
  <Words>1888</Words>
  <Application>Microsoft Office PowerPoint</Application>
  <PresentationFormat>Widescreen</PresentationFormat>
  <Paragraphs>179</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Aptos Display</vt:lpstr>
      <vt:lpstr>Arial</vt:lpstr>
      <vt:lpstr>Bahnschrift</vt:lpstr>
      <vt:lpstr>Bahnschrift Condensed</vt:lpstr>
      <vt:lpstr>Bahnschrift SemiBold</vt:lpstr>
      <vt:lpstr>Office Theme</vt:lpstr>
      <vt:lpstr>Attracting backpackers accommodation segment in Bangkok</vt:lpstr>
      <vt:lpstr>PowerPoint Presentation</vt:lpstr>
      <vt:lpstr>Overview</vt:lpstr>
      <vt:lpstr>PowerPoint Presentation</vt:lpstr>
      <vt:lpstr>PowerPoint Presentation</vt:lpstr>
      <vt:lpstr>Data Cleaning</vt:lpstr>
      <vt:lpstr>PowerPoint Presentation</vt:lpstr>
      <vt:lpstr>Data Understanding</vt:lpstr>
      <vt:lpstr>PowerPoint Presentation</vt:lpstr>
      <vt:lpstr>PowerPoint Presentation</vt:lpstr>
      <vt:lpstr>PowerPoint Presentation</vt:lpstr>
      <vt:lpstr>PowerPoint Presentation</vt:lpstr>
      <vt:lpstr>PowerPoint Presentation</vt:lpstr>
      <vt:lpstr>Pricing Analysis</vt:lpstr>
      <vt:lpstr>PowerPoint Presentation</vt:lpstr>
      <vt:lpstr>PowerPoint Presentation</vt:lpstr>
      <vt:lpstr>Geographic Analysis</vt:lpstr>
      <vt:lpstr>PowerPoint Presentation</vt:lpstr>
      <vt:lpstr>PowerPoint Presentation</vt:lpstr>
      <vt:lpstr>Market Competition</vt:lpstr>
      <vt:lpstr>PowerPoint Presentation</vt:lpstr>
      <vt:lpstr>PowerPoint Presentation</vt:lpstr>
      <vt:lpstr> Business Recommendation</vt:lpstr>
      <vt:lpstr>PowerPoint Presentation</vt:lpstr>
      <vt:lpstr> Conclusion</vt:lpstr>
      <vt:lpstr>Thank you for listening to my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Yonathan Hary Hutagalung</dc:creator>
  <cp:lastModifiedBy>Yonathan Hary Hutagalung</cp:lastModifiedBy>
  <cp:revision>35</cp:revision>
  <dcterms:created xsi:type="dcterms:W3CDTF">2025-11-16T04:24:32Z</dcterms:created>
  <dcterms:modified xsi:type="dcterms:W3CDTF">2025-11-22T14:34:57Z</dcterms:modified>
</cp:coreProperties>
</file>